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5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306"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298" r:id="rId42"/>
    <p:sldId id="299" r:id="rId43"/>
    <p:sldId id="300" r:id="rId44"/>
    <p:sldId id="303" r:id="rId45"/>
    <p:sldId id="301" r:id="rId46"/>
    <p:sldId id="302" r:id="rId47"/>
    <p:sldId id="304" r:id="rId48"/>
    <p:sldId id="305"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2" d="100"/>
          <a:sy n="82" d="100"/>
        </p:scale>
        <p:origin x="55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华文仿宋" panose="02010600040101010101"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华文仿宋" panose="02010600040101010101" pitchFamily="2" charset="-122"/>
              </a:defRPr>
            </a:lvl1pPr>
          </a:lstStyle>
          <a:p>
            <a:fld id="{DE663ADD-FD19-4A5A-ABC8-C0C8EB516C29}" type="datetimeFigureOut">
              <a:rPr lang="zh-CN" altLang="en-US" smtClean="0"/>
              <a:pPr/>
              <a:t>2024/9/3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华文仿宋" panose="02010600040101010101"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华文仿宋" panose="02010600040101010101" pitchFamily="2" charset="-122"/>
              </a:defRPr>
            </a:lvl1pPr>
          </a:lstStyle>
          <a:p>
            <a:fld id="{0F8F2657-B744-4B5D-92CF-444EED45AB76}" type="slidenum">
              <a:rPr lang="zh-CN" altLang="en-US" smtClean="0"/>
              <a:pPr/>
              <a:t>‹#›</a:t>
            </a:fld>
            <a:endParaRPr lang="zh-CN" altLang="en-US" dirty="0"/>
          </a:p>
        </p:txBody>
      </p:sp>
    </p:spTree>
    <p:extLst>
      <p:ext uri="{BB962C8B-B14F-4D97-AF65-F5344CB8AC3E}">
        <p14:creationId xmlns:p14="http://schemas.microsoft.com/office/powerpoint/2010/main" val="909877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华文仿宋" panose="02010600040101010101" pitchFamily="2" charset="-122"/>
        <a:cs typeface="+mn-cs"/>
      </a:defRPr>
    </a:lvl1pPr>
    <a:lvl2pPr marL="457200" algn="l" defTabSz="914400" rtl="0" eaLnBrk="1" latinLnBrk="0" hangingPunct="1">
      <a:defRPr sz="1200" kern="1200">
        <a:solidFill>
          <a:schemeClr val="tx1"/>
        </a:solidFill>
        <a:latin typeface="+mn-lt"/>
        <a:ea typeface="华文仿宋" panose="02010600040101010101" pitchFamily="2" charset="-122"/>
        <a:cs typeface="+mn-cs"/>
      </a:defRPr>
    </a:lvl2pPr>
    <a:lvl3pPr marL="914400" algn="l" defTabSz="914400" rtl="0" eaLnBrk="1" latinLnBrk="0" hangingPunct="1">
      <a:defRPr sz="1200" kern="1200">
        <a:solidFill>
          <a:schemeClr val="tx1"/>
        </a:solidFill>
        <a:latin typeface="+mn-lt"/>
        <a:ea typeface="华文仿宋" panose="02010600040101010101" pitchFamily="2" charset="-122"/>
        <a:cs typeface="+mn-cs"/>
      </a:defRPr>
    </a:lvl3pPr>
    <a:lvl4pPr marL="1371600" algn="l" defTabSz="914400" rtl="0" eaLnBrk="1" latinLnBrk="0" hangingPunct="1">
      <a:defRPr sz="1200" kern="1200">
        <a:solidFill>
          <a:schemeClr val="tx1"/>
        </a:solidFill>
        <a:latin typeface="+mn-lt"/>
        <a:ea typeface="华文仿宋" panose="02010600040101010101" pitchFamily="2" charset="-122"/>
        <a:cs typeface="+mn-cs"/>
      </a:defRPr>
    </a:lvl4pPr>
    <a:lvl5pPr marL="1828800" algn="l" defTabSz="914400" rtl="0" eaLnBrk="1" latinLnBrk="0" hangingPunct="1">
      <a:defRPr sz="1200" kern="1200">
        <a:solidFill>
          <a:schemeClr val="tx1"/>
        </a:solidFill>
        <a:latin typeface="+mn-lt"/>
        <a:ea typeface="华文仿宋" panose="0201060004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5F3EE88-4EAA-4740-AB09-8A6CA35069DF}" type="slidenum">
              <a:rPr lang="en-US" altLang="zh-CN" sz="1200">
                <a:solidFill>
                  <a:schemeClr val="tx1"/>
                </a:solidFill>
                <a:latin typeface="Times New Roman" panose="02020603050405020304" pitchFamily="18" charset="0"/>
                <a:ea typeface="华文仿宋" panose="02010600040101010101" pitchFamily="2" charset="-122"/>
              </a:rPr>
              <a:pPr/>
              <a:t>39</a:t>
            </a:fld>
            <a:endParaRPr lang="en-US" altLang="zh-CN" sz="1200" dirty="0">
              <a:solidFill>
                <a:schemeClr val="tx1"/>
              </a:solidFill>
              <a:latin typeface="Times New Roman" panose="02020603050405020304" pitchFamily="18" charset="0"/>
              <a:ea typeface="华文仿宋" panose="02010600040101010101" pitchFamily="2" charset="-122"/>
            </a:endParaRPr>
          </a:p>
        </p:txBody>
      </p:sp>
      <p:sp>
        <p:nvSpPr>
          <p:cNvPr id="28675" name="Rectangle 2"/>
          <p:cNvSpPr>
            <a:spLocks noGrp="1" noRot="1" noChangeAspect="1" noChangeArrowheads="1" noTextEdit="1"/>
          </p:cNvSpPr>
          <p:nvPr>
            <p:ph type="sldImg"/>
          </p:nvPr>
        </p:nvSpPr>
        <p:spPr>
          <a:solidFill>
            <a:srgbClr val="FFFFFF"/>
          </a:solidFill>
          <a:ln/>
        </p:spPr>
      </p:sp>
      <p:sp>
        <p:nvSpPr>
          <p:cNvPr id="28676" name="Rectangle 3"/>
          <p:cNvSpPr>
            <a:spLocks noGrp="1" noChangeArrowheads="1"/>
          </p:cNvSpPr>
          <p:nvPr>
            <p:ph type="body" idx="1"/>
          </p:nvPr>
        </p:nvSpPr>
        <p:spPr>
          <a:solidFill>
            <a:srgbClr val="FFFFFF"/>
          </a:solidFill>
          <a:ln>
            <a:solidFill>
              <a:srgbClr val="000000"/>
            </a:solidFill>
          </a:ln>
        </p:spPr>
        <p:txBody>
          <a:bodyPr lIns="89913" tIns="44956" rIns="89913" bIns="44956"/>
          <a:lstStyle/>
          <a:p>
            <a:endParaRPr lang="zh-CN" altLang="zh-CN"/>
          </a:p>
        </p:txBody>
      </p:sp>
    </p:spTree>
    <p:extLst>
      <p:ext uri="{BB962C8B-B14F-4D97-AF65-F5344CB8AC3E}">
        <p14:creationId xmlns:p14="http://schemas.microsoft.com/office/powerpoint/2010/main" val="1458156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DE27237B-3EA0-4639-A601-6399B2EE4E3E}" type="slidenum">
              <a:rPr lang="en-US" altLang="zh-CN" sz="1200">
                <a:solidFill>
                  <a:schemeClr val="tx1"/>
                </a:solidFill>
                <a:latin typeface="Times New Roman" panose="02020603050405020304" pitchFamily="18" charset="0"/>
                <a:ea typeface="华文仿宋" panose="02010600040101010101" pitchFamily="2" charset="-122"/>
              </a:rPr>
              <a:pPr/>
              <a:t>44</a:t>
            </a:fld>
            <a:endParaRPr lang="en-US" altLang="zh-CN" sz="1200" dirty="0">
              <a:solidFill>
                <a:schemeClr val="tx1"/>
              </a:solidFill>
              <a:latin typeface="Times New Roman" panose="02020603050405020304" pitchFamily="18" charset="0"/>
              <a:ea typeface="华文仿宋" panose="02010600040101010101" pitchFamily="2" charset="-122"/>
            </a:endParaRPr>
          </a:p>
        </p:txBody>
      </p:sp>
      <p:sp>
        <p:nvSpPr>
          <p:cNvPr id="41987" name="Rectangle 2"/>
          <p:cNvSpPr>
            <a:spLocks noGrp="1" noRot="1" noChangeAspect="1" noChangeArrowheads="1" noTextEdit="1"/>
          </p:cNvSpPr>
          <p:nvPr>
            <p:ph type="sldImg"/>
          </p:nvPr>
        </p:nvSpPr>
        <p:spPr>
          <a:solidFill>
            <a:srgbClr val="FFFFFF"/>
          </a:solidFill>
          <a:ln/>
        </p:spPr>
      </p:sp>
      <p:sp>
        <p:nvSpPr>
          <p:cNvPr id="41988" name="Rectangle 3"/>
          <p:cNvSpPr>
            <a:spLocks noGrp="1" noChangeArrowheads="1"/>
          </p:cNvSpPr>
          <p:nvPr>
            <p:ph type="body" idx="1"/>
          </p:nvPr>
        </p:nvSpPr>
        <p:spPr>
          <a:solidFill>
            <a:srgbClr val="FFFFFF"/>
          </a:solidFill>
          <a:ln>
            <a:solidFill>
              <a:srgbClr val="000000"/>
            </a:solidFill>
          </a:ln>
        </p:spPr>
        <p:txBody>
          <a:bodyPr lIns="91311" tIns="45657" rIns="91311" bIns="45657"/>
          <a:lstStyle/>
          <a:p>
            <a:endParaRPr lang="zh-CN" altLang="zh-CN"/>
          </a:p>
        </p:txBody>
      </p:sp>
    </p:spTree>
    <p:extLst>
      <p:ext uri="{BB962C8B-B14F-4D97-AF65-F5344CB8AC3E}">
        <p14:creationId xmlns:p14="http://schemas.microsoft.com/office/powerpoint/2010/main" val="719161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127D92-9687-DA54-1F9B-124FBD2C9A2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42C1575-922A-C517-26EF-CDFEB0B969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8DF2DDB-7487-3F60-2721-22093788A7CC}"/>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5" name="页脚占位符 4">
            <a:extLst>
              <a:ext uri="{FF2B5EF4-FFF2-40B4-BE49-F238E27FC236}">
                <a16:creationId xmlns:a16="http://schemas.microsoft.com/office/drawing/2014/main" id="{9C9BCE7E-F1FD-8E2C-56C2-86285DEBD5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91492D-DEFC-82E6-9346-E3C36ACF64C3}"/>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3642136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AE93D8-D825-C996-356E-A3F5FE1B2680}"/>
              </a:ext>
            </a:extLst>
          </p:cNvPr>
          <p:cNvSpPr>
            <a:spLocks noGrp="1"/>
          </p:cNvSpPr>
          <p:nvPr>
            <p:ph type="title"/>
          </p:nvPr>
        </p:nvSpPr>
        <p:spPr>
          <a:solidFill>
            <a:schemeClr val="bg1"/>
          </a:solidFill>
        </p:spPr>
        <p:txBody>
          <a:bodyPr/>
          <a:lstStyle>
            <a:lvl1pPr>
              <a:defRPr>
                <a:solidFill>
                  <a:srgbClr val="0070C0"/>
                </a:solidFill>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899BD486-B52E-ADFF-F3EE-F941689BC371}"/>
              </a:ext>
            </a:extLst>
          </p:cNvPr>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3DEF2EE2-FA06-7723-EAD8-CD9AC1C33079}"/>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5" name="页脚占位符 4">
            <a:extLst>
              <a:ext uri="{FF2B5EF4-FFF2-40B4-BE49-F238E27FC236}">
                <a16:creationId xmlns:a16="http://schemas.microsoft.com/office/drawing/2014/main" id="{C8886EF6-F52E-6261-BF84-7A95C3FA33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230507-FD76-2E4D-01BE-FB8E853F5A32}"/>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489044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BE1C74-5D2E-3A59-1FBB-41C7D9AF2CF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BF94DAE-A810-A642-1A0A-292124443D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71A0810-85A2-7046-A380-CE20C20C4530}"/>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5" name="页脚占位符 4">
            <a:extLst>
              <a:ext uri="{FF2B5EF4-FFF2-40B4-BE49-F238E27FC236}">
                <a16:creationId xmlns:a16="http://schemas.microsoft.com/office/drawing/2014/main" id="{523D1A42-2712-D2B8-8D08-A924D68321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3A2923-E4C2-8F15-2D2C-E0578814E733}"/>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840271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47BA9E-7D23-02C1-9059-B388CFD12B3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DA954A7-051D-447B-0658-108A204F791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3C638C4-9191-9C05-9B89-9B53D754BFC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78FAB20-562A-88D6-A920-00675CF0B56F}"/>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6" name="页脚占位符 5">
            <a:extLst>
              <a:ext uri="{FF2B5EF4-FFF2-40B4-BE49-F238E27FC236}">
                <a16:creationId xmlns:a16="http://schemas.microsoft.com/office/drawing/2014/main" id="{A69BBE27-B306-E6C5-8F69-827F4D190FE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EAE553E-EEC2-FCA6-644A-20270FBFC0B5}"/>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439775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58488C-8843-EC44-7E4B-3F50AFCD008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D8B16E0-5187-E095-0FB2-D8247565E1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20CB416-D8E7-01DE-341E-DD782CAB264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62028E0-0FB5-46B1-6F93-927A4E2D36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38EBE14-3CD7-0109-0C80-2D853244E06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660D6AA-337F-7692-CEAC-5CCA04D50B41}"/>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8" name="页脚占位符 7">
            <a:extLst>
              <a:ext uri="{FF2B5EF4-FFF2-40B4-BE49-F238E27FC236}">
                <a16:creationId xmlns:a16="http://schemas.microsoft.com/office/drawing/2014/main" id="{5C362DD3-4917-8C3F-4A13-8516A193C09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EC3C980-B625-04CE-8B93-676817C79A32}"/>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127637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09C1B-C106-68EB-DB17-5BEE208FD03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46A3CE9-9825-41BB-9DF7-15EB2D65877D}"/>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4" name="页脚占位符 3">
            <a:extLst>
              <a:ext uri="{FF2B5EF4-FFF2-40B4-BE49-F238E27FC236}">
                <a16:creationId xmlns:a16="http://schemas.microsoft.com/office/drawing/2014/main" id="{4E759ED0-5030-D51A-A8E8-29541C4713C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ED756E9-2D28-2FDC-1912-46FB071DB544}"/>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3140358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98D12E-C644-52EB-AC3E-225FBE818248}"/>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3" name="页脚占位符 2">
            <a:extLst>
              <a:ext uri="{FF2B5EF4-FFF2-40B4-BE49-F238E27FC236}">
                <a16:creationId xmlns:a16="http://schemas.microsoft.com/office/drawing/2014/main" id="{84496E06-69D9-5A5D-235B-E3E35ACF717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AF6B513-A7A6-8AC6-E693-8223FC49A61E}"/>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2064989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14407E-1AC3-8281-B5DD-E309851D99D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939434B-2FA3-AE27-C91C-B44DAEA56A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E230F6E-3B2F-C469-30AE-50A958FFAD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406B1D-3D63-5FB4-53ED-BE7C7C8D9EFA}"/>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6" name="页脚占位符 5">
            <a:extLst>
              <a:ext uri="{FF2B5EF4-FFF2-40B4-BE49-F238E27FC236}">
                <a16:creationId xmlns:a16="http://schemas.microsoft.com/office/drawing/2014/main" id="{24CD056A-AE80-1E56-5A2D-E2F497B61FF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35E4154-3893-B478-6112-F3B5C0D3DE98}"/>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2232346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700909-01E0-99B3-947A-940A37F3745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4C6E5A1-49F1-665B-111C-B1DAF0B5C2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AF9463B-529E-E660-7C02-25A27C58E5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744018B-22A2-F281-7B26-3E030A0A022E}"/>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6" name="页脚占位符 5">
            <a:extLst>
              <a:ext uri="{FF2B5EF4-FFF2-40B4-BE49-F238E27FC236}">
                <a16:creationId xmlns:a16="http://schemas.microsoft.com/office/drawing/2014/main" id="{1A085EEB-EAFD-94B8-0C02-0649CB7CA3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E168D9E-10F5-4C40-EF7E-87DAE04D0141}"/>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2307704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23C2B-0CB7-CEFB-CD85-BB0FAFA7173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AEF4D99-6A69-CB92-E326-D293F348E8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755AB5-469F-F345-1557-847F21DD3367}"/>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5" name="页脚占位符 4">
            <a:extLst>
              <a:ext uri="{FF2B5EF4-FFF2-40B4-BE49-F238E27FC236}">
                <a16:creationId xmlns:a16="http://schemas.microsoft.com/office/drawing/2014/main" id="{C97A51D9-3A2B-C2E7-757F-8291225857A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964FD9-5811-9AF4-221E-37F499864D0B}"/>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148105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B7F5221-E7BD-F14D-BC22-A5C6165F8FF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A4E4870-3F5D-7E5B-8B48-AA7351147BA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89C26F7-3547-C019-2DF1-33B40BD74697}"/>
              </a:ext>
            </a:extLst>
          </p:cNvPr>
          <p:cNvSpPr>
            <a:spLocks noGrp="1"/>
          </p:cNvSpPr>
          <p:nvPr>
            <p:ph type="dt" sz="half" idx="10"/>
          </p:nvPr>
        </p:nvSpPr>
        <p:spPr/>
        <p:txBody>
          <a:bodyPr/>
          <a:lstStyle/>
          <a:p>
            <a:fld id="{2BF0F662-EC25-486A-8F87-0581CC716B70}" type="datetimeFigureOut">
              <a:rPr lang="zh-CN" altLang="en-US" smtClean="0"/>
              <a:t>2024/9/3</a:t>
            </a:fld>
            <a:endParaRPr lang="zh-CN" altLang="en-US"/>
          </a:p>
        </p:txBody>
      </p:sp>
      <p:sp>
        <p:nvSpPr>
          <p:cNvPr id="5" name="页脚占位符 4">
            <a:extLst>
              <a:ext uri="{FF2B5EF4-FFF2-40B4-BE49-F238E27FC236}">
                <a16:creationId xmlns:a16="http://schemas.microsoft.com/office/drawing/2014/main" id="{962DBFA8-3204-C440-5DC8-83C366CDD9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28A9E9-3AA8-2CD5-8A30-B96620680C3B}"/>
              </a:ext>
            </a:extLst>
          </p:cNvPr>
          <p:cNvSpPr>
            <a:spLocks noGrp="1"/>
          </p:cNvSpPr>
          <p:nvPr>
            <p:ph type="sldNum" sz="quarter" idx="12"/>
          </p:nvPr>
        </p:nvSpPr>
        <p:spPr/>
        <p:txBody>
          <a:bodyPr/>
          <a:lstStyle/>
          <a:p>
            <a:fld id="{1F7F8A67-9188-4DA3-B5FE-672E9C2459BF}" type="slidenum">
              <a:rPr lang="zh-CN" altLang="en-US" smtClean="0"/>
              <a:t>‹#›</a:t>
            </a:fld>
            <a:endParaRPr lang="zh-CN" altLang="en-US"/>
          </a:p>
        </p:txBody>
      </p:sp>
    </p:spTree>
    <p:extLst>
      <p:ext uri="{BB962C8B-B14F-4D97-AF65-F5344CB8AC3E}">
        <p14:creationId xmlns:p14="http://schemas.microsoft.com/office/powerpoint/2010/main" val="2347856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09600" y="6245225"/>
            <a:ext cx="2844800" cy="476250"/>
          </a:xfrm>
        </p:spPr>
        <p:txBody>
          <a:bodyPr/>
          <a:lstStyle>
            <a:lvl1pPr>
              <a:defRPr/>
            </a:lvl1pPr>
          </a:lstStyle>
          <a:p>
            <a:pPr>
              <a:defRPr/>
            </a:pPr>
            <a:endParaRPr lang="en-US" altLang="zh-CN"/>
          </a:p>
        </p:txBody>
      </p:sp>
      <p:sp>
        <p:nvSpPr>
          <p:cNvPr id="7" name="页脚占位符 6"/>
          <p:cNvSpPr>
            <a:spLocks noGrp="1"/>
          </p:cNvSpPr>
          <p:nvPr>
            <p:ph type="ftr" sz="quarter" idx="11"/>
          </p:nvPr>
        </p:nvSpPr>
        <p:spPr>
          <a:xfrm>
            <a:off x="4165600" y="6245225"/>
            <a:ext cx="3860800" cy="476250"/>
          </a:xfrm>
        </p:spPr>
        <p:txBody>
          <a:bodyPr/>
          <a:lstStyle>
            <a:lvl1pPr>
              <a:defRPr/>
            </a:lvl1pPr>
          </a:lstStyle>
          <a:p>
            <a:pPr>
              <a:defRPr/>
            </a:pPr>
            <a:endParaRPr lang="en-US" altLang="zh-CN"/>
          </a:p>
        </p:txBody>
      </p:sp>
      <p:sp>
        <p:nvSpPr>
          <p:cNvPr id="8" name="灯片编号占位符 7"/>
          <p:cNvSpPr>
            <a:spLocks noGrp="1"/>
          </p:cNvSpPr>
          <p:nvPr>
            <p:ph type="sldNum" sz="quarter" idx="12"/>
          </p:nvPr>
        </p:nvSpPr>
        <p:spPr>
          <a:xfrm>
            <a:off x="8737600" y="6245225"/>
            <a:ext cx="2844800" cy="476250"/>
          </a:xfrm>
        </p:spPr>
        <p:txBody>
          <a:bodyPr/>
          <a:lstStyle>
            <a:lvl1pPr>
              <a:defRPr/>
            </a:lvl1pPr>
          </a:lstStyle>
          <a:p>
            <a:fld id="{37FB1620-EA33-4862-89D4-2B1337A20131}" type="slidenum">
              <a:rPr lang="en-US" altLang="zh-CN"/>
              <a:pPr/>
              <a:t>‹#›</a:t>
            </a:fld>
            <a:endParaRPr lang="en-US" altLang="zh-CN"/>
          </a:p>
        </p:txBody>
      </p:sp>
    </p:spTree>
    <p:extLst>
      <p:ext uri="{BB962C8B-B14F-4D97-AF65-F5344CB8AC3E}">
        <p14:creationId xmlns:p14="http://schemas.microsoft.com/office/powerpoint/2010/main" val="1366063714"/>
      </p:ext>
    </p:extLst>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F6C005B-72B0-37AA-1E9F-3C549DEFED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085E891C-AC7B-90DC-51BD-5D4AA5CCDE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7F2A6F67-C471-33A2-CB15-76241BEAEE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华文仿宋" panose="02010600040101010101" pitchFamily="2" charset="-122"/>
                <a:ea typeface="华文仿宋" panose="02010600040101010101" pitchFamily="2" charset="-122"/>
              </a:defRPr>
            </a:lvl1pPr>
          </a:lstStyle>
          <a:p>
            <a:fld id="{2BF0F662-EC25-486A-8F87-0581CC716B70}" type="datetimeFigureOut">
              <a:rPr lang="zh-CN" altLang="en-US" smtClean="0"/>
              <a:pPr/>
              <a:t>2024/9/3</a:t>
            </a:fld>
            <a:endParaRPr lang="zh-CN" altLang="en-US" dirty="0"/>
          </a:p>
        </p:txBody>
      </p:sp>
      <p:sp>
        <p:nvSpPr>
          <p:cNvPr id="5" name="页脚占位符 4">
            <a:extLst>
              <a:ext uri="{FF2B5EF4-FFF2-40B4-BE49-F238E27FC236}">
                <a16:creationId xmlns:a16="http://schemas.microsoft.com/office/drawing/2014/main" id="{97B9D5ED-BAA1-C835-AD57-F554CD033E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华文仿宋" panose="02010600040101010101" pitchFamily="2" charset="-122"/>
                <a:ea typeface="华文仿宋" panose="02010600040101010101" pitchFamily="2" charset="-122"/>
              </a:defRPr>
            </a:lvl1pPr>
          </a:lstStyle>
          <a:p>
            <a:endParaRPr lang="zh-CN" altLang="en-US" dirty="0"/>
          </a:p>
        </p:txBody>
      </p:sp>
      <p:sp>
        <p:nvSpPr>
          <p:cNvPr id="6" name="灯片编号占位符 5">
            <a:extLst>
              <a:ext uri="{FF2B5EF4-FFF2-40B4-BE49-F238E27FC236}">
                <a16:creationId xmlns:a16="http://schemas.microsoft.com/office/drawing/2014/main" id="{040AC223-8319-09A3-4825-F8D5BD20A2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华文仿宋" panose="02010600040101010101" pitchFamily="2" charset="-122"/>
                <a:ea typeface="华文仿宋" panose="02010600040101010101" pitchFamily="2" charset="-122"/>
              </a:defRPr>
            </a:lvl1pPr>
          </a:lstStyle>
          <a:p>
            <a:fld id="{1F7F8A67-9188-4DA3-B5FE-672E9C2459BF}" type="slidenum">
              <a:rPr lang="zh-CN" altLang="en-US" smtClean="0"/>
              <a:pPr/>
              <a:t>‹#›</a:t>
            </a:fld>
            <a:endParaRPr lang="zh-CN" altLang="en-US" dirty="0"/>
          </a:p>
        </p:txBody>
      </p:sp>
    </p:spTree>
    <p:extLst>
      <p:ext uri="{BB962C8B-B14F-4D97-AF65-F5344CB8AC3E}">
        <p14:creationId xmlns:p14="http://schemas.microsoft.com/office/powerpoint/2010/main" val="141480346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华文仿宋" panose="02010600040101010101" pitchFamily="2" charset="-122"/>
          <a:ea typeface="华文仿宋" panose="020106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仿宋" panose="02010600040101010101" pitchFamily="2" charset="-122"/>
          <a:ea typeface="华文仿宋" panose="020106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仿宋" panose="02010600040101010101" pitchFamily="2" charset="-122"/>
          <a:ea typeface="华文仿宋" panose="020106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华文仿宋" panose="02010600040101010101" pitchFamily="2" charset="-122"/>
          <a:ea typeface="华文仿宋" panose="020106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华文仿宋" panose="02010600040101010101" pitchFamily="2" charset="-122"/>
          <a:ea typeface="华文仿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1.xml"/><Relationship Id="rId4" Type="http://schemas.openxmlformats.org/officeDocument/2006/relationships/slide" Target="slide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4.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12.w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1217788" y="814040"/>
            <a:ext cx="8296101" cy="1034857"/>
          </a:xfrm>
        </p:spPr>
        <p:txBody>
          <a:bodyPr>
            <a:normAutofit/>
          </a:bodyPr>
          <a:lstStyle/>
          <a:p>
            <a:pPr eaLnBrk="1" hangingPunct="1"/>
            <a:r>
              <a:rPr lang="zh-CN" altLang="en-US" sz="5400" b="1" dirty="0">
                <a:solidFill>
                  <a:srgbClr val="0070C0"/>
                </a:solidFill>
              </a:rPr>
              <a:t>第</a:t>
            </a:r>
            <a:r>
              <a:rPr lang="en-US" altLang="zh-CN" sz="5400" b="1" dirty="0">
                <a:solidFill>
                  <a:srgbClr val="0070C0"/>
                </a:solidFill>
              </a:rPr>
              <a:t>1</a:t>
            </a:r>
            <a:r>
              <a:rPr lang="zh-CN" altLang="en-US" sz="5400" b="1" dirty="0">
                <a:solidFill>
                  <a:srgbClr val="0070C0"/>
                </a:solidFill>
              </a:rPr>
              <a:t>章  绪论</a:t>
            </a:r>
          </a:p>
        </p:txBody>
      </p:sp>
      <p:sp>
        <p:nvSpPr>
          <p:cNvPr id="2051" name="Rectangle 3"/>
          <p:cNvSpPr>
            <a:spLocks noGrp="1" noChangeArrowheads="1"/>
          </p:cNvSpPr>
          <p:nvPr>
            <p:ph type="subTitle" idx="1"/>
          </p:nvPr>
        </p:nvSpPr>
        <p:spPr>
          <a:xfrm>
            <a:off x="3289058" y="2975794"/>
            <a:ext cx="4598899" cy="2420171"/>
          </a:xfrm>
        </p:spPr>
        <p:txBody>
          <a:bodyPr rtlCol="0">
            <a:normAutofit/>
          </a:bodyPr>
          <a:lstStyle/>
          <a:p>
            <a:pPr marL="711200" indent="-711200" algn="l">
              <a:defRPr/>
            </a:pPr>
            <a:r>
              <a:rPr lang="en-US" altLang="zh-CN" sz="3200" b="1" dirty="0"/>
              <a:t>     </a:t>
            </a:r>
            <a:r>
              <a:rPr lang="en-US" altLang="zh-CN" sz="3200" b="1" dirty="0">
                <a:hlinkClick r:id="rId2" action="ppaction://hlinksldjump"/>
              </a:rPr>
              <a:t>1.1 </a:t>
            </a:r>
            <a:r>
              <a:rPr lang="zh-CN" altLang="en-US" sz="3200" b="1" dirty="0">
                <a:hlinkClick r:id="rId2" action="ppaction://hlinksldjump"/>
              </a:rPr>
              <a:t>什么是数据结构</a:t>
            </a:r>
            <a:endParaRPr lang="zh-CN" altLang="en-US" sz="3200" b="1" u="sng" dirty="0">
              <a:solidFill>
                <a:srgbClr val="1C1C1C"/>
              </a:solidFill>
            </a:endParaRPr>
          </a:p>
          <a:p>
            <a:pPr marL="711200" indent="-711200" algn="l">
              <a:defRPr/>
            </a:pPr>
            <a:r>
              <a:rPr lang="zh-CN" altLang="en-US" sz="3200" b="1" dirty="0"/>
              <a:t>     </a:t>
            </a:r>
            <a:r>
              <a:rPr lang="en-US" altLang="zh-CN" sz="3200" b="1" dirty="0">
                <a:hlinkClick r:id="rId2" action="ppaction://hlinksldjump"/>
              </a:rPr>
              <a:t>1.2 </a:t>
            </a:r>
            <a:r>
              <a:rPr lang="zh-CN" altLang="en-US" sz="3200" b="1" dirty="0">
                <a:hlinkClick r:id="rId2" action="ppaction://hlinksldjump"/>
              </a:rPr>
              <a:t>基本概念和术语</a:t>
            </a:r>
            <a:endParaRPr lang="zh-CN" altLang="en-US" sz="3200" b="1" dirty="0"/>
          </a:p>
          <a:p>
            <a:pPr marL="711200" indent="-711200" algn="l">
              <a:defRPr/>
            </a:pPr>
            <a:r>
              <a:rPr lang="zh-CN" altLang="en-US" sz="3200" b="1" dirty="0"/>
              <a:t>     </a:t>
            </a:r>
            <a:r>
              <a:rPr lang="en-US" altLang="zh-CN" sz="3200" b="1" dirty="0">
                <a:hlinkClick r:id="rId3" action="ppaction://hlinksldjump"/>
              </a:rPr>
              <a:t>1.3 </a:t>
            </a:r>
            <a:r>
              <a:rPr lang="zh-CN" altLang="en-US" sz="3200" b="1" dirty="0">
                <a:hlinkClick r:id="rId3" action="ppaction://hlinksldjump"/>
              </a:rPr>
              <a:t>抽象数据类型</a:t>
            </a:r>
            <a:endParaRPr lang="zh-CN" altLang="en-US" sz="3200" b="1" dirty="0"/>
          </a:p>
          <a:p>
            <a:pPr marL="711200" indent="-711200" algn="l">
              <a:defRPr/>
            </a:pPr>
            <a:r>
              <a:rPr lang="zh-CN" altLang="en-US" sz="3200" b="1" dirty="0"/>
              <a:t>     </a:t>
            </a:r>
            <a:r>
              <a:rPr lang="en-US" altLang="zh-CN" sz="3200" b="1" dirty="0">
                <a:hlinkClick r:id="rId4" action="ppaction://hlinksldjump"/>
              </a:rPr>
              <a:t>1.4 </a:t>
            </a:r>
            <a:r>
              <a:rPr lang="zh-CN" altLang="en-US" sz="3200" b="1" dirty="0">
                <a:hlinkClick r:id="rId4" action="ppaction://hlinksldjump"/>
              </a:rPr>
              <a:t>算法和算法分析</a:t>
            </a:r>
            <a:endParaRPr lang="zh-CN" altLang="en-US" sz="3200" b="1" dirty="0"/>
          </a:p>
        </p:txBody>
      </p:sp>
    </p:spTree>
    <p:extLst>
      <p:ext uri="{BB962C8B-B14F-4D97-AF65-F5344CB8AC3E}">
        <p14:creationId xmlns:p14="http://schemas.microsoft.com/office/powerpoint/2010/main" val="2429295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p:cNvSpPr>
            <a:spLocks noGrp="1" noChangeArrowheads="1"/>
          </p:cNvSpPr>
          <p:nvPr>
            <p:ph type="title"/>
          </p:nvPr>
        </p:nvSpPr>
        <p:spPr/>
        <p:txBody>
          <a:bodyPr/>
          <a:lstStyle/>
          <a:p>
            <a:pPr eaLnBrk="1" hangingPunct="1"/>
            <a:r>
              <a:rPr lang="en-US" altLang="zh-CN" b="1" dirty="0">
                <a:solidFill>
                  <a:srgbClr val="0070C0"/>
                </a:solidFill>
              </a:rPr>
              <a:t>1.1 </a:t>
            </a:r>
            <a:r>
              <a:rPr lang="zh-CN" altLang="en-US" b="1" dirty="0">
                <a:solidFill>
                  <a:srgbClr val="0070C0"/>
                </a:solidFill>
              </a:rPr>
              <a:t>什么是数据结构</a:t>
            </a:r>
          </a:p>
        </p:txBody>
      </p:sp>
      <p:sp>
        <p:nvSpPr>
          <p:cNvPr id="14339" name="Rectangle 7"/>
          <p:cNvSpPr>
            <a:spLocks noGrp="1" noChangeArrowheads="1"/>
          </p:cNvSpPr>
          <p:nvPr>
            <p:ph idx="1"/>
          </p:nvPr>
        </p:nvSpPr>
        <p:spPr/>
        <p:txBody>
          <a:bodyPr/>
          <a:lstStyle/>
          <a:p>
            <a:pPr eaLnBrk="1" hangingPunct="1">
              <a:lnSpc>
                <a:spcPct val="90000"/>
              </a:lnSpc>
              <a:buFont typeface="Wingdings" panose="05000000000000000000" pitchFamily="2" charset="2"/>
              <a:buChar char="l"/>
            </a:pPr>
            <a:r>
              <a:rPr lang="zh-CN" altLang="en-US" dirty="0"/>
              <a:t>数据结构是以某种方式联系在一起的数据元素的集合。程序中的数据结构反映了程序员在程序中表示信息的方法，算法反映了如何处理信息的方法。</a:t>
            </a:r>
          </a:p>
          <a:p>
            <a:pPr eaLnBrk="1" hangingPunct="1">
              <a:lnSpc>
                <a:spcPct val="90000"/>
              </a:lnSpc>
              <a:buFont typeface="Wingdings" panose="05000000000000000000" pitchFamily="2" charset="2"/>
              <a:buChar char="l"/>
            </a:pPr>
            <a:r>
              <a:rPr lang="zh-CN" altLang="en-US" dirty="0"/>
              <a:t>数据结构研究的是数据元素之间抽象化的相互关系及这种关系在计算机中的存储表示，对每种结构定义各自的运算，设计出相应的算法，并用某种语言实现该算法。</a:t>
            </a:r>
          </a:p>
          <a:p>
            <a:pPr eaLnBrk="1" hangingPunct="1">
              <a:lnSpc>
                <a:spcPct val="90000"/>
              </a:lnSpc>
              <a:buFont typeface="Wingdings" panose="05000000000000000000" pitchFamily="2" charset="2"/>
              <a:buChar char="l"/>
            </a:pPr>
            <a:r>
              <a:rPr lang="zh-CN" altLang="en-US" dirty="0"/>
              <a:t>数据结构的地位</a:t>
            </a:r>
            <a:r>
              <a:rPr lang="zh-CN" altLang="en-US" b="1" dirty="0"/>
              <a:t>：</a:t>
            </a:r>
            <a:r>
              <a:rPr lang="zh-CN" altLang="en-US" dirty="0"/>
              <a:t>数学</a:t>
            </a:r>
            <a:r>
              <a:rPr lang="zh-CN" altLang="en-US" b="1" dirty="0"/>
              <a:t>、</a:t>
            </a:r>
            <a:r>
              <a:rPr lang="zh-CN" altLang="en-US" dirty="0"/>
              <a:t>硬件</a:t>
            </a:r>
            <a:r>
              <a:rPr lang="zh-CN" altLang="en-US" b="1" dirty="0"/>
              <a:t>、</a:t>
            </a:r>
            <a:r>
              <a:rPr lang="zh-CN" altLang="en-US" dirty="0"/>
              <a:t>软件之间。</a:t>
            </a:r>
            <a:endParaRPr lang="en-US" altLang="zh-CN" dirty="0"/>
          </a:p>
          <a:p>
            <a:pPr eaLnBrk="1" hangingPunct="1">
              <a:lnSpc>
                <a:spcPct val="90000"/>
              </a:lnSpc>
              <a:buFont typeface="Wingdings" panose="05000000000000000000" pitchFamily="2" charset="2"/>
              <a:buChar char="l"/>
            </a:pPr>
            <a:r>
              <a:rPr lang="zh-CN" altLang="en-US" dirty="0"/>
              <a:t>核心专业基础课</a:t>
            </a:r>
            <a:endParaRPr lang="en-US" altLang="zh-CN" dirty="0"/>
          </a:p>
        </p:txBody>
      </p:sp>
    </p:spTree>
    <p:extLst>
      <p:ext uri="{BB962C8B-B14F-4D97-AF65-F5344CB8AC3E}">
        <p14:creationId xmlns:p14="http://schemas.microsoft.com/office/powerpoint/2010/main" val="1171279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6362" y="144061"/>
            <a:ext cx="11320305" cy="1325563"/>
          </a:xfrm>
        </p:spPr>
        <p:txBody>
          <a:bodyPr/>
          <a:lstStyle/>
          <a:p>
            <a:pPr eaLnBrk="1" hangingPunct="1"/>
            <a:r>
              <a:rPr lang="en-US" altLang="zh-CN" b="1" dirty="0">
                <a:solidFill>
                  <a:srgbClr val="0070C0"/>
                </a:solidFill>
              </a:rPr>
              <a:t>1.2 </a:t>
            </a:r>
            <a:r>
              <a:rPr lang="zh-CN" altLang="en-US" b="1" dirty="0">
                <a:solidFill>
                  <a:srgbClr val="0070C0"/>
                </a:solidFill>
              </a:rPr>
              <a:t>基本概念和术语</a:t>
            </a:r>
          </a:p>
        </p:txBody>
      </p:sp>
      <p:sp>
        <p:nvSpPr>
          <p:cNvPr id="15363" name="Rectangle 3"/>
          <p:cNvSpPr>
            <a:spLocks noGrp="1" noChangeArrowheads="1"/>
          </p:cNvSpPr>
          <p:nvPr>
            <p:ph idx="1"/>
          </p:nvPr>
        </p:nvSpPr>
        <p:spPr>
          <a:xfrm>
            <a:off x="607087" y="1469624"/>
            <a:ext cx="11320305" cy="4896722"/>
          </a:xfrm>
        </p:spPr>
        <p:txBody>
          <a:bodyPr>
            <a:normAutofit/>
          </a:bodyPr>
          <a:lstStyle/>
          <a:p>
            <a:pPr eaLnBrk="1" hangingPunct="1">
              <a:lnSpc>
                <a:spcPct val="80000"/>
              </a:lnSpc>
              <a:buFontTx/>
              <a:buNone/>
            </a:pPr>
            <a:r>
              <a:rPr lang="en-US" altLang="zh-CN" dirty="0"/>
              <a:t>1.</a:t>
            </a:r>
            <a:r>
              <a:rPr lang="zh-CN" altLang="en-US" dirty="0"/>
              <a:t>基本术语</a:t>
            </a:r>
          </a:p>
          <a:p>
            <a:pPr eaLnBrk="1" hangingPunct="1">
              <a:lnSpc>
                <a:spcPct val="80000"/>
              </a:lnSpc>
              <a:buFontTx/>
              <a:buNone/>
            </a:pPr>
            <a:r>
              <a:rPr lang="zh-CN" altLang="en-US" dirty="0"/>
              <a:t> （</a:t>
            </a:r>
            <a:r>
              <a:rPr lang="en-US" altLang="zh-CN" dirty="0"/>
              <a:t>1</a:t>
            </a:r>
            <a:r>
              <a:rPr lang="zh-CN" altLang="en-US" dirty="0"/>
              <a:t>）</a:t>
            </a:r>
            <a:r>
              <a:rPr lang="zh-CN" altLang="en-US" b="1" dirty="0"/>
              <a:t>数据：</a:t>
            </a:r>
            <a:r>
              <a:rPr lang="zh-CN" altLang="en-US" dirty="0"/>
              <a:t>描述客观事物的数字、字符以及所有能输入到计算机中并被计算机程序处理的符号的集合。（数字、字符、声音、图形、图像等等）</a:t>
            </a:r>
            <a:endParaRPr lang="en-US" altLang="zh-CN" dirty="0"/>
          </a:p>
          <a:p>
            <a:pPr eaLnBrk="1" hangingPunct="1">
              <a:lnSpc>
                <a:spcPct val="80000"/>
              </a:lnSpc>
              <a:buFontTx/>
              <a:buNone/>
            </a:pPr>
            <a:endParaRPr lang="zh-CN" altLang="en-US" dirty="0"/>
          </a:p>
          <a:p>
            <a:pPr eaLnBrk="1" hangingPunct="1">
              <a:lnSpc>
                <a:spcPct val="80000"/>
              </a:lnSpc>
              <a:buFontTx/>
              <a:buNone/>
            </a:pPr>
            <a:r>
              <a:rPr lang="zh-CN" altLang="en-US" dirty="0"/>
              <a:t> （</a:t>
            </a:r>
            <a:r>
              <a:rPr lang="en-US" altLang="zh-CN" dirty="0"/>
              <a:t>2</a:t>
            </a:r>
            <a:r>
              <a:rPr lang="zh-CN" altLang="en-US" dirty="0"/>
              <a:t>）</a:t>
            </a:r>
            <a:r>
              <a:rPr lang="zh-CN" altLang="en-US" b="1" dirty="0"/>
              <a:t>数据元素：</a:t>
            </a:r>
            <a:r>
              <a:rPr lang="zh-CN" altLang="en-US" dirty="0"/>
              <a:t>数据的基本单位，在计算机程序中常常作为一个整体进行考虑和处理，如记录</a:t>
            </a:r>
            <a:r>
              <a:rPr lang="en-US" altLang="zh-CN" dirty="0"/>
              <a:t>/</a:t>
            </a:r>
            <a:r>
              <a:rPr lang="zh-CN" altLang="en-US" dirty="0"/>
              <a:t>结构。</a:t>
            </a:r>
            <a:endParaRPr lang="en-US" altLang="zh-CN" dirty="0"/>
          </a:p>
          <a:p>
            <a:pPr eaLnBrk="1" hangingPunct="1">
              <a:lnSpc>
                <a:spcPct val="80000"/>
              </a:lnSpc>
              <a:buFontTx/>
              <a:buNone/>
            </a:pPr>
            <a:endParaRPr lang="zh-CN" altLang="en-US" dirty="0"/>
          </a:p>
          <a:p>
            <a:pPr eaLnBrk="1" hangingPunct="1">
              <a:lnSpc>
                <a:spcPct val="80000"/>
              </a:lnSpc>
              <a:buFontTx/>
              <a:buNone/>
            </a:pPr>
            <a:r>
              <a:rPr lang="zh-CN" altLang="en-US" dirty="0"/>
              <a:t> （</a:t>
            </a:r>
            <a:r>
              <a:rPr lang="en-US" altLang="zh-CN" dirty="0"/>
              <a:t>3</a:t>
            </a:r>
            <a:r>
              <a:rPr lang="zh-CN" altLang="en-US" dirty="0"/>
              <a:t>）</a:t>
            </a:r>
            <a:r>
              <a:rPr lang="zh-CN" altLang="en-US" b="1" dirty="0"/>
              <a:t>数据项：</a:t>
            </a:r>
            <a:r>
              <a:rPr lang="zh-CN" altLang="en-US" dirty="0"/>
              <a:t>数据的不可分割的最小单位，如结构中的域。</a:t>
            </a:r>
            <a:endParaRPr lang="en-US" altLang="zh-CN" dirty="0"/>
          </a:p>
          <a:p>
            <a:pPr eaLnBrk="1" hangingPunct="1">
              <a:lnSpc>
                <a:spcPct val="80000"/>
              </a:lnSpc>
              <a:buFontTx/>
              <a:buNone/>
            </a:pPr>
            <a:endParaRPr lang="zh-CN" altLang="en-US" dirty="0"/>
          </a:p>
          <a:p>
            <a:pPr eaLnBrk="1" hangingPunct="1">
              <a:lnSpc>
                <a:spcPct val="80000"/>
              </a:lnSpc>
              <a:buFontTx/>
              <a:buNone/>
            </a:pPr>
            <a:r>
              <a:rPr lang="zh-CN" altLang="en-US" dirty="0"/>
              <a:t> （</a:t>
            </a:r>
            <a:r>
              <a:rPr lang="en-US" altLang="zh-CN" dirty="0"/>
              <a:t>4</a:t>
            </a:r>
            <a:r>
              <a:rPr lang="zh-CN" altLang="en-US" dirty="0"/>
              <a:t>）</a:t>
            </a:r>
            <a:r>
              <a:rPr lang="zh-CN" altLang="en-US" b="1" dirty="0"/>
              <a:t>数据对象：</a:t>
            </a:r>
            <a:r>
              <a:rPr lang="zh-CN" altLang="en-US" dirty="0"/>
              <a:t>性质相同的数据元素的集合，是数据的一个子集。</a:t>
            </a:r>
          </a:p>
        </p:txBody>
      </p:sp>
    </p:spTree>
    <p:extLst>
      <p:ext uri="{BB962C8B-B14F-4D97-AF65-F5344CB8AC3E}">
        <p14:creationId xmlns:p14="http://schemas.microsoft.com/office/powerpoint/2010/main" val="2051707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b="1" dirty="0">
                <a:solidFill>
                  <a:srgbClr val="0070C0"/>
                </a:solidFill>
              </a:rPr>
              <a:t>1.2 </a:t>
            </a:r>
            <a:r>
              <a:rPr lang="zh-CN" altLang="en-US" b="1" dirty="0">
                <a:solidFill>
                  <a:srgbClr val="0070C0"/>
                </a:solidFill>
              </a:rPr>
              <a:t>基本概念和术语</a:t>
            </a:r>
          </a:p>
        </p:txBody>
      </p:sp>
      <p:sp>
        <p:nvSpPr>
          <p:cNvPr id="16387" name="Rectangle 3"/>
          <p:cNvSpPr>
            <a:spLocks noGrp="1" noChangeArrowheads="1"/>
          </p:cNvSpPr>
          <p:nvPr>
            <p:ph idx="1"/>
          </p:nvPr>
        </p:nvSpPr>
        <p:spPr/>
        <p:txBody>
          <a:bodyPr/>
          <a:lstStyle/>
          <a:p>
            <a:pPr eaLnBrk="1" hangingPunct="1">
              <a:buFontTx/>
              <a:buNone/>
            </a:pPr>
            <a:r>
              <a:rPr lang="en-US" altLang="zh-CN" dirty="0"/>
              <a:t>1.</a:t>
            </a:r>
            <a:r>
              <a:rPr lang="zh-CN" altLang="en-US" dirty="0"/>
              <a:t>基本术语</a:t>
            </a:r>
          </a:p>
          <a:p>
            <a:pPr eaLnBrk="1" hangingPunct="1">
              <a:buFontTx/>
              <a:buNone/>
            </a:pPr>
            <a:r>
              <a:rPr lang="zh-CN" altLang="en-US" dirty="0"/>
              <a:t>（</a:t>
            </a:r>
            <a:r>
              <a:rPr lang="en-US" altLang="zh-CN" dirty="0"/>
              <a:t>5</a:t>
            </a:r>
            <a:r>
              <a:rPr lang="zh-CN" altLang="en-US" dirty="0"/>
              <a:t>）</a:t>
            </a:r>
            <a:r>
              <a:rPr lang="zh-CN" altLang="en-US" b="1" dirty="0"/>
              <a:t>逻辑结构</a:t>
            </a:r>
            <a:r>
              <a:rPr lang="zh-CN" altLang="en-US" dirty="0"/>
              <a:t>：数据与数据之间的联系</a:t>
            </a:r>
          </a:p>
          <a:p>
            <a:pPr eaLnBrk="1" hangingPunct="1">
              <a:buFontTx/>
              <a:buNone/>
            </a:pPr>
            <a:r>
              <a:rPr lang="zh-CN" altLang="en-US" dirty="0"/>
              <a:t>（</a:t>
            </a:r>
            <a:r>
              <a:rPr lang="en-US" altLang="zh-CN" dirty="0"/>
              <a:t>6</a:t>
            </a:r>
            <a:r>
              <a:rPr lang="zh-CN" altLang="en-US" dirty="0"/>
              <a:t>）</a:t>
            </a:r>
            <a:r>
              <a:rPr lang="zh-CN" altLang="en-US" b="1" dirty="0"/>
              <a:t>存储结构：</a:t>
            </a:r>
            <a:r>
              <a:rPr lang="zh-CN" altLang="en-US" dirty="0"/>
              <a:t>数据结构在计算机中的存储表示（或称映像），又称物理结构。它包括数据元素的表示和关系的表示。</a:t>
            </a:r>
          </a:p>
        </p:txBody>
      </p:sp>
    </p:spTree>
    <p:extLst>
      <p:ext uri="{BB962C8B-B14F-4D97-AF65-F5344CB8AC3E}">
        <p14:creationId xmlns:p14="http://schemas.microsoft.com/office/powerpoint/2010/main" val="2885728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32027" y="339289"/>
            <a:ext cx="8540750" cy="647700"/>
          </a:xfrm>
        </p:spPr>
        <p:txBody>
          <a:bodyPr rtlCol="0">
            <a:normAutofit/>
          </a:bodyPr>
          <a:lstStyle/>
          <a:p>
            <a:pPr>
              <a:defRPr/>
            </a:pPr>
            <a:r>
              <a:rPr lang="en-US" altLang="zh-CN" sz="4000" b="1" dirty="0">
                <a:solidFill>
                  <a:srgbClr val="0070C0"/>
                </a:solidFill>
              </a:rPr>
              <a:t>1.2 </a:t>
            </a:r>
            <a:r>
              <a:rPr lang="zh-CN" altLang="en-US" sz="4000" b="1" dirty="0">
                <a:solidFill>
                  <a:srgbClr val="0070C0"/>
                </a:solidFill>
              </a:rPr>
              <a:t>基本概念和术语</a:t>
            </a:r>
          </a:p>
        </p:txBody>
      </p:sp>
      <p:sp>
        <p:nvSpPr>
          <p:cNvPr id="17411" name="Rectangle 3"/>
          <p:cNvSpPr>
            <a:spLocks noGrp="1" noChangeArrowheads="1"/>
          </p:cNvSpPr>
          <p:nvPr>
            <p:ph idx="1"/>
          </p:nvPr>
        </p:nvSpPr>
        <p:spPr>
          <a:xfrm>
            <a:off x="655454" y="1428751"/>
            <a:ext cx="11211649" cy="4970463"/>
          </a:xfrm>
        </p:spPr>
        <p:txBody>
          <a:bodyPr>
            <a:normAutofit/>
          </a:bodyPr>
          <a:lstStyle/>
          <a:p>
            <a:pPr eaLnBrk="1" hangingPunct="1">
              <a:lnSpc>
                <a:spcPct val="90000"/>
              </a:lnSpc>
              <a:buFontTx/>
              <a:buNone/>
            </a:pPr>
            <a:r>
              <a:rPr lang="en-US" altLang="zh-CN" sz="2400" b="1" dirty="0"/>
              <a:t>2.</a:t>
            </a:r>
            <a:r>
              <a:rPr lang="zh-CN" altLang="en-US" sz="2400" b="1" dirty="0"/>
              <a:t>数据结构</a:t>
            </a:r>
          </a:p>
          <a:p>
            <a:pPr eaLnBrk="1" hangingPunct="1">
              <a:lnSpc>
                <a:spcPct val="90000"/>
              </a:lnSpc>
              <a:buFontTx/>
              <a:buNone/>
            </a:pPr>
            <a:r>
              <a:rPr lang="zh-CN" altLang="en-US" sz="2400" b="1" dirty="0"/>
              <a:t>（</a:t>
            </a:r>
            <a:r>
              <a:rPr lang="en-US" altLang="zh-CN" sz="2400" b="1" dirty="0"/>
              <a:t>1</a:t>
            </a:r>
            <a:r>
              <a:rPr lang="zh-CN" altLang="en-US" sz="2400" b="1" dirty="0"/>
              <a:t>）定义：是相互之间存在一种或多种特定关系的数据元素的集合。</a:t>
            </a:r>
          </a:p>
          <a:p>
            <a:pPr eaLnBrk="1" hangingPunct="1">
              <a:lnSpc>
                <a:spcPct val="90000"/>
              </a:lnSpc>
              <a:buFontTx/>
              <a:buNone/>
            </a:pPr>
            <a:r>
              <a:rPr lang="zh-CN" altLang="en-US" sz="2400" b="1" dirty="0"/>
              <a:t>    数据之间不是相互独立的，他们之间有某种特定的关系，这种数据元素之间的关系，称为“结构”。</a:t>
            </a:r>
          </a:p>
          <a:p>
            <a:pPr eaLnBrk="1" hangingPunct="1">
              <a:lnSpc>
                <a:spcPct val="90000"/>
              </a:lnSpc>
              <a:buFontTx/>
              <a:buNone/>
            </a:pPr>
            <a:endParaRPr lang="zh-CN" altLang="en-US" sz="2400" b="1" dirty="0"/>
          </a:p>
          <a:p>
            <a:pPr algn="ctr" eaLnBrk="1" hangingPunct="1">
              <a:lnSpc>
                <a:spcPct val="90000"/>
              </a:lnSpc>
              <a:buFontTx/>
              <a:buNone/>
            </a:pPr>
            <a:r>
              <a:rPr lang="zh-CN" altLang="en-US" sz="2400" b="1" dirty="0"/>
              <a:t>结构</a:t>
            </a:r>
            <a:r>
              <a:rPr lang="en-US" altLang="zh-CN" sz="2400" b="1" dirty="0"/>
              <a:t>=</a:t>
            </a:r>
            <a:r>
              <a:rPr lang="zh-CN" altLang="en-US" sz="2400" b="1" dirty="0"/>
              <a:t>关系</a:t>
            </a:r>
            <a:r>
              <a:rPr lang="en-US" altLang="zh-CN" sz="2400" b="1" dirty="0"/>
              <a:t>+</a:t>
            </a:r>
            <a:r>
              <a:rPr lang="zh-CN" altLang="en-US" sz="2400" b="1" dirty="0"/>
              <a:t>实体</a:t>
            </a:r>
          </a:p>
          <a:p>
            <a:pPr algn="ctr" eaLnBrk="1" hangingPunct="1">
              <a:lnSpc>
                <a:spcPct val="90000"/>
              </a:lnSpc>
              <a:buFontTx/>
              <a:buNone/>
            </a:pPr>
            <a:endParaRPr lang="zh-CN" altLang="en-US" sz="2400" b="1" dirty="0"/>
          </a:p>
          <a:p>
            <a:pPr eaLnBrk="1" hangingPunct="1">
              <a:lnSpc>
                <a:spcPct val="90000"/>
              </a:lnSpc>
              <a:buFont typeface="Wingdings" panose="05000000000000000000" pitchFamily="2" charset="2"/>
              <a:buChar char="l"/>
            </a:pPr>
            <a:r>
              <a:rPr lang="zh-CN" altLang="en-US" sz="2400" b="1" dirty="0"/>
              <a:t>另一种定义： 按照逻辑关系组织起来的一批数据</a:t>
            </a:r>
            <a:r>
              <a:rPr lang="en-US" altLang="zh-CN" sz="2400" b="1" dirty="0"/>
              <a:t>, </a:t>
            </a:r>
            <a:r>
              <a:rPr lang="zh-CN" altLang="en-US" sz="2400" b="1" dirty="0"/>
              <a:t>按一定的存储方法把它存储在计算机中</a:t>
            </a:r>
            <a:r>
              <a:rPr lang="en-US" altLang="zh-CN" sz="2400" b="1" dirty="0"/>
              <a:t>, </a:t>
            </a:r>
            <a:r>
              <a:rPr lang="zh-CN" altLang="en-US" sz="2400" b="1" dirty="0"/>
              <a:t>并在这些数据上定义了一个运算的集合。</a:t>
            </a:r>
          </a:p>
          <a:p>
            <a:pPr eaLnBrk="1" hangingPunct="1">
              <a:lnSpc>
                <a:spcPct val="90000"/>
              </a:lnSpc>
              <a:buFont typeface="Wingdings" panose="05000000000000000000" pitchFamily="2" charset="2"/>
              <a:buChar char="l"/>
            </a:pPr>
            <a:r>
              <a:rPr lang="zh-CN" altLang="en-US" sz="2400" b="1" dirty="0"/>
              <a:t>形式定义：二元组 </a:t>
            </a:r>
            <a:r>
              <a:rPr lang="en-US" altLang="zh-CN" sz="2400" b="1" dirty="0"/>
              <a:t>(D,S)  </a:t>
            </a:r>
            <a:r>
              <a:rPr lang="zh-CN" altLang="en-US" sz="2400" b="1" dirty="0"/>
              <a:t>其中</a:t>
            </a:r>
            <a:r>
              <a:rPr lang="en-US" altLang="zh-CN" sz="2400" b="1" dirty="0"/>
              <a:t>D</a:t>
            </a:r>
            <a:r>
              <a:rPr lang="zh-CN" altLang="en-US" sz="2400" b="1" dirty="0"/>
              <a:t>是数据元素的有限集，</a:t>
            </a:r>
            <a:r>
              <a:rPr lang="en-US" altLang="zh-CN" sz="2400" b="1" dirty="0"/>
              <a:t>S</a:t>
            </a:r>
            <a:r>
              <a:rPr lang="zh-CN" altLang="en-US" sz="2400" b="1" dirty="0"/>
              <a:t>是</a:t>
            </a:r>
            <a:r>
              <a:rPr lang="en-US" altLang="zh-CN" sz="2400" b="1" dirty="0"/>
              <a:t>D</a:t>
            </a:r>
            <a:r>
              <a:rPr lang="zh-CN" altLang="en-US" sz="2400" b="1" dirty="0"/>
              <a:t>上关系的有限集</a:t>
            </a:r>
          </a:p>
          <a:p>
            <a:pPr eaLnBrk="1" hangingPunct="1">
              <a:lnSpc>
                <a:spcPct val="90000"/>
              </a:lnSpc>
            </a:pPr>
            <a:endParaRPr lang="en-US" altLang="zh-CN" sz="2400" b="1" dirty="0"/>
          </a:p>
        </p:txBody>
      </p:sp>
    </p:spTree>
    <p:extLst>
      <p:ext uri="{BB962C8B-B14F-4D97-AF65-F5344CB8AC3E}">
        <p14:creationId xmlns:p14="http://schemas.microsoft.com/office/powerpoint/2010/main" val="3528448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2954" y="185739"/>
            <a:ext cx="8229600" cy="744537"/>
          </a:xfrm>
        </p:spPr>
        <p:txBody>
          <a:bodyPr/>
          <a:lstStyle/>
          <a:p>
            <a:pPr eaLnBrk="1" hangingPunct="1"/>
            <a:r>
              <a:rPr lang="en-US" altLang="zh-CN" sz="4000" b="1" dirty="0"/>
              <a:t>1.2 </a:t>
            </a:r>
            <a:r>
              <a:rPr lang="zh-CN" altLang="en-US" sz="4000" b="1" dirty="0"/>
              <a:t>基本概念和术语</a:t>
            </a:r>
          </a:p>
        </p:txBody>
      </p:sp>
      <p:sp>
        <p:nvSpPr>
          <p:cNvPr id="18435" name="Rectangle 3"/>
          <p:cNvSpPr>
            <a:spLocks noGrp="1" noChangeArrowheads="1"/>
          </p:cNvSpPr>
          <p:nvPr>
            <p:ph idx="1"/>
          </p:nvPr>
        </p:nvSpPr>
        <p:spPr>
          <a:xfrm>
            <a:off x="250896" y="1599660"/>
            <a:ext cx="11672852" cy="5072601"/>
          </a:xfrm>
        </p:spPr>
        <p:txBody>
          <a:bodyPr>
            <a:noAutofit/>
          </a:bodyPr>
          <a:lstStyle/>
          <a:p>
            <a:pPr eaLnBrk="1" hangingPunct="1">
              <a:lnSpc>
                <a:spcPct val="90000"/>
              </a:lnSpc>
              <a:buFontTx/>
              <a:buNone/>
            </a:pPr>
            <a:r>
              <a:rPr lang="en-US" altLang="zh-CN" sz="2600" b="1" dirty="0"/>
              <a:t>2.</a:t>
            </a:r>
            <a:r>
              <a:rPr lang="zh-CN" altLang="en-US" sz="2600" b="1" dirty="0"/>
              <a:t>数据结构</a:t>
            </a:r>
          </a:p>
          <a:p>
            <a:pPr eaLnBrk="1" hangingPunct="1">
              <a:lnSpc>
                <a:spcPct val="90000"/>
              </a:lnSpc>
              <a:buFontTx/>
              <a:buNone/>
            </a:pPr>
            <a:r>
              <a:rPr lang="zh-CN" altLang="en-US" sz="2600" b="1" dirty="0"/>
              <a:t>（</a:t>
            </a:r>
            <a:r>
              <a:rPr lang="en-US" altLang="zh-CN" sz="2600" b="1" dirty="0"/>
              <a:t>2</a:t>
            </a:r>
            <a:r>
              <a:rPr lang="zh-CN" altLang="en-US" sz="2600" b="1" dirty="0"/>
              <a:t>）四种基本结构（</a:t>
            </a:r>
            <a:r>
              <a:rPr lang="zh-CN" altLang="en-US" sz="2600" b="1" dirty="0">
                <a:solidFill>
                  <a:srgbClr val="3333FF"/>
                </a:solidFill>
              </a:rPr>
              <a:t>逻辑结构</a:t>
            </a:r>
            <a:r>
              <a:rPr lang="zh-CN" altLang="en-US" sz="2600" b="1" dirty="0"/>
              <a:t>）    </a:t>
            </a:r>
            <a:r>
              <a:rPr lang="en-US" altLang="zh-CN" sz="2600" b="1" dirty="0"/>
              <a:t>p5</a:t>
            </a:r>
          </a:p>
          <a:p>
            <a:pPr eaLnBrk="1" hangingPunct="1">
              <a:lnSpc>
                <a:spcPct val="90000"/>
              </a:lnSpc>
              <a:buFontTx/>
              <a:buNone/>
            </a:pPr>
            <a:r>
              <a:rPr lang="en-US" altLang="zh-CN" sz="2600" b="1" dirty="0"/>
              <a:t>        </a:t>
            </a:r>
            <a:r>
              <a:rPr lang="zh-CN" altLang="en-US" sz="2600" b="1" dirty="0"/>
              <a:t>集合：元素仅属于同一个集体，没有其他关系。</a:t>
            </a:r>
          </a:p>
          <a:p>
            <a:pPr eaLnBrk="1" hangingPunct="1">
              <a:lnSpc>
                <a:spcPct val="90000"/>
              </a:lnSpc>
              <a:buFontTx/>
              <a:buNone/>
            </a:pPr>
            <a:r>
              <a:rPr lang="zh-CN" altLang="en-US" sz="2600" b="1" dirty="0"/>
              <a:t>        线性结构：存在一对一 关系，序列相邻，次序关系。</a:t>
            </a:r>
          </a:p>
          <a:p>
            <a:pPr eaLnBrk="1" hangingPunct="1">
              <a:lnSpc>
                <a:spcPct val="90000"/>
              </a:lnSpc>
              <a:buFontTx/>
              <a:buNone/>
            </a:pPr>
            <a:r>
              <a:rPr lang="zh-CN" altLang="en-US" sz="2600" b="1" dirty="0"/>
              <a:t>        树型结构：存在一对多关系，层次关系。</a:t>
            </a:r>
          </a:p>
          <a:p>
            <a:pPr eaLnBrk="1" hangingPunct="1">
              <a:lnSpc>
                <a:spcPct val="90000"/>
              </a:lnSpc>
              <a:buFontTx/>
              <a:buNone/>
            </a:pPr>
            <a:r>
              <a:rPr lang="zh-CN" altLang="en-US" sz="2600" b="1" dirty="0"/>
              <a:t>        图状结构：（网状结构）存在多对多关系，任意性</a:t>
            </a:r>
          </a:p>
          <a:p>
            <a:pPr eaLnBrk="1" hangingPunct="1">
              <a:lnSpc>
                <a:spcPct val="90000"/>
              </a:lnSpc>
              <a:buFont typeface="Wingdings" panose="05000000000000000000" pitchFamily="2" charset="2"/>
              <a:buChar char="l"/>
            </a:pPr>
            <a:r>
              <a:rPr lang="zh-CN" altLang="en-US" sz="2600" b="1" dirty="0"/>
              <a:t>存储器模型：一个存储器</a:t>
            </a:r>
            <a:r>
              <a:rPr lang="en-US" altLang="zh-CN" sz="2600" b="1" dirty="0"/>
              <a:t>M</a:t>
            </a:r>
            <a:r>
              <a:rPr lang="zh-CN" altLang="en-US" sz="2600" b="1" dirty="0"/>
              <a:t>是一系列固定大小的存储单元，每个单元</a:t>
            </a:r>
            <a:r>
              <a:rPr lang="en-US" altLang="zh-CN" sz="2600" b="1" dirty="0"/>
              <a:t>U</a:t>
            </a:r>
            <a:r>
              <a:rPr lang="zh-CN" altLang="en-US" sz="2600" b="1" dirty="0"/>
              <a:t>有一个唯一的地址</a:t>
            </a:r>
            <a:r>
              <a:rPr lang="en-US" altLang="zh-CN" sz="2600" b="1" dirty="0"/>
              <a:t>A(U)</a:t>
            </a:r>
            <a:r>
              <a:rPr lang="zh-CN" altLang="en-US" sz="2600" b="1" dirty="0"/>
              <a:t>，该地址被连续地编码。每个单元</a:t>
            </a:r>
            <a:r>
              <a:rPr lang="en-US" altLang="zh-CN" sz="2600" b="1" dirty="0"/>
              <a:t>U</a:t>
            </a:r>
            <a:r>
              <a:rPr lang="zh-CN" altLang="en-US" sz="2600" b="1" dirty="0"/>
              <a:t>有一个唯一的后继单元</a:t>
            </a:r>
            <a:r>
              <a:rPr lang="en-US" altLang="zh-CN" sz="2600" b="1" dirty="0"/>
              <a:t>U’=</a:t>
            </a:r>
            <a:r>
              <a:rPr lang="en-US" altLang="zh-CN" sz="2600" b="1" dirty="0" err="1"/>
              <a:t>succ</a:t>
            </a:r>
            <a:r>
              <a:rPr lang="en-US" altLang="zh-CN" sz="2600" b="1" dirty="0"/>
              <a:t>(U) </a:t>
            </a:r>
          </a:p>
          <a:p>
            <a:pPr eaLnBrk="1" hangingPunct="1">
              <a:lnSpc>
                <a:spcPct val="90000"/>
              </a:lnSpc>
              <a:buFont typeface="Wingdings" panose="05000000000000000000" pitchFamily="2" charset="2"/>
              <a:buChar char="l"/>
            </a:pPr>
            <a:r>
              <a:rPr lang="zh-CN" altLang="en-US" sz="2600" b="1" dirty="0">
                <a:solidFill>
                  <a:srgbClr val="3333FF"/>
                </a:solidFill>
              </a:rPr>
              <a:t>物理结构</a:t>
            </a:r>
            <a:r>
              <a:rPr lang="zh-CN" altLang="en-US" sz="2600" b="1" dirty="0"/>
              <a:t>就是逻辑结构到存储器的一个映射。</a:t>
            </a:r>
          </a:p>
          <a:p>
            <a:pPr eaLnBrk="1" hangingPunct="1">
              <a:lnSpc>
                <a:spcPct val="90000"/>
              </a:lnSpc>
              <a:buFont typeface="Wingdings" panose="05000000000000000000" pitchFamily="2" charset="2"/>
              <a:buChar char="l"/>
            </a:pPr>
            <a:r>
              <a:rPr lang="zh-CN" altLang="en-US" sz="2600" b="1" dirty="0"/>
              <a:t>四种存储结构：顺序存储、链接存储、索引存储、散列存储</a:t>
            </a:r>
          </a:p>
          <a:p>
            <a:pPr eaLnBrk="1" hangingPunct="1">
              <a:lnSpc>
                <a:spcPct val="90000"/>
              </a:lnSpc>
            </a:pPr>
            <a:endParaRPr lang="en-US" altLang="zh-CN" sz="2600" b="1" dirty="0"/>
          </a:p>
        </p:txBody>
      </p:sp>
      <p:grpSp>
        <p:nvGrpSpPr>
          <p:cNvPr id="4" name="Group 5"/>
          <p:cNvGrpSpPr>
            <a:grpSpLocks/>
          </p:cNvGrpSpPr>
          <p:nvPr/>
        </p:nvGrpSpPr>
        <p:grpSpPr bwMode="auto">
          <a:xfrm>
            <a:off x="4791004" y="728663"/>
            <a:ext cx="7231063" cy="1143000"/>
            <a:chOff x="480" y="3168"/>
            <a:chExt cx="4555" cy="720"/>
          </a:xfrm>
        </p:grpSpPr>
        <p:grpSp>
          <p:nvGrpSpPr>
            <p:cNvPr id="5" name="Group 6"/>
            <p:cNvGrpSpPr>
              <a:grpSpLocks/>
            </p:cNvGrpSpPr>
            <p:nvPr/>
          </p:nvGrpSpPr>
          <p:grpSpPr bwMode="auto">
            <a:xfrm>
              <a:off x="480" y="3701"/>
              <a:ext cx="1379" cy="91"/>
              <a:chOff x="528" y="3312"/>
              <a:chExt cx="1379" cy="91"/>
            </a:xfrm>
          </p:grpSpPr>
          <p:sp>
            <p:nvSpPr>
              <p:cNvPr id="43" name="AutoShape 7"/>
              <p:cNvSpPr>
                <a:spLocks noChangeArrowheads="1"/>
              </p:cNvSpPr>
              <p:nvPr/>
            </p:nvSpPr>
            <p:spPr bwMode="auto">
              <a:xfrm>
                <a:off x="528" y="3312"/>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44" name="AutoShape 8"/>
              <p:cNvSpPr>
                <a:spLocks noChangeArrowheads="1"/>
              </p:cNvSpPr>
              <p:nvPr/>
            </p:nvSpPr>
            <p:spPr bwMode="auto">
              <a:xfrm>
                <a:off x="960" y="3312"/>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45" name="AutoShape 9"/>
              <p:cNvSpPr>
                <a:spLocks noChangeArrowheads="1"/>
              </p:cNvSpPr>
              <p:nvPr/>
            </p:nvSpPr>
            <p:spPr bwMode="auto">
              <a:xfrm>
                <a:off x="1392" y="3312"/>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46" name="AutoShape 10"/>
              <p:cNvSpPr>
                <a:spLocks noChangeArrowheads="1"/>
              </p:cNvSpPr>
              <p:nvPr/>
            </p:nvSpPr>
            <p:spPr bwMode="auto">
              <a:xfrm>
                <a:off x="1816" y="3312"/>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47" name="Line 11"/>
              <p:cNvSpPr>
                <a:spLocks noChangeShapeType="1"/>
              </p:cNvSpPr>
              <p:nvPr/>
            </p:nvSpPr>
            <p:spPr bwMode="auto">
              <a:xfrm>
                <a:off x="624" y="3360"/>
                <a:ext cx="336"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48" name="Line 12"/>
              <p:cNvSpPr>
                <a:spLocks noChangeShapeType="1"/>
              </p:cNvSpPr>
              <p:nvPr/>
            </p:nvSpPr>
            <p:spPr bwMode="auto">
              <a:xfrm>
                <a:off x="1056" y="3360"/>
                <a:ext cx="336"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49" name="Line 13"/>
              <p:cNvSpPr>
                <a:spLocks noChangeShapeType="1"/>
              </p:cNvSpPr>
              <p:nvPr/>
            </p:nvSpPr>
            <p:spPr bwMode="auto">
              <a:xfrm>
                <a:off x="1480" y="3360"/>
                <a:ext cx="336"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grpSp>
        <p:grpSp>
          <p:nvGrpSpPr>
            <p:cNvPr id="6" name="Group 14"/>
            <p:cNvGrpSpPr>
              <a:grpSpLocks/>
            </p:cNvGrpSpPr>
            <p:nvPr/>
          </p:nvGrpSpPr>
          <p:grpSpPr bwMode="auto">
            <a:xfrm>
              <a:off x="2320" y="3216"/>
              <a:ext cx="1083" cy="571"/>
              <a:chOff x="2320" y="3240"/>
              <a:chExt cx="1083" cy="571"/>
            </a:xfrm>
          </p:grpSpPr>
          <p:sp>
            <p:nvSpPr>
              <p:cNvPr id="28" name="AutoShape 15"/>
              <p:cNvSpPr>
                <a:spLocks noChangeArrowheads="1"/>
              </p:cNvSpPr>
              <p:nvPr/>
            </p:nvSpPr>
            <p:spPr bwMode="auto">
              <a:xfrm>
                <a:off x="2824" y="3712"/>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29" name="AutoShape 16"/>
              <p:cNvSpPr>
                <a:spLocks noChangeArrowheads="1"/>
              </p:cNvSpPr>
              <p:nvPr/>
            </p:nvSpPr>
            <p:spPr bwMode="auto">
              <a:xfrm>
                <a:off x="2592" y="3456"/>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30" name="AutoShape 17"/>
              <p:cNvSpPr>
                <a:spLocks noChangeArrowheads="1"/>
              </p:cNvSpPr>
              <p:nvPr/>
            </p:nvSpPr>
            <p:spPr bwMode="auto">
              <a:xfrm>
                <a:off x="2808" y="3240"/>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31" name="AutoShape 18"/>
              <p:cNvSpPr>
                <a:spLocks noChangeArrowheads="1"/>
              </p:cNvSpPr>
              <p:nvPr/>
            </p:nvSpPr>
            <p:spPr bwMode="auto">
              <a:xfrm>
                <a:off x="3104" y="3456"/>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32" name="AutoShape 19"/>
              <p:cNvSpPr>
                <a:spLocks noChangeArrowheads="1"/>
              </p:cNvSpPr>
              <p:nvPr/>
            </p:nvSpPr>
            <p:spPr bwMode="auto">
              <a:xfrm>
                <a:off x="2320" y="3712"/>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33" name="AutoShape 20"/>
              <p:cNvSpPr>
                <a:spLocks noChangeArrowheads="1"/>
              </p:cNvSpPr>
              <p:nvPr/>
            </p:nvSpPr>
            <p:spPr bwMode="auto">
              <a:xfrm>
                <a:off x="2592" y="3712"/>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34" name="AutoShape 21"/>
              <p:cNvSpPr>
                <a:spLocks noChangeArrowheads="1"/>
              </p:cNvSpPr>
              <p:nvPr/>
            </p:nvSpPr>
            <p:spPr bwMode="auto">
              <a:xfrm>
                <a:off x="3312" y="3720"/>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35" name="AutoShape 22"/>
              <p:cNvSpPr>
                <a:spLocks noChangeArrowheads="1"/>
              </p:cNvSpPr>
              <p:nvPr/>
            </p:nvSpPr>
            <p:spPr bwMode="auto">
              <a:xfrm>
                <a:off x="3000" y="3712"/>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36" name="Line 23"/>
              <p:cNvSpPr>
                <a:spLocks noChangeShapeType="1"/>
              </p:cNvSpPr>
              <p:nvPr/>
            </p:nvSpPr>
            <p:spPr bwMode="auto">
              <a:xfrm flipH="1">
                <a:off x="2656" y="3312"/>
                <a:ext cx="176" cy="14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37" name="Line 24"/>
              <p:cNvSpPr>
                <a:spLocks noChangeShapeType="1"/>
              </p:cNvSpPr>
              <p:nvPr/>
            </p:nvSpPr>
            <p:spPr bwMode="auto">
              <a:xfrm>
                <a:off x="2896" y="3320"/>
                <a:ext cx="224" cy="13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38" name="Line 25"/>
              <p:cNvSpPr>
                <a:spLocks noChangeShapeType="1"/>
              </p:cNvSpPr>
              <p:nvPr/>
            </p:nvSpPr>
            <p:spPr bwMode="auto">
              <a:xfrm flipH="1">
                <a:off x="2408" y="3536"/>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39" name="Line 26"/>
              <p:cNvSpPr>
                <a:spLocks noChangeShapeType="1"/>
              </p:cNvSpPr>
              <p:nvPr/>
            </p:nvSpPr>
            <p:spPr bwMode="auto">
              <a:xfrm>
                <a:off x="2640" y="3552"/>
                <a:ext cx="0" cy="15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40" name="Line 27"/>
              <p:cNvSpPr>
                <a:spLocks noChangeShapeType="1"/>
              </p:cNvSpPr>
              <p:nvPr/>
            </p:nvSpPr>
            <p:spPr bwMode="auto">
              <a:xfrm>
                <a:off x="2680" y="3528"/>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41" name="Line 28"/>
              <p:cNvSpPr>
                <a:spLocks noChangeShapeType="1"/>
              </p:cNvSpPr>
              <p:nvPr/>
            </p:nvSpPr>
            <p:spPr bwMode="auto">
              <a:xfrm flipH="1">
                <a:off x="3048" y="3552"/>
                <a:ext cx="96" cy="14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42" name="Line 29"/>
              <p:cNvSpPr>
                <a:spLocks noChangeShapeType="1"/>
              </p:cNvSpPr>
              <p:nvPr/>
            </p:nvSpPr>
            <p:spPr bwMode="auto">
              <a:xfrm>
                <a:off x="3200" y="3528"/>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grpSp>
        <p:grpSp>
          <p:nvGrpSpPr>
            <p:cNvPr id="7" name="Group 30"/>
            <p:cNvGrpSpPr>
              <a:grpSpLocks/>
            </p:cNvGrpSpPr>
            <p:nvPr/>
          </p:nvGrpSpPr>
          <p:grpSpPr bwMode="auto">
            <a:xfrm>
              <a:off x="3904" y="3216"/>
              <a:ext cx="1131" cy="672"/>
              <a:chOff x="3904" y="3360"/>
              <a:chExt cx="1131" cy="672"/>
            </a:xfrm>
          </p:grpSpPr>
          <p:sp>
            <p:nvSpPr>
              <p:cNvPr id="15" name="Line 31"/>
              <p:cNvSpPr>
                <a:spLocks noChangeShapeType="1"/>
              </p:cNvSpPr>
              <p:nvPr/>
            </p:nvSpPr>
            <p:spPr bwMode="auto">
              <a:xfrm>
                <a:off x="4304" y="3400"/>
                <a:ext cx="4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16" name="AutoShape 32"/>
              <p:cNvSpPr>
                <a:spLocks noChangeArrowheads="1"/>
              </p:cNvSpPr>
              <p:nvPr/>
            </p:nvSpPr>
            <p:spPr bwMode="auto">
              <a:xfrm>
                <a:off x="4224" y="3368"/>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17" name="AutoShape 33"/>
              <p:cNvSpPr>
                <a:spLocks noChangeArrowheads="1"/>
              </p:cNvSpPr>
              <p:nvPr/>
            </p:nvSpPr>
            <p:spPr bwMode="auto">
              <a:xfrm>
                <a:off x="3904" y="3688"/>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18" name="AutoShape 34"/>
              <p:cNvSpPr>
                <a:spLocks noChangeArrowheads="1"/>
              </p:cNvSpPr>
              <p:nvPr/>
            </p:nvSpPr>
            <p:spPr bwMode="auto">
              <a:xfrm>
                <a:off x="4704" y="3360"/>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19" name="AutoShape 35"/>
              <p:cNvSpPr>
                <a:spLocks noChangeArrowheads="1"/>
              </p:cNvSpPr>
              <p:nvPr/>
            </p:nvSpPr>
            <p:spPr bwMode="auto">
              <a:xfrm>
                <a:off x="4512" y="3941"/>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20" name="AutoShape 36"/>
              <p:cNvSpPr>
                <a:spLocks noChangeArrowheads="1"/>
              </p:cNvSpPr>
              <p:nvPr/>
            </p:nvSpPr>
            <p:spPr bwMode="auto">
              <a:xfrm>
                <a:off x="4944" y="3696"/>
                <a:ext cx="91" cy="91"/>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21" name="Line 37"/>
              <p:cNvSpPr>
                <a:spLocks noChangeShapeType="1"/>
              </p:cNvSpPr>
              <p:nvPr/>
            </p:nvSpPr>
            <p:spPr bwMode="auto">
              <a:xfrm>
                <a:off x="3984" y="3768"/>
                <a:ext cx="528"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22" name="Line 38"/>
              <p:cNvSpPr>
                <a:spLocks noChangeShapeType="1"/>
              </p:cNvSpPr>
              <p:nvPr/>
            </p:nvSpPr>
            <p:spPr bwMode="auto">
              <a:xfrm flipH="1">
                <a:off x="3992" y="3448"/>
                <a:ext cx="240" cy="24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23" name="Line 39"/>
              <p:cNvSpPr>
                <a:spLocks noChangeShapeType="1"/>
              </p:cNvSpPr>
              <p:nvPr/>
            </p:nvSpPr>
            <p:spPr bwMode="auto">
              <a:xfrm flipH="1">
                <a:off x="4560" y="3456"/>
                <a:ext cx="192" cy="48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24" name="Line 40"/>
              <p:cNvSpPr>
                <a:spLocks noChangeShapeType="1"/>
              </p:cNvSpPr>
              <p:nvPr/>
            </p:nvSpPr>
            <p:spPr bwMode="auto">
              <a:xfrm>
                <a:off x="4320" y="3456"/>
                <a:ext cx="624"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25" name="Line 41"/>
              <p:cNvSpPr>
                <a:spLocks noChangeShapeType="1"/>
              </p:cNvSpPr>
              <p:nvPr/>
            </p:nvSpPr>
            <p:spPr bwMode="auto">
              <a:xfrm flipH="1">
                <a:off x="4600" y="3784"/>
                <a:ext cx="38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26" name="Line 42"/>
              <p:cNvSpPr>
                <a:spLocks noChangeShapeType="1"/>
              </p:cNvSpPr>
              <p:nvPr/>
            </p:nvSpPr>
            <p:spPr bwMode="auto">
              <a:xfrm flipV="1">
                <a:off x="4000" y="3448"/>
                <a:ext cx="720"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sp>
            <p:nvSpPr>
              <p:cNvPr id="27" name="Line 43"/>
              <p:cNvSpPr>
                <a:spLocks noChangeShapeType="1"/>
              </p:cNvSpPr>
              <p:nvPr/>
            </p:nvSpPr>
            <p:spPr bwMode="auto">
              <a:xfrm>
                <a:off x="4288" y="3464"/>
                <a:ext cx="240" cy="48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dirty="0">
                  <a:latin typeface="华文仿宋" panose="02010600040101010101" pitchFamily="2" charset="-122"/>
                  <a:ea typeface="华文仿宋" panose="02010600040101010101" pitchFamily="2" charset="-122"/>
                </a:endParaRPr>
              </a:p>
            </p:txBody>
          </p:sp>
        </p:grpSp>
        <p:grpSp>
          <p:nvGrpSpPr>
            <p:cNvPr id="8" name="Group 44"/>
            <p:cNvGrpSpPr>
              <a:grpSpLocks/>
            </p:cNvGrpSpPr>
            <p:nvPr/>
          </p:nvGrpSpPr>
          <p:grpSpPr bwMode="auto">
            <a:xfrm>
              <a:off x="1008" y="3168"/>
              <a:ext cx="623" cy="336"/>
              <a:chOff x="1008" y="3120"/>
              <a:chExt cx="623" cy="336"/>
            </a:xfrm>
          </p:grpSpPr>
          <p:sp>
            <p:nvSpPr>
              <p:cNvPr id="9" name="AutoShape 45"/>
              <p:cNvSpPr>
                <a:spLocks noChangeArrowheads="1"/>
              </p:cNvSpPr>
              <p:nvPr/>
            </p:nvSpPr>
            <p:spPr bwMode="auto">
              <a:xfrm>
                <a:off x="1008" y="3312"/>
                <a:ext cx="95" cy="96"/>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10" name="AutoShape 46"/>
              <p:cNvSpPr>
                <a:spLocks noChangeArrowheads="1"/>
              </p:cNvSpPr>
              <p:nvPr/>
            </p:nvSpPr>
            <p:spPr bwMode="auto">
              <a:xfrm>
                <a:off x="1152" y="3120"/>
                <a:ext cx="95" cy="96"/>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11" name="AutoShape 47"/>
              <p:cNvSpPr>
                <a:spLocks noChangeArrowheads="1"/>
              </p:cNvSpPr>
              <p:nvPr/>
            </p:nvSpPr>
            <p:spPr bwMode="auto">
              <a:xfrm>
                <a:off x="1152" y="3360"/>
                <a:ext cx="95" cy="96"/>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12" name="AutoShape 48"/>
              <p:cNvSpPr>
                <a:spLocks noChangeArrowheads="1"/>
              </p:cNvSpPr>
              <p:nvPr/>
            </p:nvSpPr>
            <p:spPr bwMode="auto">
              <a:xfrm>
                <a:off x="1344" y="3120"/>
                <a:ext cx="95" cy="96"/>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13" name="AutoShape 49"/>
              <p:cNvSpPr>
                <a:spLocks noChangeArrowheads="1"/>
              </p:cNvSpPr>
              <p:nvPr/>
            </p:nvSpPr>
            <p:spPr bwMode="auto">
              <a:xfrm>
                <a:off x="1536" y="3264"/>
                <a:ext cx="95" cy="96"/>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sp>
            <p:nvSpPr>
              <p:cNvPr id="14" name="AutoShape 50"/>
              <p:cNvSpPr>
                <a:spLocks noChangeArrowheads="1"/>
              </p:cNvSpPr>
              <p:nvPr/>
            </p:nvSpPr>
            <p:spPr bwMode="auto">
              <a:xfrm>
                <a:off x="1344" y="3312"/>
                <a:ext cx="95" cy="96"/>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华文仿宋" panose="02010600040101010101" pitchFamily="2" charset="-122"/>
                  <a:ea typeface="华文仿宋" panose="02010600040101010101" pitchFamily="2" charset="-122"/>
                </a:endParaRPr>
              </a:p>
            </p:txBody>
          </p:sp>
        </p:grpSp>
      </p:grpSp>
    </p:spTree>
    <p:extLst>
      <p:ext uri="{BB962C8B-B14F-4D97-AF65-F5344CB8AC3E}">
        <p14:creationId xmlns:p14="http://schemas.microsoft.com/office/powerpoint/2010/main" val="1242161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838200" y="365125"/>
            <a:ext cx="10515600" cy="880871"/>
          </a:xfrm>
        </p:spPr>
        <p:txBody>
          <a:bodyPr/>
          <a:lstStyle/>
          <a:p>
            <a:pPr algn="l" eaLnBrk="1" hangingPunct="1"/>
            <a:r>
              <a:rPr lang="zh-CN" altLang="en-US" sz="2800" b="1" dirty="0">
                <a:latin typeface="华文仿宋" panose="02010600040101010101" pitchFamily="2" charset="-122"/>
                <a:ea typeface="华文仿宋" panose="02010600040101010101" pitchFamily="2" charset="-122"/>
              </a:rPr>
              <a:t>（</a:t>
            </a:r>
            <a:r>
              <a:rPr lang="en-US" altLang="zh-CN" sz="2800" b="1" dirty="0">
                <a:latin typeface="华文仿宋" panose="02010600040101010101" pitchFamily="2" charset="-122"/>
                <a:ea typeface="华文仿宋" panose="02010600040101010101" pitchFamily="2" charset="-122"/>
              </a:rPr>
              <a:t>3</a:t>
            </a:r>
            <a:r>
              <a:rPr lang="zh-CN" altLang="en-US" sz="2800" b="1" dirty="0">
                <a:latin typeface="华文仿宋" panose="02010600040101010101" pitchFamily="2" charset="-122"/>
                <a:ea typeface="华文仿宋" panose="02010600040101010101" pitchFamily="2" charset="-122"/>
              </a:rPr>
              <a:t>）实例：</a:t>
            </a:r>
            <a:br>
              <a:rPr lang="zh-CN" altLang="en-US" sz="2800" b="1" dirty="0">
                <a:latin typeface="华文仿宋" panose="02010600040101010101" pitchFamily="2" charset="-122"/>
                <a:ea typeface="华文仿宋" panose="02010600040101010101" pitchFamily="2" charset="-122"/>
              </a:rPr>
            </a:br>
            <a:r>
              <a:rPr lang="zh-CN" altLang="en-US" sz="2800" b="1" dirty="0">
                <a:latin typeface="华文仿宋" panose="02010600040101010101" pitchFamily="2" charset="-122"/>
                <a:ea typeface="华文仿宋" panose="02010600040101010101" pitchFamily="2" charset="-122"/>
              </a:rPr>
              <a:t>表：计算机系人事表</a:t>
            </a:r>
          </a:p>
        </p:txBody>
      </p:sp>
      <p:graphicFrame>
        <p:nvGraphicFramePr>
          <p:cNvPr id="62597" name="Group 133"/>
          <p:cNvGraphicFramePr>
            <a:graphicFrameLocks noGrp="1"/>
          </p:cNvGraphicFramePr>
          <p:nvPr>
            <p:ph idx="1"/>
            <p:extLst>
              <p:ext uri="{D42A27DB-BD31-4B8C-83A1-F6EECF244321}">
                <p14:modId xmlns:p14="http://schemas.microsoft.com/office/powerpoint/2010/main" val="796718495"/>
              </p:ext>
            </p:extLst>
          </p:nvPr>
        </p:nvGraphicFramePr>
        <p:xfrm>
          <a:off x="1919288" y="1484313"/>
          <a:ext cx="8229600" cy="4525967"/>
        </p:xfrm>
        <a:graphic>
          <a:graphicData uri="http://schemas.openxmlformats.org/drawingml/2006/table">
            <a:tbl>
              <a:tblPr/>
              <a:tblGrid>
                <a:gridCol w="1176337">
                  <a:extLst>
                    <a:ext uri="{9D8B030D-6E8A-4147-A177-3AD203B41FA5}">
                      <a16:colId xmlns:a16="http://schemas.microsoft.com/office/drawing/2014/main" val="20000"/>
                    </a:ext>
                  </a:extLst>
                </a:gridCol>
                <a:gridCol w="1174750">
                  <a:extLst>
                    <a:ext uri="{9D8B030D-6E8A-4147-A177-3AD203B41FA5}">
                      <a16:colId xmlns:a16="http://schemas.microsoft.com/office/drawing/2014/main" val="20001"/>
                    </a:ext>
                  </a:extLst>
                </a:gridCol>
                <a:gridCol w="817563">
                  <a:extLst>
                    <a:ext uri="{9D8B030D-6E8A-4147-A177-3AD203B41FA5}">
                      <a16:colId xmlns:a16="http://schemas.microsoft.com/office/drawing/2014/main" val="20002"/>
                    </a:ext>
                  </a:extLst>
                </a:gridCol>
                <a:gridCol w="1533525">
                  <a:extLst>
                    <a:ext uri="{9D8B030D-6E8A-4147-A177-3AD203B41FA5}">
                      <a16:colId xmlns:a16="http://schemas.microsoft.com/office/drawing/2014/main" val="20003"/>
                    </a:ext>
                  </a:extLst>
                </a:gridCol>
                <a:gridCol w="1176337">
                  <a:extLst>
                    <a:ext uri="{9D8B030D-6E8A-4147-A177-3AD203B41FA5}">
                      <a16:colId xmlns:a16="http://schemas.microsoft.com/office/drawing/2014/main" val="20004"/>
                    </a:ext>
                  </a:extLst>
                </a:gridCol>
                <a:gridCol w="1174750">
                  <a:extLst>
                    <a:ext uri="{9D8B030D-6E8A-4147-A177-3AD203B41FA5}">
                      <a16:colId xmlns:a16="http://schemas.microsoft.com/office/drawing/2014/main" val="20005"/>
                    </a:ext>
                  </a:extLst>
                </a:gridCol>
                <a:gridCol w="1176338">
                  <a:extLst>
                    <a:ext uri="{9D8B030D-6E8A-4147-A177-3AD203B41FA5}">
                      <a16:colId xmlns:a16="http://schemas.microsoft.com/office/drawing/2014/main" val="20006"/>
                    </a:ext>
                  </a:extLst>
                </a:gridCol>
              </a:tblGrid>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工号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姓名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性别</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职务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教研室</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工作时间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发表论文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张三</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男</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系主任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软件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1981.1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李四</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女</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教研室主任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软件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1985.1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B,C,E,F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王五</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男</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软件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1990.8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C,D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赵六</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男</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应用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1987.8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XXX</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男</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应用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1975.9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E,I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XXX2</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男</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应用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1992.2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F,J</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XXX3</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女</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软件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1983.8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D,L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27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XXX4</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女</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教研室主任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应用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1986.7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G,H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09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XXX5</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男</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应用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1995.8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H,I,J,K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XXX</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女</a:t>
                      </a:r>
                      <a:endParaRPr kumimoji="0" lang="zh-CN"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教师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软件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1989.2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L,K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754460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313278" y="601588"/>
            <a:ext cx="11383003" cy="5256599"/>
          </a:xfrm>
        </p:spPr>
        <p:txBody>
          <a:bodyPr>
            <a:normAutofit/>
          </a:bodyPr>
          <a:lstStyle/>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线性结构示例 </a:t>
            </a:r>
            <a:r>
              <a:rPr lang="en-US" altLang="zh-CN" dirty="0">
                <a:latin typeface="华文仿宋" panose="02010600040101010101" pitchFamily="2" charset="-122"/>
                <a:ea typeface="华文仿宋" panose="02010600040101010101" pitchFamily="2" charset="-122"/>
              </a:rPr>
              <a:t>R={&lt;05,01&gt;, &lt;01,07&gt;, &lt;07,02&gt;, &lt;02,08&gt;, &lt;08,04&gt;, &lt;04,10&gt;, &lt;10,03&gt;, &lt;03,06&gt;,&lt;06,09&gt;}</a:t>
            </a:r>
          </a:p>
          <a:p>
            <a:pPr eaLnBrk="1" hangingPunct="1">
              <a:buFont typeface="Wingdings" panose="05000000000000000000" pitchFamily="2" charset="2"/>
              <a:buChar char="l"/>
            </a:pPr>
            <a:endParaRPr lang="en-US" altLang="zh-CN" dirty="0">
              <a:latin typeface="华文仿宋" panose="02010600040101010101" pitchFamily="2" charset="-122"/>
              <a:ea typeface="华文仿宋" panose="02010600040101010101" pitchFamily="2" charset="-122"/>
            </a:endParaRPr>
          </a:p>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树型结构示例</a:t>
            </a:r>
            <a:r>
              <a:rPr lang="en-US" altLang="zh-CN" dirty="0">
                <a:latin typeface="华文仿宋" panose="02010600040101010101" pitchFamily="2" charset="-122"/>
                <a:ea typeface="华文仿宋" panose="02010600040101010101" pitchFamily="2" charset="-122"/>
              </a:rPr>
              <a:t>R={&lt;01,02&gt;,&lt;01,08&gt;,&lt;02,03&gt;,&lt;02,10&gt;,&lt;02,07&gt;,&lt;08,04&gt;,&lt;08,05&gt;,&lt;08,06&gt;,&lt;08,09&gt;}</a:t>
            </a:r>
          </a:p>
          <a:p>
            <a:pPr eaLnBrk="1" hangingPunct="1">
              <a:buFont typeface="Wingdings" panose="05000000000000000000" pitchFamily="2" charset="2"/>
              <a:buChar char="l"/>
            </a:pPr>
            <a:endParaRPr lang="en-US" altLang="zh-CN" dirty="0">
              <a:latin typeface="华文仿宋" panose="02010600040101010101" pitchFamily="2" charset="-122"/>
              <a:ea typeface="华文仿宋" panose="02010600040101010101" pitchFamily="2" charset="-122"/>
            </a:endParaRPr>
          </a:p>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图状结构示例 </a:t>
            </a:r>
            <a:r>
              <a:rPr lang="en-US" altLang="zh-CN" dirty="0">
                <a:latin typeface="华文仿宋" panose="02010600040101010101" pitchFamily="2" charset="-122"/>
                <a:ea typeface="华文仿宋" panose="02010600040101010101" pitchFamily="2" charset="-122"/>
              </a:rPr>
              <a:t>R={(01,02),(01,04),(02,05),(02,06),(02,03),(03,07),(04,08),(05,09),(06,09),(07,10),(08,09),(09,10)}</a:t>
            </a:r>
          </a:p>
        </p:txBody>
      </p:sp>
    </p:spTree>
    <p:extLst>
      <p:ext uri="{BB962C8B-B14F-4D97-AF65-F5344CB8AC3E}">
        <p14:creationId xmlns:p14="http://schemas.microsoft.com/office/powerpoint/2010/main" val="2528070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35163" y="99577"/>
            <a:ext cx="8540750" cy="671513"/>
          </a:xfrm>
        </p:spPr>
        <p:txBody>
          <a:bodyPr rtlCol="0">
            <a:normAutofit/>
          </a:bodyPr>
          <a:lstStyle/>
          <a:p>
            <a:pPr>
              <a:defRPr/>
            </a:pPr>
            <a:r>
              <a:rPr lang="en-US" altLang="zh-CN" sz="4000" b="1" dirty="0">
                <a:latin typeface="华文仿宋" panose="02010600040101010101" pitchFamily="2" charset="-122"/>
                <a:ea typeface="华文仿宋" panose="02010600040101010101" pitchFamily="2" charset="-122"/>
              </a:rPr>
              <a:t>1.2 </a:t>
            </a:r>
            <a:r>
              <a:rPr lang="zh-CN" altLang="en-US" sz="4000" b="1" dirty="0">
                <a:latin typeface="华文仿宋" panose="02010600040101010101" pitchFamily="2" charset="-122"/>
                <a:ea typeface="华文仿宋" panose="02010600040101010101" pitchFamily="2" charset="-122"/>
              </a:rPr>
              <a:t>基本概念和术语</a:t>
            </a:r>
          </a:p>
        </p:txBody>
      </p:sp>
      <p:sp>
        <p:nvSpPr>
          <p:cNvPr id="21507" name="Rectangle 3"/>
          <p:cNvSpPr>
            <a:spLocks noGrp="1" noChangeArrowheads="1"/>
          </p:cNvSpPr>
          <p:nvPr>
            <p:ph idx="1"/>
          </p:nvPr>
        </p:nvSpPr>
        <p:spPr>
          <a:xfrm>
            <a:off x="135163" y="881623"/>
            <a:ext cx="12174067" cy="6343143"/>
          </a:xfrm>
        </p:spPr>
        <p:txBody>
          <a:bodyPr>
            <a:noAutofit/>
          </a:bodyPr>
          <a:lstStyle/>
          <a:p>
            <a:pPr eaLnBrk="1" hangingPunct="1">
              <a:lnSpc>
                <a:spcPct val="80000"/>
              </a:lnSpc>
              <a:buFontTx/>
              <a:buNone/>
            </a:pPr>
            <a:r>
              <a:rPr lang="en-US" altLang="zh-CN" dirty="0">
                <a:latin typeface="华文仿宋" panose="02010600040101010101" pitchFamily="2" charset="-122"/>
                <a:ea typeface="华文仿宋" panose="02010600040101010101" pitchFamily="2" charset="-122"/>
              </a:rPr>
              <a:t>3. </a:t>
            </a:r>
            <a:r>
              <a:rPr lang="zh-CN" altLang="en-US" b="1" dirty="0">
                <a:latin typeface="华文仿宋" panose="02010600040101010101" pitchFamily="2" charset="-122"/>
                <a:ea typeface="华文仿宋" panose="02010600040101010101" pitchFamily="2" charset="-122"/>
              </a:rPr>
              <a:t>数据结构的划分</a:t>
            </a:r>
          </a:p>
          <a:p>
            <a:pPr eaLnBrk="1" hangingPunct="1">
              <a:lnSpc>
                <a:spcPct val="80000"/>
              </a:lnSpc>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）按数据结构的性质划分</a:t>
            </a:r>
          </a:p>
          <a:p>
            <a:pPr lvl="1" eaLnBrk="1" hangingPunct="1">
              <a:lnSpc>
                <a:spcPct val="80000"/>
              </a:lnSpc>
              <a:buFontTx/>
              <a:buChar char="•"/>
            </a:pPr>
            <a:r>
              <a:rPr lang="zh-CN" altLang="en-US" sz="2800" dirty="0"/>
              <a:t> 数据的逻辑结构</a:t>
            </a:r>
            <a:r>
              <a:rPr lang="en-US" altLang="zh-CN" sz="2800" dirty="0"/>
              <a:t>——</a:t>
            </a:r>
            <a:r>
              <a:rPr lang="zh-CN" altLang="en-US" sz="2800" dirty="0"/>
              <a:t>数据元素之间的逻辑关系（设计算法</a:t>
            </a:r>
            <a:r>
              <a:rPr lang="en-US" altLang="zh-CN" sz="2800" dirty="0"/>
              <a:t>--</a:t>
            </a:r>
            <a:r>
              <a:rPr lang="zh-CN" altLang="en-US" sz="2800" dirty="0"/>
              <a:t>数学模型）</a:t>
            </a:r>
          </a:p>
          <a:p>
            <a:pPr lvl="1" eaLnBrk="1" hangingPunct="1">
              <a:lnSpc>
                <a:spcPct val="80000"/>
              </a:lnSpc>
              <a:buFontTx/>
              <a:buChar char="•"/>
            </a:pPr>
            <a:r>
              <a:rPr lang="zh-CN" altLang="en-US" sz="2800" dirty="0"/>
              <a:t> 数据的物理结构</a:t>
            </a:r>
            <a:r>
              <a:rPr lang="en-US" altLang="zh-CN" sz="2800" dirty="0"/>
              <a:t>——</a:t>
            </a:r>
            <a:r>
              <a:rPr lang="zh-CN" altLang="en-US" sz="2800" dirty="0"/>
              <a:t>数据结构在计算机中的映像。（存储结构，算法的实现）</a:t>
            </a:r>
            <a:endParaRPr lang="en-US" altLang="zh-CN" sz="2800" dirty="0"/>
          </a:p>
          <a:p>
            <a:pPr marL="457200" lvl="1" indent="0" eaLnBrk="1" hangingPunct="1">
              <a:lnSpc>
                <a:spcPct val="80000"/>
              </a:lnSpc>
              <a:buNone/>
            </a:pPr>
            <a:endParaRPr lang="zh-CN" altLang="en-US" sz="2800" dirty="0">
              <a:latin typeface="华文仿宋" panose="02010600040101010101" pitchFamily="2" charset="-122"/>
              <a:ea typeface="华文仿宋" panose="02010600040101010101" pitchFamily="2" charset="-122"/>
            </a:endParaRPr>
          </a:p>
          <a:p>
            <a:pPr eaLnBrk="1" hangingPunct="1">
              <a:lnSpc>
                <a:spcPct val="80000"/>
              </a:lnSpc>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）按数据结构在计算机内的存储方式来划分</a:t>
            </a:r>
          </a:p>
          <a:p>
            <a:pPr lvl="1" eaLnBrk="1" hangingPunct="1">
              <a:lnSpc>
                <a:spcPct val="80000"/>
              </a:lnSpc>
              <a:buSzPct val="50000"/>
              <a:buFont typeface="Wingdings" panose="05000000000000000000" pitchFamily="2" charset="2"/>
              <a:buChar char="l"/>
            </a:pPr>
            <a:r>
              <a:rPr lang="zh-CN" altLang="en-US" sz="2800" dirty="0">
                <a:latin typeface="华文仿宋" panose="02010600040101010101" pitchFamily="2" charset="-122"/>
                <a:ea typeface="华文仿宋" panose="02010600040101010101" pitchFamily="2" charset="-122"/>
              </a:rPr>
              <a:t>顺序存储结构</a:t>
            </a:r>
            <a:r>
              <a:rPr lang="en-US" altLang="zh-CN" sz="2800" dirty="0">
                <a:latin typeface="华文仿宋" panose="02010600040101010101" pitchFamily="2" charset="-122"/>
                <a:ea typeface="华文仿宋" panose="02010600040101010101" pitchFamily="2" charset="-122"/>
              </a:rPr>
              <a:t>——</a:t>
            </a:r>
            <a:r>
              <a:rPr lang="zh-CN" altLang="en-US" sz="2800" dirty="0">
                <a:latin typeface="华文仿宋" panose="02010600040101010101" pitchFamily="2" charset="-122"/>
                <a:ea typeface="华文仿宋" panose="02010600040101010101" pitchFamily="2" charset="-122"/>
              </a:rPr>
              <a:t>借助元素在存储器的相对位置来表示数据元素之间的逻辑关系。</a:t>
            </a:r>
          </a:p>
          <a:p>
            <a:pPr lvl="1" eaLnBrk="1" hangingPunct="1">
              <a:lnSpc>
                <a:spcPct val="80000"/>
              </a:lnSpc>
              <a:buSzPct val="50000"/>
              <a:buFont typeface="Wingdings" panose="05000000000000000000" pitchFamily="2" charset="2"/>
              <a:buChar char="l"/>
            </a:pPr>
            <a:r>
              <a:rPr lang="zh-CN" altLang="en-US" sz="2800" dirty="0">
                <a:latin typeface="华文仿宋" panose="02010600040101010101" pitchFamily="2" charset="-122"/>
                <a:ea typeface="华文仿宋" panose="02010600040101010101" pitchFamily="2" charset="-122"/>
              </a:rPr>
              <a:t>链式存储结构</a:t>
            </a:r>
            <a:r>
              <a:rPr lang="en-US" altLang="zh-CN" sz="2800" dirty="0">
                <a:latin typeface="华文仿宋" panose="02010600040101010101" pitchFamily="2" charset="-122"/>
                <a:ea typeface="华文仿宋" panose="02010600040101010101" pitchFamily="2" charset="-122"/>
              </a:rPr>
              <a:t>——</a:t>
            </a:r>
            <a:r>
              <a:rPr lang="zh-CN" altLang="en-US" sz="2800" dirty="0">
                <a:latin typeface="华文仿宋" panose="02010600040101010101" pitchFamily="2" charset="-122"/>
                <a:ea typeface="华文仿宋" panose="02010600040101010101" pitchFamily="2" charset="-122"/>
              </a:rPr>
              <a:t>借助指示元素存储地址的指针表示数据元素之间的逻辑关系。</a:t>
            </a:r>
          </a:p>
          <a:p>
            <a:pPr lvl="1" eaLnBrk="1" hangingPunct="1">
              <a:lnSpc>
                <a:spcPct val="80000"/>
              </a:lnSpc>
              <a:buSzPct val="50000"/>
              <a:buFont typeface="Wingdings" panose="05000000000000000000" pitchFamily="2" charset="2"/>
              <a:buChar char="l"/>
            </a:pPr>
            <a:r>
              <a:rPr lang="zh-CN" altLang="en-US" sz="2800" dirty="0">
                <a:latin typeface="华文仿宋" panose="02010600040101010101" pitchFamily="2" charset="-122"/>
                <a:ea typeface="华文仿宋" panose="02010600040101010101" pitchFamily="2" charset="-122"/>
              </a:rPr>
              <a:t>索引存储方法</a:t>
            </a:r>
            <a:r>
              <a:rPr lang="en-US" altLang="zh-CN" sz="2800" dirty="0">
                <a:latin typeface="华文仿宋" panose="02010600040101010101" pitchFamily="2" charset="-122"/>
                <a:ea typeface="华文仿宋" panose="02010600040101010101" pitchFamily="2" charset="-122"/>
              </a:rPr>
              <a:t>——</a:t>
            </a:r>
            <a:r>
              <a:rPr lang="zh-CN" altLang="en-US" sz="2800" dirty="0">
                <a:latin typeface="华文仿宋" panose="02010600040101010101" pitchFamily="2" charset="-122"/>
                <a:ea typeface="华文仿宋" panose="02010600040101010101" pitchFamily="2" charset="-122"/>
              </a:rPr>
              <a:t>在存储结点的同时，还建立附加的索引表，索引表</a:t>
            </a:r>
          </a:p>
          <a:p>
            <a:pPr lvl="1" eaLnBrk="1" hangingPunct="1">
              <a:lnSpc>
                <a:spcPct val="80000"/>
              </a:lnSpc>
              <a:buSzPct val="50000"/>
              <a:buFont typeface="Wingdings" panose="05000000000000000000" pitchFamily="2" charset="2"/>
              <a:buChar char="l"/>
            </a:pPr>
            <a:r>
              <a:rPr lang="zh-CN" altLang="en-US" sz="2800" dirty="0">
                <a:latin typeface="华文仿宋" panose="02010600040101010101" pitchFamily="2" charset="-122"/>
                <a:ea typeface="华文仿宋" panose="02010600040101010101" pitchFamily="2" charset="-122"/>
              </a:rPr>
              <a:t>中的每一项称为索引项，形式为：关键字，地址。</a:t>
            </a:r>
          </a:p>
          <a:p>
            <a:pPr lvl="1" eaLnBrk="1" hangingPunct="1">
              <a:lnSpc>
                <a:spcPct val="80000"/>
              </a:lnSpc>
              <a:buSzPct val="50000"/>
              <a:buFont typeface="Wingdings" panose="05000000000000000000" pitchFamily="2" charset="2"/>
              <a:buChar char="l"/>
            </a:pPr>
            <a:r>
              <a:rPr lang="zh-CN" altLang="en-US" sz="2800" dirty="0">
                <a:latin typeface="华文仿宋" panose="02010600040101010101" pitchFamily="2" charset="-122"/>
                <a:ea typeface="华文仿宋" panose="02010600040101010101" pitchFamily="2" charset="-122"/>
              </a:rPr>
              <a:t>散列存储方法</a:t>
            </a:r>
            <a:r>
              <a:rPr lang="en-US" altLang="zh-CN" sz="2800" dirty="0">
                <a:latin typeface="华文仿宋" panose="02010600040101010101" pitchFamily="2" charset="-122"/>
                <a:ea typeface="华文仿宋" panose="02010600040101010101" pitchFamily="2" charset="-122"/>
              </a:rPr>
              <a:t>——</a:t>
            </a:r>
            <a:r>
              <a:rPr lang="zh-CN" altLang="en-US" sz="2800" dirty="0">
                <a:latin typeface="华文仿宋" panose="02010600040101010101" pitchFamily="2" charset="-122"/>
                <a:ea typeface="华文仿宋" panose="02010600040101010101" pitchFamily="2" charset="-122"/>
              </a:rPr>
              <a:t>根据结点的关键字直接计算出该结点的存储地址。</a:t>
            </a:r>
          </a:p>
        </p:txBody>
      </p:sp>
    </p:spTree>
    <p:extLst>
      <p:ext uri="{BB962C8B-B14F-4D97-AF65-F5344CB8AC3E}">
        <p14:creationId xmlns:p14="http://schemas.microsoft.com/office/powerpoint/2010/main" val="795565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Rot="1" noChangeArrowheads="1"/>
          </p:cNvSpPr>
          <p:nvPr>
            <p:ph type="title"/>
          </p:nvPr>
        </p:nvSpPr>
        <p:spPr>
          <a:xfrm>
            <a:off x="1809750" y="500063"/>
            <a:ext cx="8540750" cy="671512"/>
          </a:xfrm>
        </p:spPr>
        <p:txBody>
          <a:bodyPr rtlCol="0">
            <a:normAutofit/>
          </a:bodyPr>
          <a:lstStyle/>
          <a:p>
            <a:pPr>
              <a:defRPr/>
            </a:pPr>
            <a:r>
              <a:rPr lang="en-US" altLang="zh-CN" sz="4000" b="1" dirty="0">
                <a:latin typeface="华文仿宋" panose="02010600040101010101" pitchFamily="2" charset="-122"/>
                <a:ea typeface="华文仿宋" panose="02010600040101010101" pitchFamily="2" charset="-122"/>
              </a:rPr>
              <a:t>1.2 </a:t>
            </a:r>
            <a:r>
              <a:rPr lang="zh-CN" altLang="en-US" sz="4000" b="1" dirty="0">
                <a:latin typeface="华文仿宋" panose="02010600040101010101" pitchFamily="2" charset="-122"/>
                <a:ea typeface="华文仿宋" panose="02010600040101010101" pitchFamily="2" charset="-122"/>
              </a:rPr>
              <a:t>基本概念和术语</a:t>
            </a:r>
          </a:p>
        </p:txBody>
      </p:sp>
      <p:sp>
        <p:nvSpPr>
          <p:cNvPr id="22531" name="Rectangle 3"/>
          <p:cNvSpPr>
            <a:spLocks noGrp="1" noChangeArrowheads="1"/>
          </p:cNvSpPr>
          <p:nvPr>
            <p:ph idx="1"/>
          </p:nvPr>
        </p:nvSpPr>
        <p:spPr>
          <a:xfrm>
            <a:off x="558351" y="1500188"/>
            <a:ext cx="11137930" cy="4754562"/>
          </a:xfrm>
        </p:spPr>
        <p:txBody>
          <a:bodyPr/>
          <a:lstStyle/>
          <a:p>
            <a:pPr eaLnBrk="1" hangingPunct="1">
              <a:buFontTx/>
              <a:buNone/>
            </a:pPr>
            <a:r>
              <a:rPr lang="en-US" altLang="zh-CN" dirty="0">
                <a:latin typeface="华文仿宋" panose="02010600040101010101" pitchFamily="2" charset="-122"/>
                <a:ea typeface="华文仿宋" panose="02010600040101010101" pitchFamily="2" charset="-122"/>
              </a:rPr>
              <a:t>3. </a:t>
            </a:r>
            <a:r>
              <a:rPr lang="zh-CN" altLang="en-US" dirty="0">
                <a:latin typeface="华文仿宋" panose="02010600040101010101" pitchFamily="2" charset="-122"/>
                <a:ea typeface="华文仿宋" panose="02010600040101010101" pitchFamily="2" charset="-122"/>
              </a:rPr>
              <a:t>数据结构的划分</a:t>
            </a: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3</a:t>
            </a:r>
            <a:r>
              <a:rPr lang="zh-CN" altLang="en-US" dirty="0">
                <a:latin typeface="华文仿宋" panose="02010600040101010101" pitchFamily="2" charset="-122"/>
                <a:ea typeface="华文仿宋" panose="02010600040101010101" pitchFamily="2" charset="-122"/>
              </a:rPr>
              <a:t>）按数据结构的操作来划分</a:t>
            </a:r>
          </a:p>
          <a:p>
            <a:pPr lvl="1" eaLnBrk="1" hangingPunct="1">
              <a:buFont typeface="Wingdings" panose="05000000000000000000" pitchFamily="2" charset="2"/>
              <a:buChar char="l"/>
            </a:pPr>
            <a:r>
              <a:rPr lang="zh-CN" altLang="en-US" sz="2800" b="1" dirty="0">
                <a:latin typeface="华文仿宋" panose="02010600040101010101" pitchFamily="2" charset="-122"/>
                <a:ea typeface="华文仿宋" panose="02010600040101010101" pitchFamily="2" charset="-122"/>
              </a:rPr>
              <a:t>静态结构</a:t>
            </a:r>
            <a:r>
              <a:rPr lang="en-US" altLang="zh-CN" sz="2800" dirty="0">
                <a:latin typeface="华文仿宋" panose="02010600040101010101" pitchFamily="2" charset="-122"/>
                <a:ea typeface="华文仿宋" panose="02010600040101010101" pitchFamily="2" charset="-122"/>
              </a:rPr>
              <a:t>——</a:t>
            </a:r>
            <a:r>
              <a:rPr lang="zh-CN" altLang="en-US" sz="2800" dirty="0">
                <a:latin typeface="华文仿宋" panose="02010600040101010101" pitchFamily="2" charset="-122"/>
                <a:ea typeface="华文仿宋" panose="02010600040101010101" pitchFamily="2" charset="-122"/>
              </a:rPr>
              <a:t>经过操作后，数据的结构特征保持不变（如数组）。</a:t>
            </a:r>
          </a:p>
          <a:p>
            <a:pPr lvl="1" eaLnBrk="1" hangingPunct="1">
              <a:buFont typeface="Wingdings" panose="05000000000000000000" pitchFamily="2" charset="2"/>
              <a:buChar char="l"/>
            </a:pPr>
            <a:r>
              <a:rPr lang="zh-CN" altLang="en-US" sz="2800" b="1" dirty="0">
                <a:latin typeface="华文仿宋" panose="02010600040101010101" pitchFamily="2" charset="-122"/>
                <a:ea typeface="华文仿宋" panose="02010600040101010101" pitchFamily="2" charset="-122"/>
              </a:rPr>
              <a:t>半静态结构</a:t>
            </a:r>
            <a:r>
              <a:rPr lang="en-US" altLang="zh-CN" sz="2800" dirty="0">
                <a:latin typeface="华文仿宋" panose="02010600040101010101" pitchFamily="2" charset="-122"/>
                <a:ea typeface="华文仿宋" panose="02010600040101010101" pitchFamily="2" charset="-122"/>
              </a:rPr>
              <a:t>——</a:t>
            </a:r>
            <a:r>
              <a:rPr lang="zh-CN" altLang="en-US" sz="2800" dirty="0">
                <a:latin typeface="华文仿宋" panose="02010600040101010101" pitchFamily="2" charset="-122"/>
                <a:ea typeface="华文仿宋" panose="02010600040101010101" pitchFamily="2" charset="-122"/>
              </a:rPr>
              <a:t>经过操作后，数据的结构特性只允许很小变迁（如栈、队列）。</a:t>
            </a:r>
          </a:p>
          <a:p>
            <a:pPr lvl="1" eaLnBrk="1" hangingPunct="1">
              <a:buFont typeface="Wingdings" panose="05000000000000000000" pitchFamily="2" charset="2"/>
              <a:buChar char="l"/>
            </a:pPr>
            <a:r>
              <a:rPr lang="zh-CN" altLang="en-US" sz="2800" b="1" dirty="0">
                <a:latin typeface="华文仿宋" panose="02010600040101010101" pitchFamily="2" charset="-122"/>
                <a:ea typeface="华文仿宋" panose="02010600040101010101" pitchFamily="2" charset="-122"/>
              </a:rPr>
              <a:t>动态结构</a:t>
            </a:r>
            <a:r>
              <a:rPr lang="en-US" altLang="zh-CN" sz="2800" dirty="0">
                <a:latin typeface="华文仿宋" panose="02010600040101010101" pitchFamily="2" charset="-122"/>
                <a:ea typeface="华文仿宋" panose="02010600040101010101" pitchFamily="2" charset="-122"/>
              </a:rPr>
              <a:t>——</a:t>
            </a:r>
            <a:r>
              <a:rPr lang="zh-CN" altLang="en-US" sz="2800" dirty="0">
                <a:latin typeface="华文仿宋" panose="02010600040101010101" pitchFamily="2" charset="-122"/>
                <a:ea typeface="华文仿宋" panose="02010600040101010101" pitchFamily="2" charset="-122"/>
              </a:rPr>
              <a:t>经过操作后，数据的结构特性变化比较灵活，可随机地重新组织结构（如指针）。</a:t>
            </a:r>
          </a:p>
          <a:p>
            <a:pPr eaLnBrk="1" hangingPunct="1">
              <a:buFontTx/>
              <a:buNone/>
            </a:pPr>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431132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65444" y="274690"/>
            <a:ext cx="10515600" cy="1325563"/>
          </a:xfrm>
        </p:spPr>
        <p:txBody>
          <a:bodyPr/>
          <a:lstStyle/>
          <a:p>
            <a:pPr eaLnBrk="1" hangingPunct="1"/>
            <a:r>
              <a:rPr lang="en-US" altLang="zh-CN" b="1" dirty="0">
                <a:latin typeface="华文仿宋" panose="02010600040101010101" pitchFamily="2" charset="-122"/>
                <a:ea typeface="华文仿宋" panose="02010600040101010101" pitchFamily="2" charset="-122"/>
              </a:rPr>
              <a:t>1.3 </a:t>
            </a:r>
            <a:r>
              <a:rPr lang="zh-CN" altLang="en-US" b="1" dirty="0">
                <a:latin typeface="华文仿宋" panose="02010600040101010101" pitchFamily="2" charset="-122"/>
                <a:ea typeface="华文仿宋" panose="02010600040101010101" pitchFamily="2" charset="-122"/>
              </a:rPr>
              <a:t>抽象数据类型</a:t>
            </a:r>
            <a:r>
              <a:rPr lang="en-US" altLang="zh-CN" b="1" dirty="0">
                <a:latin typeface="华文仿宋" panose="02010600040101010101" pitchFamily="2" charset="-122"/>
                <a:ea typeface="华文仿宋" panose="02010600040101010101" pitchFamily="2" charset="-122"/>
              </a:rPr>
              <a:t>——ADT</a:t>
            </a:r>
          </a:p>
        </p:txBody>
      </p:sp>
      <p:sp>
        <p:nvSpPr>
          <p:cNvPr id="23555" name="Rectangle 3"/>
          <p:cNvSpPr>
            <a:spLocks noGrp="1" noChangeArrowheads="1"/>
          </p:cNvSpPr>
          <p:nvPr>
            <p:ph idx="1"/>
          </p:nvPr>
        </p:nvSpPr>
        <p:spPr>
          <a:xfrm>
            <a:off x="368861" y="1947005"/>
            <a:ext cx="10515600" cy="4351338"/>
          </a:xfrm>
        </p:spPr>
        <p:txBody>
          <a:bodyPr/>
          <a:lstStyle/>
          <a:p>
            <a:pPr eaLnBrk="1" hangingPunct="1">
              <a:lnSpc>
                <a:spcPct val="90000"/>
              </a:lnSpc>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定义：是指基于一个逻辑类型的数据模型以及定义在该模型上的一组操作。每一个操作由它的输入和输出定义。</a:t>
            </a:r>
          </a:p>
          <a:p>
            <a:pPr eaLnBrk="1" hangingPunct="1">
              <a:lnSpc>
                <a:spcPct val="90000"/>
              </a:lnSpc>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形式：三元组</a:t>
            </a:r>
            <a:r>
              <a:rPr lang="en-US" altLang="zh-CN" dirty="0">
                <a:latin typeface="华文仿宋" panose="02010600040101010101" pitchFamily="2" charset="-122"/>
                <a:ea typeface="华文仿宋" panose="02010600040101010101" pitchFamily="2" charset="-122"/>
              </a:rPr>
              <a:t>(D,S,P) S</a:t>
            </a:r>
            <a:r>
              <a:rPr lang="zh-CN" altLang="en-US" dirty="0">
                <a:latin typeface="华文仿宋" panose="02010600040101010101" pitchFamily="2" charset="-122"/>
                <a:ea typeface="华文仿宋" panose="02010600040101010101" pitchFamily="2" charset="-122"/>
              </a:rPr>
              <a:t>是</a:t>
            </a:r>
            <a:r>
              <a:rPr lang="en-US" altLang="zh-CN" dirty="0">
                <a:latin typeface="华文仿宋" panose="02010600040101010101" pitchFamily="2" charset="-122"/>
                <a:ea typeface="华文仿宋" panose="02010600040101010101" pitchFamily="2" charset="-122"/>
              </a:rPr>
              <a:t>D</a:t>
            </a:r>
            <a:r>
              <a:rPr lang="zh-CN" altLang="en-US" dirty="0">
                <a:latin typeface="华文仿宋" panose="02010600040101010101" pitchFamily="2" charset="-122"/>
                <a:ea typeface="华文仿宋" panose="02010600040101010101" pitchFamily="2" charset="-122"/>
              </a:rPr>
              <a:t>上的关系集，</a:t>
            </a:r>
            <a:r>
              <a:rPr lang="en-US" altLang="zh-CN" dirty="0">
                <a:latin typeface="华文仿宋" panose="02010600040101010101" pitchFamily="2" charset="-122"/>
                <a:ea typeface="华文仿宋" panose="02010600040101010101" pitchFamily="2" charset="-122"/>
              </a:rPr>
              <a:t>P</a:t>
            </a:r>
            <a:r>
              <a:rPr lang="zh-CN" altLang="en-US" dirty="0">
                <a:latin typeface="华文仿宋" panose="02010600040101010101" pitchFamily="2" charset="-122"/>
                <a:ea typeface="华文仿宋" panose="02010600040101010101" pitchFamily="2" charset="-122"/>
              </a:rPr>
              <a:t>是对</a:t>
            </a:r>
            <a:r>
              <a:rPr lang="en-US" altLang="zh-CN" dirty="0">
                <a:latin typeface="华文仿宋" panose="02010600040101010101" pitchFamily="2" charset="-122"/>
                <a:ea typeface="华文仿宋" panose="02010600040101010101" pitchFamily="2" charset="-122"/>
              </a:rPr>
              <a:t>D</a:t>
            </a:r>
            <a:r>
              <a:rPr lang="zh-CN" altLang="en-US" dirty="0">
                <a:latin typeface="华文仿宋" panose="02010600040101010101" pitchFamily="2" charset="-122"/>
                <a:ea typeface="华文仿宋" panose="02010600040101010101" pitchFamily="2" charset="-122"/>
              </a:rPr>
              <a:t>的基本操作集</a:t>
            </a:r>
          </a:p>
          <a:p>
            <a:pPr eaLnBrk="1" hangingPunct="1">
              <a:lnSpc>
                <a:spcPct val="90000"/>
              </a:lnSpc>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说明：一个</a:t>
            </a:r>
            <a:r>
              <a:rPr lang="en-US" altLang="zh-CN" dirty="0">
                <a:latin typeface="华文仿宋" panose="02010600040101010101" pitchFamily="2" charset="-122"/>
                <a:ea typeface="华文仿宋" panose="02010600040101010101" pitchFamily="2" charset="-122"/>
              </a:rPr>
              <a:t>ADT</a:t>
            </a:r>
            <a:r>
              <a:rPr lang="zh-CN" altLang="en-US" dirty="0">
                <a:latin typeface="华文仿宋" panose="02010600040101010101" pitchFamily="2" charset="-122"/>
                <a:ea typeface="华文仿宋" panose="02010600040101010101" pitchFamily="2" charset="-122"/>
              </a:rPr>
              <a:t>的定义并不涉及它的实现细节。这些实现细节对于</a:t>
            </a:r>
            <a:r>
              <a:rPr lang="en-US" altLang="zh-CN" dirty="0">
                <a:latin typeface="华文仿宋" panose="02010600040101010101" pitchFamily="2" charset="-122"/>
                <a:ea typeface="华文仿宋" panose="02010600040101010101" pitchFamily="2" charset="-122"/>
              </a:rPr>
              <a:t>ADT</a:t>
            </a:r>
            <a:r>
              <a:rPr lang="zh-CN" altLang="en-US" dirty="0">
                <a:latin typeface="华文仿宋" panose="02010600040101010101" pitchFamily="2" charset="-122"/>
                <a:ea typeface="华文仿宋" panose="02010600040101010101" pitchFamily="2" charset="-122"/>
              </a:rPr>
              <a:t>的用户是隐藏的。隐藏实现细节的过程称为封装。数据结构是</a:t>
            </a:r>
            <a:r>
              <a:rPr lang="en-US" altLang="zh-CN" dirty="0">
                <a:latin typeface="华文仿宋" panose="02010600040101010101" pitchFamily="2" charset="-122"/>
                <a:ea typeface="华文仿宋" panose="02010600040101010101" pitchFamily="2" charset="-122"/>
              </a:rPr>
              <a:t>ADT</a:t>
            </a:r>
            <a:r>
              <a:rPr lang="zh-CN" altLang="en-US" dirty="0">
                <a:latin typeface="华文仿宋" panose="02010600040101010101" pitchFamily="2" charset="-122"/>
                <a:ea typeface="华文仿宋" panose="02010600040101010101" pitchFamily="2" charset="-122"/>
              </a:rPr>
              <a:t>的物理实现。</a:t>
            </a:r>
            <a:r>
              <a:rPr lang="en-US" altLang="zh-CN" dirty="0">
                <a:latin typeface="华文仿宋" panose="02010600040101010101" pitchFamily="2" charset="-122"/>
                <a:ea typeface="华文仿宋" panose="02010600040101010101" pitchFamily="2" charset="-122"/>
              </a:rPr>
              <a:t>ADT</a:t>
            </a:r>
            <a:r>
              <a:rPr lang="zh-CN" altLang="en-US" dirty="0">
                <a:latin typeface="华文仿宋" panose="02010600040101010101" pitchFamily="2" charset="-122"/>
                <a:ea typeface="华文仿宋" panose="02010600040101010101" pitchFamily="2" charset="-122"/>
              </a:rPr>
              <a:t>的每一个操作均由一个或多个子程序来实现。</a:t>
            </a:r>
          </a:p>
        </p:txBody>
      </p:sp>
    </p:spTree>
    <p:extLst>
      <p:ext uri="{BB962C8B-B14F-4D97-AF65-F5344CB8AC3E}">
        <p14:creationId xmlns:p14="http://schemas.microsoft.com/office/powerpoint/2010/main" val="1316826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b="1" dirty="0">
                <a:latin typeface="华文仿宋" panose="02010600040101010101" pitchFamily="2" charset="-122"/>
                <a:ea typeface="华文仿宋" panose="02010600040101010101" pitchFamily="2" charset="-122"/>
              </a:rPr>
              <a:t>1.3 </a:t>
            </a:r>
            <a:r>
              <a:rPr lang="zh-CN" altLang="en-US" b="1" dirty="0">
                <a:latin typeface="华文仿宋" panose="02010600040101010101" pitchFamily="2" charset="-122"/>
                <a:ea typeface="华文仿宋" panose="02010600040101010101" pitchFamily="2" charset="-122"/>
              </a:rPr>
              <a:t>抽象数据类型</a:t>
            </a:r>
            <a:r>
              <a:rPr lang="en-US" altLang="zh-CN" b="1" dirty="0">
                <a:latin typeface="华文仿宋" panose="02010600040101010101" pitchFamily="2" charset="-122"/>
                <a:ea typeface="华文仿宋" panose="02010600040101010101" pitchFamily="2" charset="-122"/>
              </a:rPr>
              <a:t>——ADT</a:t>
            </a:r>
          </a:p>
        </p:txBody>
      </p:sp>
      <p:sp>
        <p:nvSpPr>
          <p:cNvPr id="24579" name="Rectangle 3"/>
          <p:cNvSpPr>
            <a:spLocks noGrp="1" noChangeArrowheads="1"/>
          </p:cNvSpPr>
          <p:nvPr>
            <p:ph idx="1"/>
          </p:nvPr>
        </p:nvSpPr>
        <p:spPr>
          <a:xfrm>
            <a:off x="485522" y="1825625"/>
            <a:ext cx="10868278" cy="4351338"/>
          </a:xfrm>
        </p:spPr>
        <p:txBody>
          <a:bodyPr/>
          <a:lstStyle/>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抽象数据类型和数据类型实质上是一个概念。数据类型是一个值的集合和定义在这个值集上的一组操作的总称。分为原子类型和结构类型</a:t>
            </a:r>
          </a:p>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数据抽象与过程抽象</a:t>
            </a:r>
            <a:r>
              <a:rPr lang="en-US" altLang="zh-CN" b="1" dirty="0">
                <a:latin typeface="华文仿宋" panose="02010600040101010101" pitchFamily="2" charset="-122"/>
                <a:ea typeface="华文仿宋" panose="02010600040101010101" pitchFamily="2" charset="-122"/>
              </a:rPr>
              <a:t>, </a:t>
            </a:r>
            <a:r>
              <a:rPr lang="zh-CN" altLang="en-US" dirty="0">
                <a:latin typeface="华文仿宋" panose="02010600040101010101" pitchFamily="2" charset="-122"/>
                <a:ea typeface="华文仿宋" panose="02010600040101010101" pitchFamily="2" charset="-122"/>
              </a:rPr>
              <a:t>实现信息隐蔽和局部化以一个严格定义的过程接口的方式</a:t>
            </a:r>
            <a:r>
              <a:rPr lang="en-US" altLang="zh-CN" b="1" dirty="0">
                <a:latin typeface="华文仿宋" panose="02010600040101010101" pitchFamily="2" charset="-122"/>
                <a:ea typeface="华文仿宋" panose="02010600040101010101" pitchFamily="2" charset="-122"/>
              </a:rPr>
              <a:t>, </a:t>
            </a:r>
            <a:r>
              <a:rPr lang="zh-CN" altLang="en-US" dirty="0">
                <a:latin typeface="华文仿宋" panose="02010600040101010101" pitchFamily="2" charset="-122"/>
                <a:ea typeface="华文仿宋" panose="02010600040101010101" pitchFamily="2" charset="-122"/>
              </a:rPr>
              <a:t>在数据结构上提供一个抽象。数据的实现和处理细节被隐蔽了</a:t>
            </a:r>
            <a:endParaRPr lang="zh-CN" altLang="en-US" b="1" dirty="0">
              <a:latin typeface="华文仿宋" panose="02010600040101010101" pitchFamily="2" charset="-122"/>
              <a:ea typeface="华文仿宋" panose="02010600040101010101" pitchFamily="2" charset="-122"/>
            </a:endParaRPr>
          </a:p>
          <a:p>
            <a:pPr eaLnBrk="1" hangingPunct="1">
              <a:buFontTx/>
              <a:buNone/>
            </a:pPr>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247333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b="1" dirty="0">
                <a:latin typeface="华文仿宋" panose="02010600040101010101" pitchFamily="2" charset="-122"/>
                <a:ea typeface="华文仿宋" panose="02010600040101010101" pitchFamily="2" charset="-122"/>
              </a:rPr>
              <a:t>1.4 </a:t>
            </a:r>
            <a:r>
              <a:rPr lang="zh-CN" altLang="en-US" b="1" dirty="0">
                <a:latin typeface="华文仿宋" panose="02010600040101010101" pitchFamily="2" charset="-122"/>
                <a:ea typeface="华文仿宋" panose="02010600040101010101" pitchFamily="2" charset="-122"/>
              </a:rPr>
              <a:t>算法和算法分析</a:t>
            </a:r>
          </a:p>
        </p:txBody>
      </p:sp>
      <p:sp>
        <p:nvSpPr>
          <p:cNvPr id="25603" name="Rectangle 3"/>
          <p:cNvSpPr>
            <a:spLocks noGrp="1" noChangeArrowheads="1"/>
          </p:cNvSpPr>
          <p:nvPr>
            <p:ph idx="1"/>
          </p:nvPr>
        </p:nvSpPr>
        <p:spPr/>
        <p:txBody>
          <a:bodyPr/>
          <a:lstStyle/>
          <a:p>
            <a:pPr eaLnBrk="1" hangingPunct="1">
              <a:buFont typeface="Wingdings" panose="05000000000000000000" pitchFamily="2" charset="2"/>
              <a:buChar char="l"/>
            </a:pPr>
            <a:r>
              <a:rPr lang="en-US" altLang="zh-CN" dirty="0">
                <a:latin typeface="华文仿宋" panose="02010600040101010101" pitchFamily="2" charset="-122"/>
                <a:ea typeface="华文仿宋" panose="02010600040101010101" pitchFamily="2" charset="-122"/>
              </a:rPr>
              <a:t>1.  </a:t>
            </a:r>
            <a:r>
              <a:rPr lang="zh-CN" altLang="en-US" dirty="0">
                <a:latin typeface="华文仿宋" panose="02010600040101010101" pitchFamily="2" charset="-122"/>
                <a:ea typeface="华文仿宋" panose="02010600040101010101" pitchFamily="2" charset="-122"/>
              </a:rPr>
              <a:t>算法的定义  </a:t>
            </a:r>
            <a:r>
              <a:rPr lang="en-US" altLang="zh-CN" dirty="0">
                <a:latin typeface="华文仿宋" panose="02010600040101010101" pitchFamily="2" charset="-122"/>
                <a:ea typeface="华文仿宋" panose="02010600040101010101" pitchFamily="2" charset="-122"/>
              </a:rPr>
              <a:t>p13</a:t>
            </a:r>
          </a:p>
          <a:p>
            <a:pPr eaLnBrk="1" hangingPunct="1">
              <a:buFontTx/>
              <a:buNone/>
            </a:pPr>
            <a:r>
              <a:rPr lang="en-US" altLang="zh-CN" dirty="0">
                <a:latin typeface="华文仿宋" panose="02010600040101010101" pitchFamily="2" charset="-122"/>
                <a:ea typeface="华文仿宋" panose="02010600040101010101" pitchFamily="2" charset="-122"/>
              </a:rPr>
              <a:t>       </a:t>
            </a:r>
            <a:r>
              <a:rPr lang="zh-CN" altLang="en-US" dirty="0">
                <a:latin typeface="华文仿宋" panose="02010600040101010101" pitchFamily="2" charset="-122"/>
                <a:ea typeface="华文仿宋" panose="02010600040101010101" pitchFamily="2" charset="-122"/>
              </a:rPr>
              <a:t>指一系列确定的而且是在有限步骤内能完成的操作。</a:t>
            </a:r>
          </a:p>
        </p:txBody>
      </p:sp>
    </p:spTree>
    <p:extLst>
      <p:ext uri="{BB962C8B-B14F-4D97-AF65-F5344CB8AC3E}">
        <p14:creationId xmlns:p14="http://schemas.microsoft.com/office/powerpoint/2010/main" val="636439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44026" y="87313"/>
            <a:ext cx="10515600" cy="1325563"/>
          </a:xfrm>
        </p:spPr>
        <p:txBody>
          <a:bodyPr/>
          <a:lstStyle/>
          <a:p>
            <a:pPr eaLnBrk="1" hangingPunct="1"/>
            <a:r>
              <a:rPr lang="en-US" altLang="zh-CN" b="1" dirty="0">
                <a:latin typeface="华文仿宋" panose="02010600040101010101" pitchFamily="2" charset="-122"/>
                <a:ea typeface="华文仿宋" panose="02010600040101010101" pitchFamily="2" charset="-122"/>
              </a:rPr>
              <a:t>1.4 </a:t>
            </a:r>
            <a:r>
              <a:rPr lang="zh-CN" altLang="en-US" b="1" dirty="0">
                <a:latin typeface="华文仿宋" panose="02010600040101010101" pitchFamily="2" charset="-122"/>
                <a:ea typeface="华文仿宋" panose="02010600040101010101" pitchFamily="2" charset="-122"/>
              </a:rPr>
              <a:t>算法和算法分析</a:t>
            </a:r>
          </a:p>
        </p:txBody>
      </p:sp>
      <p:sp>
        <p:nvSpPr>
          <p:cNvPr id="23555" name="Rectangle 3"/>
          <p:cNvSpPr>
            <a:spLocks noGrp="1" noChangeArrowheads="1"/>
          </p:cNvSpPr>
          <p:nvPr>
            <p:ph idx="1"/>
          </p:nvPr>
        </p:nvSpPr>
        <p:spPr>
          <a:xfrm>
            <a:off x="614996" y="1412876"/>
            <a:ext cx="11432978" cy="4153911"/>
          </a:xfrm>
        </p:spPr>
        <p:txBody>
          <a:bodyPr/>
          <a:lstStyle/>
          <a:p>
            <a:pPr eaLnBrk="1" hangingPunct="1">
              <a:lnSpc>
                <a:spcPct val="90000"/>
              </a:lnSpc>
              <a:buFontTx/>
              <a:buNone/>
            </a:pPr>
            <a:r>
              <a:rPr lang="en-US" altLang="zh-CN" sz="2400" b="1" dirty="0">
                <a:latin typeface="华文仿宋" panose="02010600040101010101" pitchFamily="2" charset="-122"/>
                <a:ea typeface="华文仿宋" panose="02010600040101010101" pitchFamily="2" charset="-122"/>
              </a:rPr>
              <a:t>2. </a:t>
            </a:r>
            <a:r>
              <a:rPr lang="zh-CN" altLang="en-US" sz="2400" b="1" dirty="0">
                <a:latin typeface="华文仿宋" panose="02010600040101010101" pitchFamily="2" charset="-122"/>
                <a:ea typeface="华文仿宋" panose="02010600040101010101" pitchFamily="2" charset="-122"/>
              </a:rPr>
              <a:t>算法的特性</a:t>
            </a:r>
          </a:p>
          <a:p>
            <a:pPr eaLnBrk="1" hangingPunct="1">
              <a:lnSpc>
                <a:spcPct val="90000"/>
              </a:lnSpc>
              <a:buFontTx/>
              <a:buNone/>
            </a:pPr>
            <a:r>
              <a:rPr lang="en-US" altLang="zh-CN" sz="2400" b="1" dirty="0">
                <a:latin typeface="华文仿宋" panose="02010600040101010101" pitchFamily="2" charset="-122"/>
                <a:ea typeface="华文仿宋" panose="02010600040101010101" pitchFamily="2" charset="-122"/>
              </a:rPr>
              <a:t>(1) </a:t>
            </a:r>
            <a:r>
              <a:rPr lang="zh-CN" altLang="en-US" sz="2400" b="1" dirty="0">
                <a:latin typeface="华文仿宋" panose="02010600040101010101" pitchFamily="2" charset="-122"/>
                <a:ea typeface="华文仿宋" panose="02010600040101010101" pitchFamily="2" charset="-122"/>
              </a:rPr>
              <a:t>有穷性 （能执行结束）</a:t>
            </a:r>
          </a:p>
          <a:p>
            <a:pPr eaLnBrk="1" hangingPunct="1">
              <a:lnSpc>
                <a:spcPct val="90000"/>
              </a:lnSpc>
              <a:buFontTx/>
              <a:buNone/>
            </a:pPr>
            <a:r>
              <a:rPr lang="en-US" altLang="zh-CN" sz="2400" b="1" dirty="0">
                <a:latin typeface="华文仿宋" panose="02010600040101010101" pitchFamily="2" charset="-122"/>
                <a:ea typeface="华文仿宋" panose="02010600040101010101" pitchFamily="2" charset="-122"/>
              </a:rPr>
              <a:t>(2) </a:t>
            </a:r>
            <a:r>
              <a:rPr lang="zh-CN" altLang="en-US" sz="2400" b="1" dirty="0">
                <a:latin typeface="华文仿宋" panose="02010600040101010101" pitchFamily="2" charset="-122"/>
                <a:ea typeface="华文仿宋" panose="02010600040101010101" pitchFamily="2" charset="-122"/>
              </a:rPr>
              <a:t>确定性 （对于相同的输入执行相同的路径）</a:t>
            </a:r>
          </a:p>
          <a:p>
            <a:pPr eaLnBrk="1" hangingPunct="1">
              <a:lnSpc>
                <a:spcPct val="90000"/>
              </a:lnSpc>
              <a:buFontTx/>
              <a:buNone/>
            </a:pPr>
            <a:r>
              <a:rPr lang="en-US" altLang="zh-CN" sz="2400" b="1" dirty="0">
                <a:latin typeface="华文仿宋" panose="02010600040101010101" pitchFamily="2" charset="-122"/>
                <a:ea typeface="华文仿宋" panose="02010600040101010101" pitchFamily="2" charset="-122"/>
              </a:rPr>
              <a:t>(3) 0</a:t>
            </a:r>
            <a:r>
              <a:rPr lang="zh-CN" altLang="en-US" sz="2400" b="1" dirty="0">
                <a:latin typeface="华文仿宋" panose="02010600040101010101" pitchFamily="2" charset="-122"/>
                <a:ea typeface="华文仿宋" panose="02010600040101010101" pitchFamily="2" charset="-122"/>
              </a:rPr>
              <a:t>至多个输入</a:t>
            </a:r>
          </a:p>
          <a:p>
            <a:pPr eaLnBrk="1" hangingPunct="1">
              <a:lnSpc>
                <a:spcPct val="90000"/>
              </a:lnSpc>
              <a:buFontTx/>
              <a:buNone/>
            </a:pPr>
            <a:r>
              <a:rPr lang="en-US" altLang="zh-CN" sz="2400" b="1" dirty="0">
                <a:latin typeface="华文仿宋" panose="02010600040101010101" pitchFamily="2" charset="-122"/>
                <a:ea typeface="华文仿宋" panose="02010600040101010101" pitchFamily="2" charset="-122"/>
              </a:rPr>
              <a:t>(4) 1</a:t>
            </a:r>
            <a:r>
              <a:rPr lang="zh-CN" altLang="en-US" sz="2400" b="1" dirty="0">
                <a:latin typeface="华文仿宋" panose="02010600040101010101" pitchFamily="2" charset="-122"/>
                <a:ea typeface="华文仿宋" panose="02010600040101010101" pitchFamily="2" charset="-122"/>
              </a:rPr>
              <a:t>至多个输出</a:t>
            </a:r>
          </a:p>
          <a:p>
            <a:pPr eaLnBrk="1" hangingPunct="1">
              <a:lnSpc>
                <a:spcPct val="90000"/>
              </a:lnSpc>
              <a:buFontTx/>
              <a:buNone/>
            </a:pPr>
            <a:r>
              <a:rPr lang="en-US" altLang="zh-CN" sz="2400" b="1" dirty="0">
                <a:latin typeface="华文仿宋" panose="02010600040101010101" pitchFamily="2" charset="-122"/>
                <a:ea typeface="华文仿宋" panose="02010600040101010101" pitchFamily="2" charset="-122"/>
              </a:rPr>
              <a:t>(5) </a:t>
            </a:r>
            <a:r>
              <a:rPr lang="zh-CN" altLang="en-US" sz="2400" b="1" dirty="0">
                <a:latin typeface="华文仿宋" panose="02010600040101010101" pitchFamily="2" charset="-122"/>
                <a:ea typeface="华文仿宋" panose="02010600040101010101" pitchFamily="2" charset="-122"/>
              </a:rPr>
              <a:t>有效性</a:t>
            </a:r>
            <a:r>
              <a:rPr lang="en-US" altLang="zh-CN" sz="2400" b="1" dirty="0">
                <a:latin typeface="华文仿宋" panose="02010600040101010101" pitchFamily="2" charset="-122"/>
                <a:ea typeface="华文仿宋" panose="02010600040101010101" pitchFamily="2" charset="-122"/>
              </a:rPr>
              <a:t>(</a:t>
            </a:r>
            <a:r>
              <a:rPr lang="zh-CN" altLang="en-US" sz="2400" b="1" dirty="0">
                <a:latin typeface="华文仿宋" panose="02010600040101010101" pitchFamily="2" charset="-122"/>
                <a:ea typeface="华文仿宋" panose="02010600040101010101" pitchFamily="2" charset="-122"/>
              </a:rPr>
              <a:t>可行性</a:t>
            </a:r>
            <a:r>
              <a:rPr lang="en-US" altLang="zh-CN" sz="2400" b="1" dirty="0">
                <a:latin typeface="华文仿宋" panose="02010600040101010101" pitchFamily="2" charset="-122"/>
                <a:ea typeface="华文仿宋" panose="02010600040101010101" pitchFamily="2" charset="-122"/>
              </a:rPr>
              <a:t>)</a:t>
            </a:r>
          </a:p>
          <a:p>
            <a:pPr eaLnBrk="1" hangingPunct="1">
              <a:lnSpc>
                <a:spcPct val="90000"/>
              </a:lnSpc>
              <a:buFontTx/>
              <a:buNone/>
            </a:pPr>
            <a:r>
              <a:rPr lang="en-US" altLang="zh-CN" sz="2400" b="1" dirty="0">
                <a:latin typeface="华文仿宋" panose="02010600040101010101" pitchFamily="2" charset="-122"/>
                <a:ea typeface="华文仿宋" panose="02010600040101010101" pitchFamily="2" charset="-122"/>
              </a:rPr>
              <a:t>     ——</a:t>
            </a:r>
            <a:r>
              <a:rPr lang="zh-CN" altLang="en-US" sz="2400" b="1" dirty="0">
                <a:latin typeface="华文仿宋" panose="02010600040101010101" pitchFamily="2" charset="-122"/>
                <a:ea typeface="华文仿宋" panose="02010600040101010101" pitchFamily="2" charset="-122"/>
              </a:rPr>
              <a:t>用于描述算法的操作都是足够基本的</a:t>
            </a:r>
          </a:p>
          <a:p>
            <a:pPr eaLnBrk="1" hangingPunct="1">
              <a:lnSpc>
                <a:spcPct val="90000"/>
              </a:lnSpc>
              <a:buFontTx/>
              <a:buNone/>
            </a:pPr>
            <a:endParaRPr lang="zh-CN" altLang="en-US" sz="2400" b="1" dirty="0">
              <a:latin typeface="华文仿宋" panose="02010600040101010101" pitchFamily="2" charset="-122"/>
              <a:ea typeface="华文仿宋" panose="02010600040101010101" pitchFamily="2" charset="-122"/>
            </a:endParaRPr>
          </a:p>
          <a:p>
            <a:pPr eaLnBrk="1" hangingPunct="1">
              <a:lnSpc>
                <a:spcPct val="90000"/>
              </a:lnSpc>
              <a:buFont typeface="Wingdings" panose="05000000000000000000" pitchFamily="2" charset="2"/>
              <a:buChar char="l"/>
            </a:pPr>
            <a:r>
              <a:rPr lang="zh-CN" altLang="en-US" sz="2400" b="1" dirty="0">
                <a:latin typeface="华文仿宋" panose="02010600040101010101" pitchFamily="2" charset="-122"/>
                <a:ea typeface="华文仿宋" panose="02010600040101010101" pitchFamily="2" charset="-122"/>
              </a:rPr>
              <a:t>问题：</a:t>
            </a:r>
            <a:r>
              <a:rPr lang="zh-CN" altLang="en-US" sz="2400" b="1" dirty="0">
                <a:solidFill>
                  <a:srgbClr val="FF0000"/>
                </a:solidFill>
                <a:latin typeface="华文仿宋" panose="02010600040101010101" pitchFamily="2" charset="-122"/>
                <a:ea typeface="华文仿宋" panose="02010600040101010101" pitchFamily="2" charset="-122"/>
              </a:rPr>
              <a:t>程序是不是算法？</a:t>
            </a:r>
          </a:p>
        </p:txBody>
      </p:sp>
      <p:sp>
        <p:nvSpPr>
          <p:cNvPr id="5" name="文本框 4">
            <a:extLst>
              <a:ext uri="{FF2B5EF4-FFF2-40B4-BE49-F238E27FC236}">
                <a16:creationId xmlns:a16="http://schemas.microsoft.com/office/drawing/2014/main" id="{5459A76B-0D1A-49CC-EFD5-D0C359EC21F1}"/>
              </a:ext>
            </a:extLst>
          </p:cNvPr>
          <p:cNvSpPr txBox="1"/>
          <p:nvPr/>
        </p:nvSpPr>
        <p:spPr>
          <a:xfrm>
            <a:off x="614996" y="5570358"/>
            <a:ext cx="11191817" cy="830997"/>
          </a:xfrm>
          <a:prstGeom prst="rect">
            <a:avLst/>
          </a:prstGeom>
          <a:noFill/>
        </p:spPr>
        <p:txBody>
          <a:bodyPr wrap="square">
            <a:spAutoFit/>
          </a:bodyPr>
          <a:lstStyle/>
          <a:p>
            <a:r>
              <a:rPr lang="zh-CN" altLang="en-US" sz="2400" dirty="0">
                <a:latin typeface="仿宋" panose="02010609060101010101" pitchFamily="49" charset="-122"/>
                <a:ea typeface="仿宋" panose="02010609060101010101" pitchFamily="49" charset="-122"/>
              </a:rPr>
              <a:t> 如操作系统，只要系统不遭破坏，它就永远不会停止，即使没有作业要处理，仍处于一个等待循环中，等待新作业的进入。因此操作系统程序不是一个算法</a:t>
            </a:r>
            <a:r>
              <a:rPr lang="zh-CN" altLang="en-US" dirty="0">
                <a:latin typeface="仿宋" panose="02010609060101010101" pitchFamily="49" charset="-122"/>
                <a:ea typeface="仿宋" panose="02010609060101010101" pitchFamily="49" charset="-122"/>
              </a:rPr>
              <a:t>。</a:t>
            </a:r>
          </a:p>
        </p:txBody>
      </p:sp>
    </p:spTree>
    <p:extLst>
      <p:ext uri="{BB962C8B-B14F-4D97-AF65-F5344CB8AC3E}">
        <p14:creationId xmlns:p14="http://schemas.microsoft.com/office/powerpoint/2010/main" val="4205129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fade">
                                      <p:cBhvr>
                                        <p:cTn id="7" dur="2000"/>
                                        <p:tgtEl>
                                          <p:spTgt spid="235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555"/>
                                        </p:tgtEl>
                                        <p:attrNameLst>
                                          <p:attrName>style.visibility</p:attrName>
                                        </p:attrNameLst>
                                      </p:cBhvr>
                                      <p:to>
                                        <p:strVal val="visible"/>
                                      </p:to>
                                    </p:set>
                                    <p:animEffect transition="in" filter="fade">
                                      <p:cBhvr>
                                        <p:cTn id="10" dur="2000"/>
                                        <p:tgtEl>
                                          <p:spTgt spid="2355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nimBg="1"/>
      <p:bldP spid="23555"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b="1" dirty="0">
                <a:latin typeface="华文仿宋" panose="02010600040101010101" pitchFamily="2" charset="-122"/>
                <a:ea typeface="华文仿宋" panose="02010600040101010101" pitchFamily="2" charset="-122"/>
              </a:rPr>
              <a:t>1.4 </a:t>
            </a:r>
            <a:r>
              <a:rPr lang="zh-CN" altLang="en-US" b="1" dirty="0">
                <a:latin typeface="华文仿宋" panose="02010600040101010101" pitchFamily="2" charset="-122"/>
                <a:ea typeface="华文仿宋" panose="02010600040101010101" pitchFamily="2" charset="-122"/>
              </a:rPr>
              <a:t>算法和算法分析</a:t>
            </a:r>
          </a:p>
        </p:txBody>
      </p:sp>
      <p:sp>
        <p:nvSpPr>
          <p:cNvPr id="25603" name="Rectangle 3"/>
          <p:cNvSpPr>
            <a:spLocks noGrp="1" noChangeArrowheads="1"/>
          </p:cNvSpPr>
          <p:nvPr>
            <p:ph idx="1"/>
          </p:nvPr>
        </p:nvSpPr>
        <p:spPr>
          <a:xfrm>
            <a:off x="525982" y="1793201"/>
            <a:ext cx="11130106" cy="4610100"/>
          </a:xfrm>
        </p:spPr>
        <p:txBody>
          <a:bodyPr/>
          <a:lstStyle/>
          <a:p>
            <a:pPr eaLnBrk="1" hangingPunct="1">
              <a:buFontTx/>
              <a:buNone/>
            </a:pPr>
            <a:r>
              <a:rPr lang="en-US" altLang="zh-CN" dirty="0">
                <a:latin typeface="华文仿宋" panose="02010600040101010101" pitchFamily="2" charset="-122"/>
                <a:ea typeface="华文仿宋" panose="02010600040101010101" pitchFamily="2" charset="-122"/>
              </a:rPr>
              <a:t>3. </a:t>
            </a:r>
            <a:r>
              <a:rPr lang="zh-CN" altLang="en-US" dirty="0">
                <a:latin typeface="华文仿宋" panose="02010600040101010101" pitchFamily="2" charset="-122"/>
                <a:ea typeface="华文仿宋" panose="02010600040101010101" pitchFamily="2" charset="-122"/>
              </a:rPr>
              <a:t>算法与数据结构的关系</a:t>
            </a:r>
          </a:p>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计算机科学家沃斯（</a:t>
            </a:r>
            <a:r>
              <a:rPr lang="en-US" altLang="zh-CN" dirty="0" err="1">
                <a:latin typeface="华文仿宋" panose="02010600040101010101" pitchFamily="2" charset="-122"/>
                <a:ea typeface="华文仿宋" panose="02010600040101010101" pitchFamily="2" charset="-122"/>
              </a:rPr>
              <a:t>N.Wirth</a:t>
            </a:r>
            <a:r>
              <a:rPr lang="zh-CN" altLang="en-US" dirty="0">
                <a:latin typeface="华文仿宋" panose="02010600040101010101" pitchFamily="2" charset="-122"/>
                <a:ea typeface="华文仿宋" panose="02010600040101010101" pitchFamily="2" charset="-122"/>
              </a:rPr>
              <a:t>）提出的“</a:t>
            </a:r>
            <a:r>
              <a:rPr lang="zh-CN" altLang="en-US" b="1" dirty="0">
                <a:latin typeface="华文仿宋" panose="02010600040101010101" pitchFamily="2" charset="-122"/>
                <a:ea typeface="华文仿宋" panose="02010600040101010101" pitchFamily="2" charset="-122"/>
              </a:rPr>
              <a:t>算法</a:t>
            </a:r>
            <a:r>
              <a:rPr lang="en-US" altLang="zh-CN" b="1" dirty="0">
                <a:latin typeface="华文仿宋" panose="02010600040101010101" pitchFamily="2" charset="-122"/>
                <a:ea typeface="华文仿宋" panose="02010600040101010101" pitchFamily="2" charset="-122"/>
              </a:rPr>
              <a:t>+</a:t>
            </a:r>
            <a:r>
              <a:rPr lang="zh-CN" altLang="en-US" b="1" dirty="0">
                <a:latin typeface="华文仿宋" panose="02010600040101010101" pitchFamily="2" charset="-122"/>
                <a:ea typeface="华文仿宋" panose="02010600040101010101" pitchFamily="2" charset="-122"/>
              </a:rPr>
              <a:t>数据结构</a:t>
            </a:r>
            <a:r>
              <a:rPr lang="en-US" altLang="zh-CN" b="1" dirty="0">
                <a:latin typeface="华文仿宋" panose="02010600040101010101" pitchFamily="2" charset="-122"/>
                <a:ea typeface="华文仿宋" panose="02010600040101010101" pitchFamily="2" charset="-122"/>
              </a:rPr>
              <a:t>=</a:t>
            </a:r>
            <a:r>
              <a:rPr lang="zh-CN" altLang="en-US" b="1" dirty="0">
                <a:latin typeface="华文仿宋" panose="02010600040101010101" pitchFamily="2" charset="-122"/>
                <a:ea typeface="华文仿宋" panose="02010600040101010101" pitchFamily="2" charset="-122"/>
              </a:rPr>
              <a:t>程序</a:t>
            </a:r>
            <a:r>
              <a:rPr lang="zh-CN" altLang="en-US" dirty="0">
                <a:latin typeface="华文仿宋" panose="02010600040101010101" pitchFamily="2" charset="-122"/>
                <a:ea typeface="华文仿宋" panose="02010600040101010101" pitchFamily="2" charset="-122"/>
              </a:rPr>
              <a:t>”揭示了程序设计的本质：对实际问题选择一种好的数据结构，加上设计一个好的算法，而好的算法很大程度上取决于描述实际问题的数据结构。算法与数据结构是互相依赖、互相联系的。</a:t>
            </a:r>
          </a:p>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一个算法总是建立在一定数据结构上的；反之，算法不确定，就无法决定如何构造数据。</a:t>
            </a:r>
            <a:endParaRPr lang="en-US" altLang="zh-CN" dirty="0">
              <a:latin typeface="华文仿宋" panose="02010600040101010101" pitchFamily="2" charset="-122"/>
              <a:ea typeface="华文仿宋" panose="02010600040101010101" pitchFamily="2" charset="-122"/>
            </a:endParaRPr>
          </a:p>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一个算法的设计取决于选定的数据（逻辑）结构，而算法的实现依赖于采用的存储结构。</a:t>
            </a:r>
          </a:p>
        </p:txBody>
      </p:sp>
    </p:spTree>
    <p:extLst>
      <p:ext uri="{BB962C8B-B14F-4D97-AF65-F5344CB8AC3E}">
        <p14:creationId xmlns:p14="http://schemas.microsoft.com/office/powerpoint/2010/main" val="4273740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fade">
                                      <p:cBhvr>
                                        <p:cTn id="7" dur="2000"/>
                                        <p:tgtEl>
                                          <p:spTgt spid="256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603">
                                            <p:txEl>
                                              <p:pRg st="0" end="0"/>
                                            </p:txEl>
                                          </p:spTgt>
                                        </p:tgtEl>
                                        <p:attrNameLst>
                                          <p:attrName>style.visibility</p:attrName>
                                        </p:attrNameLst>
                                      </p:cBhvr>
                                      <p:to>
                                        <p:strVal val="visible"/>
                                      </p:to>
                                    </p:set>
                                    <p:animEffect transition="in" filter="fade">
                                      <p:cBhvr>
                                        <p:cTn id="12" dur="2000"/>
                                        <p:tgtEl>
                                          <p:spTgt spid="2560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603">
                                            <p:txEl>
                                              <p:pRg st="1" end="1"/>
                                            </p:txEl>
                                          </p:spTgt>
                                        </p:tgtEl>
                                        <p:attrNameLst>
                                          <p:attrName>style.visibility</p:attrName>
                                        </p:attrNameLst>
                                      </p:cBhvr>
                                      <p:to>
                                        <p:strVal val="visible"/>
                                      </p:to>
                                    </p:set>
                                    <p:animEffect transition="in" filter="fade">
                                      <p:cBhvr>
                                        <p:cTn id="17" dur="2000"/>
                                        <p:tgtEl>
                                          <p:spTgt spid="2560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603">
                                            <p:txEl>
                                              <p:pRg st="2" end="2"/>
                                            </p:txEl>
                                          </p:spTgt>
                                        </p:tgtEl>
                                        <p:attrNameLst>
                                          <p:attrName>style.visibility</p:attrName>
                                        </p:attrNameLst>
                                      </p:cBhvr>
                                      <p:to>
                                        <p:strVal val="visible"/>
                                      </p:to>
                                    </p:set>
                                    <p:animEffect transition="in" filter="fade">
                                      <p:cBhvr>
                                        <p:cTn id="22" dur="2000"/>
                                        <p:tgtEl>
                                          <p:spTgt spid="2560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603">
                                            <p:txEl>
                                              <p:pRg st="3" end="3"/>
                                            </p:txEl>
                                          </p:spTgt>
                                        </p:tgtEl>
                                        <p:attrNameLst>
                                          <p:attrName>style.visibility</p:attrName>
                                        </p:attrNameLst>
                                      </p:cBhvr>
                                      <p:to>
                                        <p:strVal val="visible"/>
                                      </p:to>
                                    </p:set>
                                    <p:animEffect transition="in" filter="fade">
                                      <p:cBhvr>
                                        <p:cTn id="27" dur="2000"/>
                                        <p:tgtEl>
                                          <p:spTgt spid="25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nimBg="1"/>
      <p:bldP spid="2560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idx="1"/>
          </p:nvPr>
        </p:nvSpPr>
        <p:spPr>
          <a:xfrm>
            <a:off x="417415" y="838397"/>
            <a:ext cx="10515600" cy="4351338"/>
          </a:xfrm>
        </p:spPr>
        <p:txBody>
          <a:bodyPr/>
          <a:lstStyle/>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例</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：编写程序查询某城市某人的电话号码</a:t>
            </a:r>
          </a:p>
          <a:p>
            <a:pPr marL="0" indent="0" eaLnBrk="1" hangingPunct="1">
              <a:buNone/>
            </a:pPr>
            <a:r>
              <a:rPr lang="zh-CN" altLang="en-US" dirty="0">
                <a:latin typeface="华文仿宋" panose="02010600040101010101" pitchFamily="2" charset="-122"/>
                <a:ea typeface="华文仿宋" panose="02010600040101010101" pitchFamily="2" charset="-122"/>
              </a:rPr>
              <a:t>建立一张登记表，存放</a:t>
            </a: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个数据项：姓名</a:t>
            </a:r>
            <a:r>
              <a:rPr lang="en-US" altLang="zh-CN" dirty="0">
                <a:latin typeface="华文仿宋" panose="02010600040101010101" pitchFamily="2" charset="-122"/>
                <a:ea typeface="华文仿宋" panose="02010600040101010101" pitchFamily="2" charset="-122"/>
              </a:rPr>
              <a:t>+Tel</a:t>
            </a:r>
            <a:r>
              <a:rPr lang="zh-CN" altLang="en-US" dirty="0">
                <a:latin typeface="华文仿宋" panose="02010600040101010101" pitchFamily="2" charset="-122"/>
                <a:ea typeface="华文仿宋" panose="02010600040101010101" pitchFamily="2" charset="-122"/>
              </a:rPr>
              <a:t>。好的算法取决于这张表的结构及存储方式。</a:t>
            </a:r>
            <a:endParaRPr lang="en-US" altLang="zh-CN" dirty="0">
              <a:latin typeface="华文仿宋" panose="02010600040101010101" pitchFamily="2" charset="-122"/>
              <a:ea typeface="华文仿宋" panose="02010600040101010101" pitchFamily="2" charset="-122"/>
            </a:endParaRPr>
          </a:p>
          <a:p>
            <a:pPr marL="0" indent="0" eaLnBrk="1" hangingPunct="1">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）将表中结点按照姓名顺序地存储在计算机中，依次查找，可能遍历整个表都找不到。</a:t>
            </a:r>
            <a:endParaRPr lang="en-US" altLang="zh-CN" dirty="0">
              <a:latin typeface="华文仿宋" panose="02010600040101010101" pitchFamily="2" charset="-122"/>
              <a:ea typeface="华文仿宋" panose="02010600040101010101" pitchFamily="2" charset="-122"/>
            </a:endParaRPr>
          </a:p>
          <a:p>
            <a:pPr marL="0" indent="0" eaLnBrk="1" hangingPunct="1">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）再建立一张姓氏索引表，姓</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表中的起始地址。不需查找其他姓氏。查找效率提高。</a:t>
            </a:r>
          </a:p>
        </p:txBody>
      </p:sp>
    </p:spTree>
    <p:extLst>
      <p:ext uri="{BB962C8B-B14F-4D97-AF65-F5344CB8AC3E}">
        <p14:creationId xmlns:p14="http://schemas.microsoft.com/office/powerpoint/2010/main" val="3153428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sz="half" idx="1"/>
          </p:nvPr>
        </p:nvSpPr>
        <p:spPr>
          <a:xfrm>
            <a:off x="411346" y="815273"/>
            <a:ext cx="6230613" cy="4525963"/>
          </a:xfrm>
        </p:spPr>
        <p:txBody>
          <a:bodyPr/>
          <a:lstStyle/>
          <a:p>
            <a:pPr eaLnBrk="1" hangingPunct="1">
              <a:buFont typeface="Wingdings" panose="05000000000000000000" pitchFamily="2" charset="2"/>
              <a:buChar char="l"/>
            </a:pPr>
            <a:r>
              <a:rPr lang="zh-CN" altLang="en-US" b="1" dirty="0">
                <a:latin typeface="华文仿宋" panose="02010600040101010101" pitchFamily="2" charset="-122"/>
                <a:ea typeface="华文仿宋" panose="02010600040101010101" pitchFamily="2" charset="-122"/>
              </a:rPr>
              <a:t>例</a:t>
            </a:r>
            <a:r>
              <a:rPr lang="en-US" altLang="zh-CN" b="1" dirty="0">
                <a:latin typeface="华文仿宋" panose="02010600040101010101" pitchFamily="2" charset="-122"/>
                <a:ea typeface="华文仿宋" panose="02010600040101010101" pitchFamily="2" charset="-122"/>
              </a:rPr>
              <a:t>2: </a:t>
            </a:r>
            <a:r>
              <a:rPr lang="zh-CN" altLang="en-US" b="1" dirty="0">
                <a:latin typeface="华文仿宋" panose="02010600040101010101" pitchFamily="2" charset="-122"/>
                <a:ea typeface="华文仿宋" panose="02010600040101010101" pitchFamily="2" charset="-122"/>
              </a:rPr>
              <a:t>设计一个考试日程安排表，使在尽可能短的时间内安排完考试，要求同一个学生选修的几门课程不能安排在同一个时间内。</a:t>
            </a:r>
          </a:p>
          <a:p>
            <a:pPr marL="0" indent="0" eaLnBrk="1" hangingPunct="1">
              <a:buNone/>
            </a:pPr>
            <a:endParaRPr lang="zh-CN" altLang="en-US" b="1" dirty="0">
              <a:latin typeface="华文仿宋" panose="02010600040101010101" pitchFamily="2" charset="-122"/>
              <a:ea typeface="华文仿宋" panose="02010600040101010101" pitchFamily="2" charset="-122"/>
            </a:endParaRPr>
          </a:p>
        </p:txBody>
      </p:sp>
      <p:graphicFrame>
        <p:nvGraphicFramePr>
          <p:cNvPr id="68685" name="Group 77"/>
          <p:cNvGraphicFramePr>
            <a:graphicFrameLocks noGrp="1"/>
          </p:cNvGraphicFramePr>
          <p:nvPr>
            <p:ph sz="quarter" idx="2"/>
            <p:extLst>
              <p:ext uri="{D42A27DB-BD31-4B8C-83A1-F6EECF244321}">
                <p14:modId xmlns:p14="http://schemas.microsoft.com/office/powerpoint/2010/main" val="1065680202"/>
              </p:ext>
            </p:extLst>
          </p:nvPr>
        </p:nvGraphicFramePr>
        <p:xfrm>
          <a:off x="7038114" y="815273"/>
          <a:ext cx="4537587" cy="4144965"/>
        </p:xfrm>
        <a:graphic>
          <a:graphicData uri="http://schemas.openxmlformats.org/drawingml/2006/table">
            <a:tbl>
              <a:tblPr/>
              <a:tblGrid>
                <a:gridCol w="1134843">
                  <a:extLst>
                    <a:ext uri="{9D8B030D-6E8A-4147-A177-3AD203B41FA5}">
                      <a16:colId xmlns:a16="http://schemas.microsoft.com/office/drawing/2014/main" val="2096564268"/>
                    </a:ext>
                  </a:extLst>
                </a:gridCol>
                <a:gridCol w="1136627">
                  <a:extLst>
                    <a:ext uri="{9D8B030D-6E8A-4147-A177-3AD203B41FA5}">
                      <a16:colId xmlns:a16="http://schemas.microsoft.com/office/drawing/2014/main" val="2087441641"/>
                    </a:ext>
                  </a:extLst>
                </a:gridCol>
                <a:gridCol w="1133059">
                  <a:extLst>
                    <a:ext uri="{9D8B030D-6E8A-4147-A177-3AD203B41FA5}">
                      <a16:colId xmlns:a16="http://schemas.microsoft.com/office/drawing/2014/main" val="1950837470"/>
                    </a:ext>
                  </a:extLst>
                </a:gridCol>
                <a:gridCol w="1133058">
                  <a:extLst>
                    <a:ext uri="{9D8B030D-6E8A-4147-A177-3AD203B41FA5}">
                      <a16:colId xmlns:a16="http://schemas.microsoft.com/office/drawing/2014/main" val="1035167997"/>
                    </a:ext>
                  </a:extLst>
                </a:gridCol>
              </a:tblGrid>
              <a:tr h="1484313">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姓名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选修</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选修</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选修</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3</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8811052"/>
                  </a:ext>
                </a:extLst>
              </a:tr>
              <a:tr h="533400">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张三</a:t>
                      </a:r>
                      <a:endParaRPr kumimoji="0" lang="zh-CN"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2889919"/>
                  </a:ext>
                </a:extLst>
              </a:tr>
              <a:tr h="531813">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李四</a:t>
                      </a:r>
                      <a:endParaRPr kumimoji="0" lang="zh-CN"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5316241"/>
                  </a:ext>
                </a:extLst>
              </a:tr>
              <a:tr h="531813">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王五</a:t>
                      </a:r>
                      <a:endParaRPr kumimoji="0" lang="zh-CN"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50076574"/>
                  </a:ext>
                </a:extLst>
              </a:tr>
              <a:tr h="531813">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赵六</a:t>
                      </a:r>
                      <a:endParaRPr kumimoji="0" lang="zh-CN"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97562119"/>
                  </a:ext>
                </a:extLst>
              </a:tr>
              <a:tr h="531813">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tx2"/>
                        </a:buClr>
                        <a:buSzPct val="50000"/>
                        <a:buFont typeface="Wingdings 2" panose="05020102010507070707" pitchFamily="18" charset="2"/>
                        <a:defRPr sz="2800">
                          <a:solidFill>
                            <a:schemeClr val="tx1"/>
                          </a:solidFill>
                          <a:latin typeface="Franklin Gothic Book" pitchFamily="34" charset="0"/>
                          <a:ea typeface="黑体" panose="02010609060101010101" pitchFamily="49" charset="-122"/>
                        </a:defRPr>
                      </a:lvl1pPr>
                      <a:lvl2pPr marL="742950" indent="-285750" eaLnBrk="0" hangingPunct="0">
                        <a:spcBef>
                          <a:spcPct val="20000"/>
                        </a:spcBef>
                        <a:buClr>
                          <a:schemeClr val="tx2"/>
                        </a:buClr>
                        <a:buSzPct val="50000"/>
                        <a:buFont typeface="Wingdings 2" panose="05020102010507070707" pitchFamily="18" charset="2"/>
                        <a:defRPr sz="2400">
                          <a:solidFill>
                            <a:schemeClr val="tx1"/>
                          </a:solidFill>
                          <a:latin typeface="Franklin Gothic Book" pitchFamily="34" charset="0"/>
                          <a:ea typeface="黑体" panose="02010609060101010101" pitchFamily="49" charset="-122"/>
                        </a:defRPr>
                      </a:lvl2pPr>
                      <a:lvl3pPr marL="1143000" indent="-228600" eaLnBrk="0" hangingPunct="0">
                        <a:spcBef>
                          <a:spcPct val="20000"/>
                        </a:spcBef>
                        <a:buClr>
                          <a:schemeClr val="tx2"/>
                        </a:buClr>
                        <a:buSzPct val="50000"/>
                        <a:buFont typeface="Wingdings 2" panose="05020102010507070707" pitchFamily="18" charset="2"/>
                        <a:defRPr sz="2000">
                          <a:solidFill>
                            <a:schemeClr val="tx1"/>
                          </a:solidFill>
                          <a:latin typeface="Franklin Gothic Book" pitchFamily="34" charset="0"/>
                          <a:ea typeface="黑体" panose="02010609060101010101" pitchFamily="49" charset="-122"/>
                        </a:defRPr>
                      </a:lvl3pPr>
                      <a:lvl4pPr marL="16002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4pPr>
                      <a:lvl5pPr marL="2057400" indent="-228600" eaLnBrk="0" hangingPunct="0">
                        <a:spcBef>
                          <a:spcPct val="20000"/>
                        </a:spcBef>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defRPr>
                          <a:solidFill>
                            <a:schemeClr val="tx1"/>
                          </a:solidFill>
                          <a:latin typeface="Franklin Gothic Book"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86627262"/>
                  </a:ext>
                </a:extLst>
              </a:tr>
            </a:tbl>
          </a:graphicData>
        </a:graphic>
      </p:graphicFrame>
    </p:spTree>
    <p:extLst>
      <p:ext uri="{BB962C8B-B14F-4D97-AF65-F5344CB8AC3E}">
        <p14:creationId xmlns:p14="http://schemas.microsoft.com/office/powerpoint/2010/main" val="4226345578"/>
      </p:ext>
    </p:extLst>
  </p:cSld>
  <p:clrMapOvr>
    <a:masterClrMapping/>
  </p:clrMapOvr>
  <p:transition spd="slow">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635899" y="927408"/>
            <a:ext cx="10515600" cy="5041591"/>
          </a:xfrm>
        </p:spPr>
        <p:txBody>
          <a:bodyPr/>
          <a:lstStyle/>
          <a:p>
            <a:pPr eaLnBrk="1" hangingPunct="1">
              <a:lnSpc>
                <a:spcPct val="90000"/>
              </a:lnSpc>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解决该问题，首先选择一个合适的数据结构。用无向图表示，图中的顶点表示课程，不能同时考试的课程之间连上一条边。则该问题就抽象成对该无向图进行“着色”操作，即用尽可能少的颜色去给图中每个顶点着色，使得任意两个相邻的顶点着不同的颜色。同一种颜色表示一个考试时间。</a:t>
            </a:r>
          </a:p>
          <a:p>
            <a:pPr marL="0" indent="0" eaLnBrk="1" hangingPunct="1">
              <a:lnSpc>
                <a:spcPct val="90000"/>
              </a:lnSpc>
              <a:buNone/>
            </a:pPr>
            <a:r>
              <a:rPr lang="zh-CN" altLang="en-US" dirty="0">
                <a:latin typeface="华文仿宋" panose="02010600040101010101" pitchFamily="2" charset="-122"/>
                <a:ea typeface="华文仿宋" panose="02010600040101010101" pitchFamily="2" charset="-122"/>
              </a:rPr>
              <a:t>答案：</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A,C  2:B,D  3:E  4: F</a:t>
            </a:r>
          </a:p>
          <a:p>
            <a:pPr eaLnBrk="1" hangingPunct="1">
              <a:lnSpc>
                <a:spcPct val="90000"/>
              </a:lnSpc>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解决问题的关键步骤是先选取合适的数据结构表示问题，才能写出有效的算法。</a:t>
            </a:r>
          </a:p>
          <a:p>
            <a:pPr eaLnBrk="1" hangingPunct="1">
              <a:lnSpc>
                <a:spcPct val="90000"/>
              </a:lnSpc>
            </a:pPr>
            <a:endParaRPr lang="zh-CN" altLang="en-US" dirty="0">
              <a:latin typeface="华文仿宋" panose="02010600040101010101" pitchFamily="2" charset="-122"/>
              <a:ea typeface="华文仿宋" panose="02010600040101010101" pitchFamily="2" charset="-122"/>
            </a:endParaRPr>
          </a:p>
          <a:p>
            <a:pPr eaLnBrk="1" hangingPunct="1">
              <a:lnSpc>
                <a:spcPct val="90000"/>
              </a:lnSpc>
            </a:pPr>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3113569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25734" y="87312"/>
            <a:ext cx="10515600" cy="1325563"/>
          </a:xfrm>
        </p:spPr>
        <p:txBody>
          <a:bodyPr/>
          <a:lstStyle/>
          <a:p>
            <a:pPr eaLnBrk="1" hangingPunct="1"/>
            <a:r>
              <a:rPr lang="en-US" altLang="zh-CN" b="1" dirty="0">
                <a:latin typeface="华文仿宋" panose="02010600040101010101" pitchFamily="2" charset="-122"/>
                <a:ea typeface="华文仿宋" panose="02010600040101010101" pitchFamily="2" charset="-122"/>
              </a:rPr>
              <a:t>1.4 </a:t>
            </a:r>
            <a:r>
              <a:rPr lang="zh-CN" altLang="en-US" b="1" dirty="0">
                <a:latin typeface="华文仿宋" panose="02010600040101010101" pitchFamily="2" charset="-122"/>
                <a:ea typeface="华文仿宋" panose="02010600040101010101" pitchFamily="2" charset="-122"/>
              </a:rPr>
              <a:t>算法和算法分析</a:t>
            </a:r>
          </a:p>
        </p:txBody>
      </p:sp>
      <p:sp>
        <p:nvSpPr>
          <p:cNvPr id="31747" name="Rectangle 3"/>
          <p:cNvSpPr>
            <a:spLocks noGrp="1" noChangeArrowheads="1"/>
          </p:cNvSpPr>
          <p:nvPr>
            <p:ph idx="1"/>
          </p:nvPr>
        </p:nvSpPr>
        <p:spPr>
          <a:xfrm>
            <a:off x="572652" y="1191811"/>
            <a:ext cx="11046696" cy="5445125"/>
          </a:xfrm>
        </p:spPr>
        <p:txBody>
          <a:bodyPr>
            <a:normAutofit fontScale="92500"/>
          </a:bodyPr>
          <a:lstStyle/>
          <a:p>
            <a:pPr eaLnBrk="1" hangingPunct="1">
              <a:buFontTx/>
              <a:buNone/>
            </a:pPr>
            <a:r>
              <a:rPr lang="en-US" altLang="zh-CN" dirty="0">
                <a:latin typeface="华文仿宋" panose="02010600040101010101" pitchFamily="2" charset="-122"/>
                <a:ea typeface="华文仿宋" panose="02010600040101010101" pitchFamily="2" charset="-122"/>
              </a:rPr>
              <a:t>4. </a:t>
            </a:r>
            <a:r>
              <a:rPr lang="zh-CN" altLang="en-US" dirty="0">
                <a:latin typeface="华文仿宋" panose="02010600040101010101" pitchFamily="2" charset="-122"/>
                <a:ea typeface="华文仿宋" panose="02010600040101010101" pitchFamily="2" charset="-122"/>
              </a:rPr>
              <a:t>算法设计的要求  </a:t>
            </a:r>
            <a:r>
              <a:rPr lang="en-US" altLang="zh-CN" dirty="0">
                <a:latin typeface="华文仿宋" panose="02010600040101010101" pitchFamily="2" charset="-122"/>
                <a:ea typeface="华文仿宋" panose="02010600040101010101" pitchFamily="2" charset="-122"/>
              </a:rPr>
              <a:t>p13</a:t>
            </a: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p14</a:t>
            </a:r>
          </a:p>
          <a:p>
            <a:pPr>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）正确性（四层含义）</a:t>
            </a:r>
          </a:p>
          <a:p>
            <a:pPr eaLnBrk="1" hangingPunct="1">
              <a:buFontTx/>
              <a:buNone/>
            </a:pPr>
            <a:r>
              <a:rPr lang="zh-CN" altLang="en-US" dirty="0">
                <a:latin typeface="华文仿宋" panose="02010600040101010101" pitchFamily="2" charset="-122"/>
                <a:ea typeface="华文仿宋" panose="02010600040101010101" pitchFamily="2" charset="-122"/>
              </a:rPr>
              <a:t>     （</a:t>
            </a:r>
            <a:r>
              <a:rPr lang="en-US" altLang="zh-CN" dirty="0">
                <a:latin typeface="华文仿宋" panose="02010600040101010101" pitchFamily="2" charset="-122"/>
                <a:ea typeface="华文仿宋" panose="02010600040101010101" pitchFamily="2" charset="-122"/>
              </a:rPr>
              <a:t>a</a:t>
            </a:r>
            <a:r>
              <a:rPr lang="zh-CN" altLang="en-US" dirty="0">
                <a:latin typeface="华文仿宋" panose="02010600040101010101" pitchFamily="2" charset="-122"/>
                <a:ea typeface="华文仿宋" panose="02010600040101010101" pitchFamily="2" charset="-122"/>
              </a:rPr>
              <a:t>）不含语法错误 </a:t>
            </a:r>
            <a:endParaRPr lang="en-US" altLang="zh-CN" dirty="0">
              <a:latin typeface="华文仿宋" panose="02010600040101010101" pitchFamily="2" charset="-122"/>
              <a:ea typeface="华文仿宋" panose="02010600040101010101" pitchFamily="2" charset="-122"/>
            </a:endParaRPr>
          </a:p>
          <a:p>
            <a:pPr eaLnBrk="1" hangingPunct="1">
              <a:buFontTx/>
              <a:buNone/>
            </a:pPr>
            <a:r>
              <a:rPr lang="zh-CN" altLang="en-US" dirty="0">
                <a:latin typeface="华文仿宋" panose="02010600040101010101" pitchFamily="2" charset="-122"/>
                <a:ea typeface="华文仿宋" panose="02010600040101010101" pitchFamily="2" charset="-122"/>
              </a:rPr>
              <a:t>     （</a:t>
            </a:r>
            <a:r>
              <a:rPr lang="en-US" altLang="zh-CN" dirty="0">
                <a:latin typeface="华文仿宋" panose="02010600040101010101" pitchFamily="2" charset="-122"/>
                <a:ea typeface="华文仿宋" panose="02010600040101010101" pitchFamily="2" charset="-122"/>
              </a:rPr>
              <a:t>b</a:t>
            </a:r>
            <a:r>
              <a:rPr lang="zh-CN" altLang="en-US" dirty="0">
                <a:latin typeface="华文仿宋" panose="02010600040101010101" pitchFamily="2" charset="-122"/>
                <a:ea typeface="华文仿宋" panose="02010600040101010101" pitchFamily="2" charset="-122"/>
              </a:rPr>
              <a:t>）对于几组输入得到预期的输出  </a:t>
            </a:r>
            <a:endParaRPr lang="en-US" altLang="zh-CN" dirty="0">
              <a:latin typeface="华文仿宋" panose="02010600040101010101" pitchFamily="2" charset="-122"/>
              <a:ea typeface="华文仿宋" panose="02010600040101010101" pitchFamily="2" charset="-122"/>
            </a:endParaRPr>
          </a:p>
          <a:p>
            <a:pPr eaLnBrk="1" hangingPunct="1">
              <a:buFontTx/>
              <a:buNone/>
            </a:pPr>
            <a:r>
              <a:rPr lang="zh-CN" altLang="en-US" dirty="0">
                <a:latin typeface="华文仿宋" panose="02010600040101010101" pitchFamily="2" charset="-122"/>
                <a:ea typeface="华文仿宋" panose="02010600040101010101" pitchFamily="2" charset="-122"/>
              </a:rPr>
              <a:t>    （</a:t>
            </a:r>
            <a:r>
              <a:rPr lang="en-US" altLang="zh-CN" dirty="0">
                <a:latin typeface="华文仿宋" panose="02010600040101010101" pitchFamily="2" charset="-122"/>
                <a:ea typeface="华文仿宋" panose="02010600040101010101" pitchFamily="2" charset="-122"/>
              </a:rPr>
              <a:t>c</a:t>
            </a:r>
            <a:r>
              <a:rPr lang="zh-CN" altLang="en-US" dirty="0">
                <a:latin typeface="华文仿宋" panose="02010600040101010101" pitchFamily="2" charset="-122"/>
                <a:ea typeface="华文仿宋" panose="02010600040101010101" pitchFamily="2" charset="-122"/>
              </a:rPr>
              <a:t>）对于精心选择的典型、苛刻而带有刁难性的输入产生期望的输出 </a:t>
            </a:r>
            <a:endParaRPr lang="en-US" altLang="zh-CN" dirty="0">
              <a:latin typeface="华文仿宋" panose="02010600040101010101" pitchFamily="2" charset="-122"/>
              <a:ea typeface="华文仿宋" panose="02010600040101010101" pitchFamily="2" charset="-122"/>
            </a:endParaRPr>
          </a:p>
          <a:p>
            <a:pPr eaLnBrk="1" hangingPunct="1">
              <a:buFontTx/>
              <a:buNone/>
            </a:pPr>
            <a:r>
              <a:rPr lang="zh-CN" altLang="en-US" dirty="0">
                <a:latin typeface="华文仿宋" panose="02010600040101010101" pitchFamily="2" charset="-122"/>
                <a:ea typeface="华文仿宋" panose="02010600040101010101" pitchFamily="2" charset="-122"/>
              </a:rPr>
              <a:t>    （</a:t>
            </a:r>
            <a:r>
              <a:rPr lang="en-US" altLang="zh-CN" dirty="0">
                <a:latin typeface="华文仿宋" panose="02010600040101010101" pitchFamily="2" charset="-122"/>
                <a:ea typeface="华文仿宋" panose="02010600040101010101" pitchFamily="2" charset="-122"/>
              </a:rPr>
              <a:t>d</a:t>
            </a:r>
            <a:r>
              <a:rPr lang="zh-CN" altLang="en-US" dirty="0">
                <a:latin typeface="华文仿宋" panose="02010600040101010101" pitchFamily="2" charset="-122"/>
                <a:ea typeface="华文仿宋" panose="02010600040101010101" pitchFamily="2" charset="-122"/>
              </a:rPr>
              <a:t>）对于所有的合法输入产生期望的输出。</a:t>
            </a:r>
            <a:endParaRPr lang="en-US" altLang="zh-CN" dirty="0">
              <a:latin typeface="华文仿宋" panose="02010600040101010101" pitchFamily="2" charset="-122"/>
              <a:ea typeface="华文仿宋" panose="02010600040101010101" pitchFamily="2" charset="-122"/>
            </a:endParaRPr>
          </a:p>
          <a:p>
            <a:pPr eaLnBrk="1" hangingPunct="1">
              <a:buFontTx/>
              <a:buNone/>
            </a:pPr>
            <a:endParaRPr lang="en-US" altLang="zh-CN" dirty="0">
              <a:latin typeface="华文仿宋" panose="02010600040101010101" pitchFamily="2" charset="-122"/>
              <a:ea typeface="华文仿宋" panose="02010600040101010101" pitchFamily="2" charset="-122"/>
            </a:endParaRP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）可读性</a:t>
            </a:r>
          </a:p>
          <a:p>
            <a:pPr eaLnBrk="1" hangingPunct="1">
              <a:buFontTx/>
              <a:buNone/>
            </a:pPr>
            <a:r>
              <a:rPr lang="zh-CN" altLang="en-US" dirty="0">
                <a:latin typeface="华文仿宋" panose="02010600040101010101" pitchFamily="2" charset="-122"/>
                <a:ea typeface="华文仿宋" panose="02010600040101010101" pitchFamily="2" charset="-122"/>
              </a:rPr>
              <a:t>          首先是给人读，然后才是机器执行</a:t>
            </a: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3</a:t>
            </a:r>
            <a:r>
              <a:rPr lang="zh-CN" altLang="en-US" dirty="0">
                <a:latin typeface="华文仿宋" panose="02010600040101010101" pitchFamily="2" charset="-122"/>
                <a:ea typeface="华文仿宋" panose="02010600040101010101" pitchFamily="2" charset="-122"/>
              </a:rPr>
              <a:t>）健壮性 容错性</a:t>
            </a: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4</a:t>
            </a:r>
            <a:r>
              <a:rPr lang="zh-CN" altLang="en-US" dirty="0">
                <a:latin typeface="华文仿宋" panose="02010600040101010101" pitchFamily="2" charset="-122"/>
                <a:ea typeface="华文仿宋" panose="02010600040101010101" pitchFamily="2" charset="-122"/>
              </a:rPr>
              <a:t>）效率与低存储量需求</a:t>
            </a:r>
          </a:p>
          <a:p>
            <a:pPr eaLnBrk="1" hangingPunct="1"/>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431194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26216" y="398105"/>
            <a:ext cx="8229600" cy="887412"/>
          </a:xfrm>
        </p:spPr>
        <p:txBody>
          <a:bodyPr/>
          <a:lstStyle/>
          <a:p>
            <a:pPr eaLnBrk="1" hangingPunct="1"/>
            <a:r>
              <a:rPr lang="en-US" altLang="zh-CN" b="1" dirty="0">
                <a:latin typeface="华文仿宋" panose="02010600040101010101" pitchFamily="2" charset="-122"/>
                <a:ea typeface="华文仿宋" panose="02010600040101010101" pitchFamily="2" charset="-122"/>
              </a:rPr>
              <a:t>1.4 </a:t>
            </a:r>
            <a:r>
              <a:rPr lang="zh-CN" altLang="en-US" b="1" dirty="0">
                <a:latin typeface="华文仿宋" panose="02010600040101010101" pitchFamily="2" charset="-122"/>
                <a:ea typeface="华文仿宋" panose="02010600040101010101" pitchFamily="2" charset="-122"/>
              </a:rPr>
              <a:t>算法和算法分析</a:t>
            </a:r>
          </a:p>
        </p:txBody>
      </p:sp>
      <p:sp>
        <p:nvSpPr>
          <p:cNvPr id="32771" name="Rectangle 3"/>
          <p:cNvSpPr>
            <a:spLocks noGrp="1" noChangeArrowheads="1"/>
          </p:cNvSpPr>
          <p:nvPr>
            <p:ph idx="1"/>
          </p:nvPr>
        </p:nvSpPr>
        <p:spPr>
          <a:xfrm>
            <a:off x="426216" y="1664851"/>
            <a:ext cx="11089193" cy="4351338"/>
          </a:xfrm>
        </p:spPr>
        <p:txBody>
          <a:bodyPr/>
          <a:lstStyle/>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定义：一个算法如果能在所要求的</a:t>
            </a:r>
            <a:r>
              <a:rPr lang="zh-CN" altLang="en-US" b="1" dirty="0">
                <a:latin typeface="华文仿宋" panose="02010600040101010101" pitchFamily="2" charset="-122"/>
                <a:ea typeface="华文仿宋" panose="02010600040101010101" pitchFamily="2" charset="-122"/>
              </a:rPr>
              <a:t>资源限制</a:t>
            </a:r>
            <a:r>
              <a:rPr lang="zh-CN" altLang="en-US" dirty="0">
                <a:latin typeface="华文仿宋" panose="02010600040101010101" pitchFamily="2" charset="-122"/>
                <a:ea typeface="华文仿宋" panose="02010600040101010101" pitchFamily="2" charset="-122"/>
              </a:rPr>
              <a:t>内将问题解决好，则称这个算法是</a:t>
            </a:r>
            <a:r>
              <a:rPr lang="zh-CN" altLang="en-US" b="1" dirty="0">
                <a:latin typeface="华文仿宋" panose="02010600040101010101" pitchFamily="2" charset="-122"/>
                <a:ea typeface="华文仿宋" panose="02010600040101010101" pitchFamily="2" charset="-122"/>
              </a:rPr>
              <a:t>有效率的</a:t>
            </a:r>
            <a:r>
              <a:rPr lang="zh-CN" altLang="en-US" dirty="0">
                <a:latin typeface="华文仿宋" panose="02010600040101010101" pitchFamily="2" charset="-122"/>
                <a:ea typeface="华文仿宋" panose="02010600040101010101" pitchFamily="2" charset="-122"/>
              </a:rPr>
              <a:t>。</a:t>
            </a:r>
            <a:endParaRPr lang="en-US" altLang="zh-CN" dirty="0">
              <a:latin typeface="华文仿宋" panose="02010600040101010101" pitchFamily="2" charset="-122"/>
              <a:ea typeface="华文仿宋" panose="02010600040101010101" pitchFamily="2" charset="-122"/>
            </a:endParaRPr>
          </a:p>
          <a:p>
            <a:pPr eaLnBrk="1" hangingPunct="1">
              <a:buFont typeface="Wingdings" panose="05000000000000000000" pitchFamily="2" charset="2"/>
              <a:buChar char="l"/>
            </a:pPr>
            <a:endParaRPr lang="en-US" altLang="zh-CN" dirty="0"/>
          </a:p>
          <a:p>
            <a:pPr marL="0" indent="0" eaLnBrk="1" hangingPunct="1">
              <a:buNone/>
            </a:pPr>
            <a:r>
              <a:rPr lang="en-US" altLang="zh-CN" dirty="0">
                <a:latin typeface="华文仿宋" panose="02010600040101010101" pitchFamily="2" charset="-122"/>
                <a:ea typeface="华文仿宋" panose="02010600040101010101" pitchFamily="2" charset="-122"/>
              </a:rPr>
              <a:t>   </a:t>
            </a:r>
            <a:r>
              <a:rPr lang="zh-CN" altLang="en-US" dirty="0">
                <a:latin typeface="华文仿宋" panose="02010600040101010101" pitchFamily="2" charset="-122"/>
                <a:ea typeface="华文仿宋" panose="02010600040101010101" pitchFamily="2" charset="-122"/>
              </a:rPr>
              <a:t>例如，一个资源限制是：</a:t>
            </a:r>
            <a:endParaRPr lang="en-US" altLang="zh-CN" dirty="0">
              <a:latin typeface="华文仿宋" panose="02010600040101010101" pitchFamily="2" charset="-122"/>
              <a:ea typeface="华文仿宋" panose="02010600040101010101" pitchFamily="2" charset="-122"/>
            </a:endParaRPr>
          </a:p>
          <a:p>
            <a:pPr marL="0" indent="0" eaLnBrk="1" hangingPunct="1">
              <a:buNone/>
            </a:pPr>
            <a:r>
              <a:rPr lang="en-US" altLang="zh-CN" dirty="0"/>
              <a:t>      </a:t>
            </a:r>
            <a:r>
              <a:rPr lang="zh-CN" altLang="en-US" dirty="0">
                <a:latin typeface="华文仿宋" panose="02010600040101010101" pitchFamily="2" charset="-122"/>
                <a:ea typeface="华文仿宋" panose="02010600040101010101" pitchFamily="2" charset="-122"/>
              </a:rPr>
              <a:t>可用来存储数据的全部空间</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可能是分离的内存空间限制和磁盘空间限制</a:t>
            </a:r>
            <a:endParaRPr lang="en-US" altLang="zh-CN" dirty="0">
              <a:latin typeface="华文仿宋" panose="02010600040101010101" pitchFamily="2" charset="-122"/>
              <a:ea typeface="华文仿宋" panose="02010600040101010101" pitchFamily="2" charset="-122"/>
            </a:endParaRPr>
          </a:p>
          <a:p>
            <a:pPr marL="0" indent="0" eaLnBrk="1" hangingPunct="1">
              <a:buNone/>
            </a:pPr>
            <a:r>
              <a:rPr lang="en-US" altLang="zh-CN" dirty="0"/>
              <a:t>      </a:t>
            </a:r>
            <a:r>
              <a:rPr lang="zh-CN" altLang="en-US" dirty="0">
                <a:latin typeface="华文仿宋" panose="02010600040101010101" pitchFamily="2" charset="-122"/>
                <a:ea typeface="华文仿宋" panose="02010600040101010101" pitchFamily="2" charset="-122"/>
              </a:rPr>
              <a:t>和允许执行每一个子任务所需要的时间。</a:t>
            </a:r>
          </a:p>
        </p:txBody>
      </p:sp>
    </p:spTree>
    <p:extLst>
      <p:ext uri="{BB962C8B-B14F-4D97-AF65-F5344CB8AC3E}">
        <p14:creationId xmlns:p14="http://schemas.microsoft.com/office/powerpoint/2010/main" val="74569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42127" y="194734"/>
            <a:ext cx="8229600" cy="960437"/>
          </a:xfrm>
        </p:spPr>
        <p:txBody>
          <a:bodyPr/>
          <a:lstStyle/>
          <a:p>
            <a:pPr eaLnBrk="1" hangingPunct="1"/>
            <a:r>
              <a:rPr lang="en-US" altLang="zh-CN" b="1" dirty="0">
                <a:latin typeface="华文仿宋" panose="02010600040101010101" pitchFamily="2" charset="-122"/>
                <a:ea typeface="华文仿宋" panose="02010600040101010101" pitchFamily="2" charset="-122"/>
              </a:rPr>
              <a:t>1.4 </a:t>
            </a:r>
            <a:r>
              <a:rPr lang="zh-CN" altLang="en-US" b="1" dirty="0">
                <a:latin typeface="华文仿宋" panose="02010600040101010101" pitchFamily="2" charset="-122"/>
                <a:ea typeface="华文仿宋" panose="02010600040101010101" pitchFamily="2" charset="-122"/>
              </a:rPr>
              <a:t>算法和算法分析</a:t>
            </a:r>
          </a:p>
        </p:txBody>
      </p:sp>
      <p:sp>
        <p:nvSpPr>
          <p:cNvPr id="33795" name="Rectangle 3"/>
          <p:cNvSpPr>
            <a:spLocks noGrp="1" noChangeArrowheads="1"/>
          </p:cNvSpPr>
          <p:nvPr>
            <p:ph idx="1"/>
          </p:nvPr>
        </p:nvSpPr>
        <p:spPr>
          <a:xfrm>
            <a:off x="519914" y="1312333"/>
            <a:ext cx="10562954" cy="5350933"/>
          </a:xfrm>
        </p:spPr>
        <p:txBody>
          <a:bodyPr>
            <a:normAutofit/>
          </a:bodyPr>
          <a:lstStyle/>
          <a:p>
            <a:pPr eaLnBrk="1" hangingPunct="1">
              <a:lnSpc>
                <a:spcPct val="80000"/>
              </a:lnSpc>
              <a:buFontTx/>
              <a:buNone/>
            </a:pPr>
            <a:r>
              <a:rPr lang="en-US" altLang="zh-CN" dirty="0">
                <a:latin typeface="华文仿宋" panose="02010600040101010101" pitchFamily="2" charset="-122"/>
                <a:ea typeface="华文仿宋" panose="02010600040101010101" pitchFamily="2" charset="-122"/>
              </a:rPr>
              <a:t>5. </a:t>
            </a:r>
            <a:r>
              <a:rPr lang="zh-CN" altLang="en-US" dirty="0">
                <a:latin typeface="华文仿宋" panose="02010600040101010101" pitchFamily="2" charset="-122"/>
                <a:ea typeface="华文仿宋" panose="02010600040101010101" pitchFamily="2" charset="-122"/>
              </a:rPr>
              <a:t>算法的分析 </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算法性能的评价</a:t>
            </a:r>
          </a:p>
          <a:p>
            <a:pPr eaLnBrk="1" hangingPunct="1">
              <a:lnSpc>
                <a:spcPct val="80000"/>
              </a:lnSpc>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评价标准：</a:t>
            </a:r>
          </a:p>
          <a:p>
            <a:pPr eaLnBrk="1" hangingPunct="1">
              <a:lnSpc>
                <a:spcPct val="80000"/>
              </a:lnSpc>
              <a:buFontTx/>
              <a:buNone/>
            </a:pPr>
            <a:r>
              <a:rPr lang="zh-CN" altLang="en-US" dirty="0">
                <a:latin typeface="华文仿宋" panose="02010600040101010101" pitchFamily="2" charset="-122"/>
                <a:ea typeface="华文仿宋" panose="02010600040101010101" pitchFamily="2" charset="-122"/>
              </a:rPr>
              <a:t>    </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）算法所需的计算时间</a:t>
            </a:r>
          </a:p>
          <a:p>
            <a:pPr eaLnBrk="1" hangingPunct="1">
              <a:lnSpc>
                <a:spcPct val="80000"/>
              </a:lnSpc>
              <a:buFontTx/>
              <a:buNone/>
            </a:pPr>
            <a:r>
              <a:rPr lang="zh-CN" altLang="en-US" dirty="0">
                <a:latin typeface="华文仿宋" panose="02010600040101010101" pitchFamily="2" charset="-122"/>
                <a:ea typeface="华文仿宋" panose="02010600040101010101" pitchFamily="2" charset="-122"/>
              </a:rPr>
              <a:t>    </a:t>
            </a: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）算法所需的存储空间</a:t>
            </a:r>
          </a:p>
          <a:p>
            <a:pPr eaLnBrk="1" hangingPunct="1">
              <a:lnSpc>
                <a:spcPct val="80000"/>
              </a:lnSpc>
              <a:buFontTx/>
              <a:buNone/>
            </a:pPr>
            <a:r>
              <a:rPr lang="zh-CN" altLang="en-US" dirty="0">
                <a:latin typeface="华文仿宋" panose="02010600040101010101" pitchFamily="2" charset="-122"/>
                <a:ea typeface="华文仿宋" panose="02010600040101010101" pitchFamily="2" charset="-122"/>
              </a:rPr>
              <a:t>    </a:t>
            </a:r>
            <a:r>
              <a:rPr lang="en-US" altLang="zh-CN" dirty="0">
                <a:latin typeface="华文仿宋" panose="02010600040101010101" pitchFamily="2" charset="-122"/>
                <a:ea typeface="华文仿宋" panose="02010600040101010101" pitchFamily="2" charset="-122"/>
              </a:rPr>
              <a:t>3</a:t>
            </a:r>
            <a:r>
              <a:rPr lang="zh-CN" altLang="en-US" dirty="0">
                <a:latin typeface="华文仿宋" panose="02010600040101010101" pitchFamily="2" charset="-122"/>
                <a:ea typeface="华文仿宋" panose="02010600040101010101" pitchFamily="2" charset="-122"/>
              </a:rPr>
              <a:t>）算法的简单性</a:t>
            </a:r>
          </a:p>
          <a:p>
            <a:pPr eaLnBrk="1" hangingPunct="1">
              <a:lnSpc>
                <a:spcPct val="80000"/>
              </a:lnSpc>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  度量算法执行时间的两种方法 </a:t>
            </a:r>
            <a:endParaRPr lang="en-US" altLang="zh-CN" dirty="0">
              <a:latin typeface="华文仿宋" panose="02010600040101010101" pitchFamily="2" charset="-122"/>
              <a:ea typeface="华文仿宋" panose="02010600040101010101" pitchFamily="2" charset="-122"/>
            </a:endParaRPr>
          </a:p>
          <a:p>
            <a:pPr marL="0" indent="0" eaLnBrk="1" hangingPunct="1">
              <a:lnSpc>
                <a:spcPct val="80000"/>
              </a:lnSpc>
              <a:buNone/>
            </a:pPr>
            <a:r>
              <a:rPr lang="en-US" altLang="zh-CN" dirty="0">
                <a:latin typeface="华文仿宋" panose="02010600040101010101" pitchFamily="2" charset="-122"/>
                <a:ea typeface="华文仿宋" panose="02010600040101010101" pitchFamily="2" charset="-122"/>
              </a:rPr>
              <a:t>    1</a:t>
            </a:r>
            <a:r>
              <a:rPr lang="zh-CN" altLang="en-US" dirty="0">
                <a:latin typeface="华文仿宋" panose="02010600040101010101" pitchFamily="2" charset="-122"/>
                <a:ea typeface="华文仿宋" panose="02010600040101010101" pitchFamily="2" charset="-122"/>
              </a:rPr>
              <a:t>）事后统计法 （计时）</a:t>
            </a:r>
          </a:p>
          <a:p>
            <a:pPr eaLnBrk="1" hangingPunct="1">
              <a:lnSpc>
                <a:spcPct val="80000"/>
              </a:lnSpc>
              <a:buFontTx/>
              <a:buNone/>
            </a:pPr>
            <a:r>
              <a:rPr lang="zh-CN" altLang="en-US" dirty="0">
                <a:latin typeface="华文仿宋" panose="02010600040101010101" pitchFamily="2" charset="-122"/>
                <a:ea typeface="华文仿宋" panose="02010600040101010101" pitchFamily="2" charset="-122"/>
              </a:rPr>
              <a:t>       此方法有两个缺陷 （算法写成程序，时间统计依赖硬件）</a:t>
            </a:r>
            <a:endParaRPr lang="en-US" altLang="zh-CN" dirty="0">
              <a:latin typeface="华文仿宋" panose="02010600040101010101" pitchFamily="2" charset="-122"/>
              <a:ea typeface="华文仿宋" panose="02010600040101010101" pitchFamily="2" charset="-122"/>
            </a:endParaRPr>
          </a:p>
          <a:p>
            <a:pPr eaLnBrk="1" hangingPunct="1">
              <a:lnSpc>
                <a:spcPct val="80000"/>
              </a:lnSpc>
              <a:buFontTx/>
              <a:buNone/>
            </a:pPr>
            <a:r>
              <a:rPr lang="en-US" altLang="zh-CN" dirty="0">
                <a:latin typeface="华文仿宋" panose="02010600040101010101" pitchFamily="2" charset="-122"/>
                <a:ea typeface="华文仿宋" panose="02010600040101010101" pitchFamily="2" charset="-122"/>
              </a:rPr>
              <a:t>    2</a:t>
            </a:r>
            <a:r>
              <a:rPr lang="zh-CN" altLang="en-US" dirty="0">
                <a:latin typeface="华文仿宋" panose="02010600040101010101" pitchFamily="2" charset="-122"/>
                <a:ea typeface="华文仿宋" panose="02010600040101010101" pitchFamily="2" charset="-122"/>
              </a:rPr>
              <a:t>）事前分析估算法</a:t>
            </a:r>
          </a:p>
          <a:p>
            <a:pPr eaLnBrk="1" hangingPunct="1">
              <a:lnSpc>
                <a:spcPct val="80000"/>
              </a:lnSpc>
              <a:buFontTx/>
              <a:buNone/>
            </a:pPr>
            <a:r>
              <a:rPr lang="zh-CN" altLang="en-US" dirty="0">
                <a:latin typeface="华文仿宋" panose="02010600040101010101" pitchFamily="2" charset="-122"/>
                <a:ea typeface="华文仿宋" panose="02010600040101010101" pitchFamily="2" charset="-122"/>
              </a:rPr>
              <a:t>       此方法取决于多个因素：</a:t>
            </a:r>
            <a:endParaRPr lang="en-US" altLang="zh-CN" dirty="0">
              <a:latin typeface="华文仿宋" panose="02010600040101010101" pitchFamily="2" charset="-122"/>
              <a:ea typeface="华文仿宋" panose="02010600040101010101" pitchFamily="2" charset="-122"/>
            </a:endParaRPr>
          </a:p>
          <a:p>
            <a:pPr eaLnBrk="1" hangingPunct="1">
              <a:lnSpc>
                <a:spcPct val="80000"/>
              </a:lnSpc>
              <a:buFontTx/>
              <a:buNone/>
            </a:pPr>
            <a:r>
              <a:rPr lang="zh-CN" altLang="en-US" dirty="0">
                <a:latin typeface="华文仿宋" panose="02010600040101010101" pitchFamily="2" charset="-122"/>
                <a:ea typeface="华文仿宋" panose="02010600040101010101" pitchFamily="2" charset="-122"/>
              </a:rPr>
              <a:t>       算法策略，问题规模，程序语言，编译质量，机器速度等</a:t>
            </a:r>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470165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37113" y="214060"/>
            <a:ext cx="8229600" cy="527050"/>
          </a:xfrm>
        </p:spPr>
        <p:txBody>
          <a:bodyPr rtlCol="0">
            <a:normAutofit fontScale="90000"/>
          </a:bodyPr>
          <a:lstStyle/>
          <a:p>
            <a:pPr>
              <a:defRPr/>
            </a:pPr>
            <a:r>
              <a:rPr lang="en-US" altLang="zh-CN" sz="4000" b="1" dirty="0">
                <a:latin typeface="华文仿宋" panose="02010600040101010101" pitchFamily="2" charset="-122"/>
                <a:ea typeface="华文仿宋" panose="02010600040101010101" pitchFamily="2" charset="-122"/>
              </a:rPr>
              <a:t>1.4 </a:t>
            </a:r>
            <a:r>
              <a:rPr lang="zh-CN" altLang="en-US" sz="4000" b="1" dirty="0">
                <a:latin typeface="华文仿宋" panose="02010600040101010101" pitchFamily="2" charset="-122"/>
                <a:ea typeface="华文仿宋" panose="02010600040101010101" pitchFamily="2" charset="-122"/>
              </a:rPr>
              <a:t>算法和算法分析</a:t>
            </a:r>
          </a:p>
        </p:txBody>
      </p:sp>
      <p:sp>
        <p:nvSpPr>
          <p:cNvPr id="34819" name="Rectangle 3"/>
          <p:cNvSpPr>
            <a:spLocks noGrp="1" noChangeArrowheads="1"/>
          </p:cNvSpPr>
          <p:nvPr>
            <p:ph idx="1"/>
          </p:nvPr>
        </p:nvSpPr>
        <p:spPr>
          <a:xfrm>
            <a:off x="302102" y="1312863"/>
            <a:ext cx="11587795" cy="5545137"/>
          </a:xfrm>
        </p:spPr>
        <p:txBody>
          <a:bodyPr>
            <a:noAutofit/>
          </a:bodyPr>
          <a:lstStyle/>
          <a:p>
            <a:pPr eaLnBrk="1" hangingPunct="1">
              <a:lnSpc>
                <a:spcPct val="80000"/>
              </a:lnSpc>
              <a:buFontTx/>
              <a:buNone/>
            </a:pPr>
            <a:r>
              <a:rPr lang="en-US" altLang="zh-CN" sz="3200" dirty="0">
                <a:latin typeface="华文仿宋" panose="02010600040101010101" pitchFamily="2" charset="-122"/>
                <a:ea typeface="华文仿宋" panose="02010600040101010101" pitchFamily="2" charset="-122"/>
              </a:rPr>
              <a:t>6. </a:t>
            </a:r>
            <a:r>
              <a:rPr lang="zh-CN" altLang="en-US" sz="3200" dirty="0">
                <a:latin typeface="华文仿宋" panose="02010600040101010101" pitchFamily="2" charset="-122"/>
                <a:ea typeface="华文仿宋" panose="02010600040101010101" pitchFamily="2" charset="-122"/>
              </a:rPr>
              <a:t>时间复杂度</a:t>
            </a:r>
          </a:p>
          <a:p>
            <a:pPr eaLnBrk="1" hangingPunct="1">
              <a:lnSpc>
                <a:spcPct val="80000"/>
              </a:lnSpc>
              <a:buFontTx/>
              <a:buNone/>
            </a:pPr>
            <a:r>
              <a:rPr lang="zh-CN" altLang="en-US" sz="3200" dirty="0">
                <a:latin typeface="华文仿宋" panose="02010600040101010101" pitchFamily="2" charset="-122"/>
                <a:ea typeface="华文仿宋" panose="02010600040101010101" pitchFamily="2" charset="-122"/>
              </a:rPr>
              <a:t>（</a:t>
            </a:r>
            <a:r>
              <a:rPr lang="en-US" altLang="zh-CN" sz="3200" dirty="0">
                <a:latin typeface="华文仿宋" panose="02010600040101010101" pitchFamily="2" charset="-122"/>
                <a:ea typeface="华文仿宋" panose="02010600040101010101" pitchFamily="2" charset="-122"/>
              </a:rPr>
              <a:t>1</a:t>
            </a:r>
            <a:r>
              <a:rPr lang="zh-CN" altLang="en-US" sz="3200" dirty="0">
                <a:latin typeface="华文仿宋" panose="02010600040101010101" pitchFamily="2" charset="-122"/>
                <a:ea typeface="华文仿宋" panose="02010600040101010101" pitchFamily="2" charset="-122"/>
              </a:rPr>
              <a:t>）定义：</a:t>
            </a:r>
          </a:p>
          <a:p>
            <a:pPr eaLnBrk="1" hangingPunct="1">
              <a:lnSpc>
                <a:spcPct val="80000"/>
              </a:lnSpc>
              <a:buFontTx/>
              <a:buNone/>
            </a:pPr>
            <a:r>
              <a:rPr lang="zh-CN" altLang="en-US" sz="3200" dirty="0">
                <a:latin typeface="华文仿宋" panose="02010600040101010101" pitchFamily="2" charset="-122"/>
                <a:ea typeface="华文仿宋" panose="02010600040101010101" pitchFamily="2" charset="-122"/>
              </a:rPr>
              <a:t>    一般情况下，算法中</a:t>
            </a:r>
            <a:r>
              <a:rPr lang="zh-CN" altLang="en-US" sz="3200" b="1" dirty="0">
                <a:solidFill>
                  <a:schemeClr val="tx2"/>
                </a:solidFill>
                <a:latin typeface="华文仿宋" panose="02010600040101010101" pitchFamily="2" charset="-122"/>
                <a:ea typeface="华文仿宋" panose="02010600040101010101" pitchFamily="2" charset="-122"/>
              </a:rPr>
              <a:t>基本操作重复执行</a:t>
            </a:r>
            <a:r>
              <a:rPr lang="zh-CN" altLang="en-US" sz="3200" dirty="0">
                <a:latin typeface="华文仿宋" panose="02010600040101010101" pitchFamily="2" charset="-122"/>
                <a:ea typeface="华文仿宋" panose="02010600040101010101" pitchFamily="2" charset="-122"/>
              </a:rPr>
              <a:t>的时间是问题规模</a:t>
            </a:r>
            <a:r>
              <a:rPr lang="en-US" altLang="zh-CN" sz="3200" dirty="0">
                <a:latin typeface="华文仿宋" panose="02010600040101010101" pitchFamily="2" charset="-122"/>
                <a:ea typeface="华文仿宋" panose="02010600040101010101" pitchFamily="2" charset="-122"/>
              </a:rPr>
              <a:t>n</a:t>
            </a:r>
            <a:r>
              <a:rPr lang="zh-CN" altLang="en-US" sz="3200" dirty="0">
                <a:latin typeface="华文仿宋" panose="02010600040101010101" pitchFamily="2" charset="-122"/>
                <a:ea typeface="华文仿宋" panose="02010600040101010101" pitchFamily="2" charset="-122"/>
              </a:rPr>
              <a:t>的某个函数</a:t>
            </a:r>
            <a:r>
              <a:rPr lang="en-US" altLang="zh-CN" sz="3200" dirty="0">
                <a:latin typeface="华文仿宋" panose="02010600040101010101" pitchFamily="2" charset="-122"/>
                <a:ea typeface="华文仿宋" panose="02010600040101010101" pitchFamily="2" charset="-122"/>
              </a:rPr>
              <a:t>f(n)</a:t>
            </a:r>
            <a:r>
              <a:rPr lang="zh-CN" altLang="en-US" sz="3200" dirty="0">
                <a:latin typeface="华文仿宋" panose="02010600040101010101" pitchFamily="2" charset="-122"/>
                <a:ea typeface="华文仿宋" panose="02010600040101010101" pitchFamily="2" charset="-122"/>
              </a:rPr>
              <a:t>，算法的时间量度记作</a:t>
            </a:r>
          </a:p>
          <a:p>
            <a:pPr algn="ctr" eaLnBrk="1" hangingPunct="1">
              <a:lnSpc>
                <a:spcPct val="80000"/>
              </a:lnSpc>
              <a:buFontTx/>
              <a:buNone/>
            </a:pPr>
            <a:r>
              <a:rPr lang="en-US" altLang="zh-CN" sz="3200" dirty="0">
                <a:latin typeface="华文仿宋" panose="02010600040101010101" pitchFamily="2" charset="-122"/>
                <a:ea typeface="华文仿宋" panose="02010600040101010101" pitchFamily="2" charset="-122"/>
              </a:rPr>
              <a:t>T(n) = O(f(n))</a:t>
            </a:r>
          </a:p>
          <a:p>
            <a:pPr eaLnBrk="1" hangingPunct="1">
              <a:lnSpc>
                <a:spcPct val="80000"/>
              </a:lnSpc>
              <a:buFontTx/>
              <a:buNone/>
            </a:pPr>
            <a:r>
              <a:rPr lang="en-US" altLang="zh-CN" sz="3200" dirty="0">
                <a:latin typeface="华文仿宋" panose="02010600040101010101" pitchFamily="2" charset="-122"/>
                <a:ea typeface="华文仿宋" panose="02010600040101010101" pitchFamily="2" charset="-122"/>
              </a:rPr>
              <a:t>    </a:t>
            </a:r>
            <a:r>
              <a:rPr lang="zh-CN" altLang="en-US" sz="3200" dirty="0">
                <a:latin typeface="华文仿宋" panose="02010600040101010101" pitchFamily="2" charset="-122"/>
                <a:ea typeface="华文仿宋" panose="02010600040101010101" pitchFamily="2" charset="-122"/>
              </a:rPr>
              <a:t>它表示随问题规模</a:t>
            </a:r>
            <a:r>
              <a:rPr lang="en-US" altLang="zh-CN" sz="3200" dirty="0">
                <a:latin typeface="华文仿宋" panose="02010600040101010101" pitchFamily="2" charset="-122"/>
                <a:ea typeface="华文仿宋" panose="02010600040101010101" pitchFamily="2" charset="-122"/>
              </a:rPr>
              <a:t>n</a:t>
            </a:r>
            <a:r>
              <a:rPr lang="zh-CN" altLang="en-US" sz="3200" dirty="0">
                <a:latin typeface="华文仿宋" panose="02010600040101010101" pitchFamily="2" charset="-122"/>
                <a:ea typeface="华文仿宋" panose="02010600040101010101" pitchFamily="2" charset="-122"/>
              </a:rPr>
              <a:t>的增大，算法执行时间的增长率和</a:t>
            </a:r>
            <a:r>
              <a:rPr lang="en-US" altLang="zh-CN" sz="3200" dirty="0">
                <a:latin typeface="华文仿宋" panose="02010600040101010101" pitchFamily="2" charset="-122"/>
                <a:ea typeface="华文仿宋" panose="02010600040101010101" pitchFamily="2" charset="-122"/>
              </a:rPr>
              <a:t>f(n)</a:t>
            </a:r>
            <a:r>
              <a:rPr lang="zh-CN" altLang="en-US" sz="3200" dirty="0">
                <a:latin typeface="华文仿宋" panose="02010600040101010101" pitchFamily="2" charset="-122"/>
                <a:ea typeface="华文仿宋" panose="02010600040101010101" pitchFamily="2" charset="-122"/>
              </a:rPr>
              <a:t>的增长率相同，称作算法的渐进时间复杂度，简称</a:t>
            </a:r>
            <a:r>
              <a:rPr lang="zh-CN" altLang="en-US" sz="3200" b="1" dirty="0">
                <a:latin typeface="华文仿宋" panose="02010600040101010101" pitchFamily="2" charset="-122"/>
                <a:ea typeface="华文仿宋" panose="02010600040101010101" pitchFamily="2" charset="-122"/>
              </a:rPr>
              <a:t>时间复杂度</a:t>
            </a:r>
            <a:r>
              <a:rPr lang="zh-CN" altLang="en-US" sz="3200" dirty="0">
                <a:latin typeface="华文仿宋" panose="02010600040101010101" pitchFamily="2" charset="-122"/>
                <a:ea typeface="华文仿宋" panose="02010600040101010101" pitchFamily="2" charset="-122"/>
              </a:rPr>
              <a:t>。</a:t>
            </a:r>
            <a:endParaRPr lang="en-US" altLang="zh-CN" sz="3200" dirty="0">
              <a:latin typeface="华文仿宋" panose="02010600040101010101" pitchFamily="2" charset="-122"/>
              <a:ea typeface="华文仿宋" panose="02010600040101010101" pitchFamily="2" charset="-122"/>
            </a:endParaRPr>
          </a:p>
          <a:p>
            <a:pPr eaLnBrk="1" hangingPunct="1">
              <a:lnSpc>
                <a:spcPct val="80000"/>
              </a:lnSpc>
              <a:buFontTx/>
              <a:buNone/>
            </a:pPr>
            <a:endParaRPr lang="zh-CN" altLang="en-US" sz="3200" dirty="0">
              <a:latin typeface="华文仿宋" panose="02010600040101010101" pitchFamily="2" charset="-122"/>
              <a:ea typeface="华文仿宋" panose="02010600040101010101" pitchFamily="2" charset="-122"/>
            </a:endParaRPr>
          </a:p>
          <a:p>
            <a:pPr eaLnBrk="1" hangingPunct="1">
              <a:lnSpc>
                <a:spcPct val="80000"/>
              </a:lnSpc>
              <a:buFont typeface="Wingdings" panose="05000000000000000000" pitchFamily="2" charset="2"/>
              <a:buChar char="l"/>
            </a:pPr>
            <a:r>
              <a:rPr lang="zh-CN" altLang="en-US" sz="3200" dirty="0">
                <a:latin typeface="华文仿宋" panose="02010600040101010101" pitchFamily="2" charset="-122"/>
                <a:ea typeface="华文仿宋" panose="02010600040101010101" pitchFamily="2" charset="-122"/>
              </a:rPr>
              <a:t>语句的</a:t>
            </a:r>
            <a:r>
              <a:rPr lang="zh-CN" altLang="en-US" sz="3200" b="1" dirty="0">
                <a:latin typeface="华文仿宋" panose="02010600040101010101" pitchFamily="2" charset="-122"/>
                <a:ea typeface="华文仿宋" panose="02010600040101010101" pitchFamily="2" charset="-122"/>
              </a:rPr>
              <a:t>频度</a:t>
            </a:r>
            <a:r>
              <a:rPr lang="zh-CN" altLang="en-US" sz="3200" dirty="0">
                <a:latin typeface="华文仿宋" panose="02010600040101010101" pitchFamily="2" charset="-122"/>
                <a:ea typeface="华文仿宋" panose="02010600040101010101" pitchFamily="2" charset="-122"/>
              </a:rPr>
              <a:t>：该语句重复执行的次数。</a:t>
            </a:r>
          </a:p>
        </p:txBody>
      </p:sp>
    </p:spTree>
    <p:extLst>
      <p:ext uri="{BB962C8B-B14F-4D97-AF65-F5344CB8AC3E}">
        <p14:creationId xmlns:p14="http://schemas.microsoft.com/office/powerpoint/2010/main" val="3626537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640AACB-9182-9661-4BDC-EA12E1496F67}"/>
              </a:ext>
            </a:extLst>
          </p:cNvPr>
          <p:cNvSpPr>
            <a:spLocks noGrp="1"/>
          </p:cNvSpPr>
          <p:nvPr>
            <p:ph idx="1"/>
          </p:nvPr>
        </p:nvSpPr>
        <p:spPr>
          <a:xfrm>
            <a:off x="325734" y="937465"/>
            <a:ext cx="10515600" cy="665904"/>
          </a:xfrm>
        </p:spPr>
        <p:txBody>
          <a:bodyPr/>
          <a:lstStyle/>
          <a:p>
            <a:r>
              <a:rPr lang="en-US" altLang="zh-CN" dirty="0">
                <a:latin typeface="华文仿宋" panose="02010600040101010101" pitchFamily="2" charset="-122"/>
                <a:ea typeface="华文仿宋" panose="02010600040101010101" pitchFamily="2" charset="-122"/>
              </a:rPr>
              <a:t>6. </a:t>
            </a:r>
            <a:r>
              <a:rPr lang="zh-CN" altLang="en-US" dirty="0">
                <a:latin typeface="华文仿宋" panose="02010600040101010101" pitchFamily="2" charset="-122"/>
                <a:ea typeface="华文仿宋" panose="02010600040101010101" pitchFamily="2" charset="-122"/>
              </a:rPr>
              <a:t>时间复杂度</a:t>
            </a:r>
          </a:p>
          <a:p>
            <a:endParaRPr lang="zh-CN" altLang="en-US" dirty="0"/>
          </a:p>
        </p:txBody>
      </p:sp>
      <p:sp>
        <p:nvSpPr>
          <p:cNvPr id="5" name="文本框 4">
            <a:extLst>
              <a:ext uri="{FF2B5EF4-FFF2-40B4-BE49-F238E27FC236}">
                <a16:creationId xmlns:a16="http://schemas.microsoft.com/office/drawing/2014/main" id="{50F0290E-888F-0439-B534-F8AE754A2D77}"/>
              </a:ext>
            </a:extLst>
          </p:cNvPr>
          <p:cNvSpPr txBox="1"/>
          <p:nvPr/>
        </p:nvSpPr>
        <p:spPr>
          <a:xfrm>
            <a:off x="325734" y="1508321"/>
            <a:ext cx="11099242" cy="4977196"/>
          </a:xfrm>
          <a:prstGeom prst="rect">
            <a:avLst/>
          </a:prstGeom>
          <a:noFill/>
        </p:spPr>
        <p:txBody>
          <a:bodyPr wrap="square">
            <a:spAutoFit/>
          </a:bodyPr>
          <a:lstStyle/>
          <a:p>
            <a:pPr eaLnBrk="1" hangingPunct="1">
              <a:lnSpc>
                <a:spcPct val="125000"/>
              </a:lnSpc>
              <a:buFontTx/>
              <a:buNone/>
            </a:pPr>
            <a:r>
              <a:rPr lang="zh-CN" altLang="en-US" sz="3200" dirty="0">
                <a:latin typeface="华文仿宋" panose="02010600040101010101" pitchFamily="2" charset="-122"/>
                <a:ea typeface="华文仿宋" panose="02010600040101010101" pitchFamily="2" charset="-122"/>
              </a:rPr>
              <a:t>（</a:t>
            </a:r>
            <a:r>
              <a:rPr lang="en-US" altLang="zh-CN" sz="3200" dirty="0">
                <a:latin typeface="华文仿宋" panose="02010600040101010101" pitchFamily="2" charset="-122"/>
                <a:ea typeface="华文仿宋" panose="02010600040101010101" pitchFamily="2" charset="-122"/>
              </a:rPr>
              <a:t>2</a:t>
            </a:r>
            <a:r>
              <a:rPr lang="zh-CN" altLang="en-US" sz="3200" dirty="0">
                <a:latin typeface="华文仿宋" panose="02010600040101010101" pitchFamily="2" charset="-122"/>
                <a:ea typeface="华文仿宋" panose="02010600040101010101" pitchFamily="2" charset="-122"/>
              </a:rPr>
              <a:t>）例子</a:t>
            </a:r>
          </a:p>
          <a:p>
            <a:pPr eaLnBrk="1" hangingPunct="1">
              <a:lnSpc>
                <a:spcPct val="125000"/>
              </a:lnSpc>
              <a:buFontTx/>
              <a:buNone/>
            </a:pPr>
            <a:r>
              <a:rPr lang="zh-CN" altLang="en-US" sz="3200" dirty="0">
                <a:latin typeface="华文仿宋" panose="02010600040101010101" pitchFamily="2" charset="-122"/>
                <a:ea typeface="华文仿宋" panose="02010600040101010101" pitchFamily="2" charset="-122"/>
              </a:rPr>
              <a:t>    （</a:t>
            </a:r>
            <a:r>
              <a:rPr lang="en-US" altLang="zh-CN" sz="3200" dirty="0">
                <a:latin typeface="华文仿宋" panose="02010600040101010101" pitchFamily="2" charset="-122"/>
                <a:ea typeface="华文仿宋" panose="02010600040101010101" pitchFamily="2" charset="-122"/>
              </a:rPr>
              <a:t>a</a:t>
            </a:r>
            <a:r>
              <a:rPr lang="zh-CN" altLang="en-US" sz="3200" dirty="0">
                <a:latin typeface="华文仿宋" panose="02010600040101010101" pitchFamily="2" charset="-122"/>
                <a:ea typeface="华文仿宋" panose="02010600040101010101" pitchFamily="2" charset="-122"/>
              </a:rPr>
              <a:t>） </a:t>
            </a:r>
            <a:r>
              <a:rPr lang="en-US" altLang="zh-CN" sz="3200" dirty="0">
                <a:latin typeface="华文仿宋" panose="02010600040101010101" pitchFamily="2" charset="-122"/>
                <a:ea typeface="华文仿宋" panose="02010600040101010101" pitchFamily="2" charset="-122"/>
              </a:rPr>
              <a:t>{++x; s=0 } ++x </a:t>
            </a:r>
            <a:r>
              <a:rPr lang="zh-CN" altLang="en-US" sz="3200" dirty="0">
                <a:latin typeface="华文仿宋" panose="02010600040101010101" pitchFamily="2" charset="-122"/>
                <a:ea typeface="华文仿宋" panose="02010600040101010101" pitchFamily="2" charset="-122"/>
              </a:rPr>
              <a:t>的频度为</a:t>
            </a:r>
            <a:r>
              <a:rPr lang="en-US" altLang="zh-CN" sz="3200" dirty="0">
                <a:latin typeface="华文仿宋" panose="02010600040101010101" pitchFamily="2" charset="-122"/>
                <a:ea typeface="华文仿宋" panose="02010600040101010101" pitchFamily="2" charset="-122"/>
              </a:rPr>
              <a:t>1</a:t>
            </a:r>
          </a:p>
          <a:p>
            <a:pPr eaLnBrk="1" hangingPunct="1">
              <a:lnSpc>
                <a:spcPct val="125000"/>
              </a:lnSpc>
              <a:buFontTx/>
              <a:buNone/>
            </a:pPr>
            <a:r>
              <a:rPr lang="en-US" altLang="zh-CN" sz="3200" dirty="0">
                <a:latin typeface="华文仿宋" panose="02010600040101010101" pitchFamily="2" charset="-122"/>
                <a:ea typeface="华文仿宋" panose="02010600040101010101" pitchFamily="2" charset="-122"/>
              </a:rPr>
              <a:t>    </a:t>
            </a:r>
            <a:r>
              <a:rPr lang="zh-CN" altLang="en-US" sz="3200" dirty="0">
                <a:latin typeface="华文仿宋" panose="02010600040101010101" pitchFamily="2" charset="-122"/>
                <a:ea typeface="华文仿宋" panose="02010600040101010101" pitchFamily="2" charset="-122"/>
              </a:rPr>
              <a:t>（</a:t>
            </a:r>
            <a:r>
              <a:rPr lang="en-US" altLang="zh-CN" sz="3200" dirty="0">
                <a:latin typeface="华文仿宋" panose="02010600040101010101" pitchFamily="2" charset="-122"/>
                <a:ea typeface="华文仿宋" panose="02010600040101010101" pitchFamily="2" charset="-122"/>
              </a:rPr>
              <a:t>b</a:t>
            </a:r>
            <a:r>
              <a:rPr lang="zh-CN" altLang="en-US" sz="3200" dirty="0">
                <a:latin typeface="华文仿宋" panose="02010600040101010101" pitchFamily="2" charset="-122"/>
                <a:ea typeface="华文仿宋" panose="02010600040101010101" pitchFamily="2" charset="-122"/>
              </a:rPr>
              <a:t>） </a:t>
            </a:r>
            <a:r>
              <a:rPr lang="en-US" altLang="zh-CN" sz="3200" dirty="0">
                <a:latin typeface="华文仿宋" panose="02010600040101010101" pitchFamily="2" charset="-122"/>
                <a:ea typeface="华文仿宋" panose="02010600040101010101" pitchFamily="2" charset="-122"/>
              </a:rPr>
              <a:t>for (</a:t>
            </a:r>
            <a:r>
              <a:rPr lang="en-US" altLang="zh-CN" sz="3200" dirty="0" err="1">
                <a:latin typeface="华文仿宋" panose="02010600040101010101" pitchFamily="2" charset="-122"/>
                <a:ea typeface="华文仿宋" panose="02010600040101010101" pitchFamily="2" charset="-122"/>
              </a:rPr>
              <a:t>i</a:t>
            </a:r>
            <a:r>
              <a:rPr lang="en-US" altLang="zh-CN" sz="3200" dirty="0">
                <a:latin typeface="华文仿宋" panose="02010600040101010101" pitchFamily="2" charset="-122"/>
                <a:ea typeface="华文仿宋" panose="02010600040101010101" pitchFamily="2" charset="-122"/>
              </a:rPr>
              <a:t>=1; </a:t>
            </a:r>
            <a:r>
              <a:rPr lang="en-US" altLang="zh-CN" sz="3200" dirty="0" err="1">
                <a:latin typeface="华文仿宋" panose="02010600040101010101" pitchFamily="2" charset="-122"/>
                <a:ea typeface="华文仿宋" panose="02010600040101010101" pitchFamily="2" charset="-122"/>
              </a:rPr>
              <a:t>i</a:t>
            </a:r>
            <a:r>
              <a:rPr lang="en-US" altLang="zh-CN" sz="3200" dirty="0">
                <a:latin typeface="华文仿宋" panose="02010600040101010101" pitchFamily="2" charset="-122"/>
                <a:ea typeface="华文仿宋" panose="02010600040101010101" pitchFamily="2" charset="-122"/>
              </a:rPr>
              <a:t>&lt;=n; ++</a:t>
            </a:r>
            <a:r>
              <a:rPr lang="en-US" altLang="zh-CN" sz="3200" dirty="0" err="1">
                <a:latin typeface="华文仿宋" panose="02010600040101010101" pitchFamily="2" charset="-122"/>
                <a:ea typeface="华文仿宋" panose="02010600040101010101" pitchFamily="2" charset="-122"/>
              </a:rPr>
              <a:t>i</a:t>
            </a:r>
            <a:r>
              <a:rPr lang="en-US" altLang="zh-CN" sz="3200" dirty="0">
                <a:latin typeface="华文仿宋" panose="02010600040101010101" pitchFamily="2" charset="-122"/>
                <a:ea typeface="华文仿宋" panose="02010600040101010101" pitchFamily="2" charset="-122"/>
              </a:rPr>
              <a:t>) {++x; s+=x;} ++x</a:t>
            </a:r>
            <a:r>
              <a:rPr lang="zh-CN" altLang="en-US" sz="3200" dirty="0">
                <a:latin typeface="华文仿宋" panose="02010600040101010101" pitchFamily="2" charset="-122"/>
                <a:ea typeface="华文仿宋" panose="02010600040101010101" pitchFamily="2" charset="-122"/>
              </a:rPr>
              <a:t>的频度为</a:t>
            </a:r>
            <a:r>
              <a:rPr lang="en-US" altLang="zh-CN" sz="3200" dirty="0">
                <a:latin typeface="华文仿宋" panose="02010600040101010101" pitchFamily="2" charset="-122"/>
                <a:ea typeface="华文仿宋" panose="02010600040101010101" pitchFamily="2" charset="-122"/>
              </a:rPr>
              <a:t>n</a:t>
            </a:r>
          </a:p>
          <a:p>
            <a:pPr eaLnBrk="1" hangingPunct="1">
              <a:lnSpc>
                <a:spcPct val="125000"/>
              </a:lnSpc>
              <a:buFontTx/>
              <a:buNone/>
            </a:pPr>
            <a:r>
              <a:rPr lang="en-US" altLang="zh-CN" sz="3200" dirty="0">
                <a:latin typeface="华文仿宋" panose="02010600040101010101" pitchFamily="2" charset="-122"/>
                <a:ea typeface="华文仿宋" panose="02010600040101010101" pitchFamily="2" charset="-122"/>
              </a:rPr>
              <a:t>    </a:t>
            </a:r>
            <a:r>
              <a:rPr lang="zh-CN" altLang="en-US" sz="3200" dirty="0">
                <a:latin typeface="华文仿宋" panose="02010600040101010101" pitchFamily="2" charset="-122"/>
                <a:ea typeface="华文仿宋" panose="02010600040101010101" pitchFamily="2" charset="-122"/>
              </a:rPr>
              <a:t>（</a:t>
            </a:r>
            <a:r>
              <a:rPr lang="en-US" altLang="zh-CN" sz="3200" dirty="0">
                <a:latin typeface="华文仿宋" panose="02010600040101010101" pitchFamily="2" charset="-122"/>
                <a:ea typeface="华文仿宋" panose="02010600040101010101" pitchFamily="2" charset="-122"/>
              </a:rPr>
              <a:t>c</a:t>
            </a:r>
            <a:r>
              <a:rPr lang="zh-CN" altLang="en-US" sz="3200" dirty="0">
                <a:latin typeface="华文仿宋" panose="02010600040101010101" pitchFamily="2" charset="-122"/>
                <a:ea typeface="华文仿宋" panose="02010600040101010101" pitchFamily="2" charset="-122"/>
              </a:rPr>
              <a:t>） </a:t>
            </a:r>
            <a:r>
              <a:rPr lang="en-US" altLang="zh-CN" sz="3200" dirty="0">
                <a:latin typeface="华文仿宋" panose="02010600040101010101" pitchFamily="2" charset="-122"/>
                <a:ea typeface="华文仿宋" panose="02010600040101010101" pitchFamily="2" charset="-122"/>
              </a:rPr>
              <a:t>for (j=1;j&lt;=n;++j)</a:t>
            </a:r>
          </a:p>
          <a:p>
            <a:pPr eaLnBrk="1" hangingPunct="1">
              <a:lnSpc>
                <a:spcPct val="125000"/>
              </a:lnSpc>
              <a:buFontTx/>
              <a:buNone/>
            </a:pPr>
            <a:r>
              <a:rPr lang="en-US" altLang="zh-CN" sz="3200" dirty="0">
                <a:latin typeface="华文仿宋" panose="02010600040101010101" pitchFamily="2" charset="-122"/>
                <a:ea typeface="华文仿宋" panose="02010600040101010101" pitchFamily="2" charset="-122"/>
              </a:rPr>
              <a:t>                   for (k=1;k&lt;=n;++k) {++x; s+=x;} ++x</a:t>
            </a:r>
            <a:r>
              <a:rPr lang="zh-CN" altLang="en-US" sz="3200" dirty="0">
                <a:latin typeface="华文仿宋" panose="02010600040101010101" pitchFamily="2" charset="-122"/>
                <a:ea typeface="华文仿宋" panose="02010600040101010101" pitchFamily="2" charset="-122"/>
              </a:rPr>
              <a:t>的频度为</a:t>
            </a:r>
            <a:r>
              <a:rPr lang="en-US" altLang="zh-CN" sz="3200" dirty="0">
                <a:latin typeface="华文仿宋" panose="02010600040101010101" pitchFamily="2" charset="-122"/>
                <a:ea typeface="华文仿宋" panose="02010600040101010101" pitchFamily="2" charset="-122"/>
              </a:rPr>
              <a:t>n</a:t>
            </a:r>
            <a:r>
              <a:rPr lang="en-US" altLang="zh-CN" sz="3200" baseline="30000" dirty="0">
                <a:latin typeface="华文仿宋" panose="02010600040101010101" pitchFamily="2" charset="-122"/>
                <a:ea typeface="华文仿宋" panose="02010600040101010101" pitchFamily="2" charset="-122"/>
              </a:rPr>
              <a:t>2</a:t>
            </a:r>
            <a:endParaRPr lang="en-US" altLang="zh-CN" sz="3200" dirty="0">
              <a:latin typeface="华文仿宋" panose="02010600040101010101" pitchFamily="2" charset="-122"/>
              <a:ea typeface="华文仿宋" panose="02010600040101010101" pitchFamily="2" charset="-122"/>
            </a:endParaRPr>
          </a:p>
          <a:p>
            <a:pPr eaLnBrk="1" hangingPunct="1">
              <a:lnSpc>
                <a:spcPct val="125000"/>
              </a:lnSpc>
              <a:buFont typeface="Wingdings" panose="05000000000000000000" pitchFamily="2" charset="2"/>
              <a:buChar char="l"/>
            </a:pPr>
            <a:r>
              <a:rPr lang="zh-CN" altLang="en-US" sz="3200" dirty="0">
                <a:latin typeface="华文仿宋" panose="02010600040101010101" pitchFamily="2" charset="-122"/>
                <a:ea typeface="华文仿宋" panose="02010600040101010101" pitchFamily="2" charset="-122"/>
              </a:rPr>
              <a:t>理解</a:t>
            </a:r>
            <a:r>
              <a:rPr lang="en-US" altLang="zh-CN" sz="3200" dirty="0">
                <a:latin typeface="华文仿宋" panose="02010600040101010101" pitchFamily="2" charset="-122"/>
                <a:ea typeface="华文仿宋" panose="02010600040101010101" pitchFamily="2" charset="-122"/>
              </a:rPr>
              <a:t>:  </a:t>
            </a:r>
          </a:p>
          <a:p>
            <a:pPr eaLnBrk="1" hangingPunct="1">
              <a:lnSpc>
                <a:spcPct val="125000"/>
              </a:lnSpc>
            </a:pPr>
            <a:r>
              <a:rPr lang="en-US" altLang="zh-CN" sz="3200" dirty="0">
                <a:latin typeface="华文仿宋" panose="02010600040101010101" pitchFamily="2" charset="-122"/>
                <a:ea typeface="华文仿宋" panose="02010600040101010101" pitchFamily="2" charset="-122"/>
              </a:rPr>
              <a:t>      a) n*n+4*n=O(n*n)</a:t>
            </a:r>
            <a:r>
              <a:rPr lang="zh-CN" altLang="en-US" sz="3200" dirty="0">
                <a:latin typeface="华文仿宋" panose="02010600040101010101" pitchFamily="2" charset="-122"/>
                <a:ea typeface="华文仿宋" panose="02010600040101010101" pitchFamily="2" charset="-122"/>
              </a:rPr>
              <a:t>；</a:t>
            </a:r>
          </a:p>
          <a:p>
            <a:pPr eaLnBrk="1" hangingPunct="1">
              <a:lnSpc>
                <a:spcPct val="125000"/>
              </a:lnSpc>
              <a:buFontTx/>
              <a:buNone/>
            </a:pPr>
            <a:r>
              <a:rPr lang="en-US" altLang="zh-CN" sz="3200" dirty="0">
                <a:latin typeface="华文仿宋" panose="02010600040101010101" pitchFamily="2" charset="-122"/>
                <a:ea typeface="华文仿宋" panose="02010600040101010101" pitchFamily="2" charset="-122"/>
              </a:rPr>
              <a:t>      b) n</a:t>
            </a:r>
            <a:r>
              <a:rPr lang="zh-CN" altLang="en-US" sz="3200" dirty="0">
                <a:latin typeface="华文仿宋" panose="02010600040101010101" pitchFamily="2" charset="-122"/>
                <a:ea typeface="华文仿宋" panose="02010600040101010101" pitchFamily="2" charset="-122"/>
              </a:rPr>
              <a:t>的平方或</a:t>
            </a:r>
            <a:r>
              <a:rPr lang="en-US" altLang="zh-CN" sz="3200" dirty="0">
                <a:latin typeface="华文仿宋" panose="02010600040101010101" pitchFamily="2" charset="-122"/>
                <a:ea typeface="华文仿宋" panose="02010600040101010101" pitchFamily="2" charset="-122"/>
              </a:rPr>
              <a:t>n</a:t>
            </a:r>
            <a:r>
              <a:rPr lang="zh-CN" altLang="en-US" sz="3200" dirty="0">
                <a:latin typeface="华文仿宋" panose="02010600040101010101" pitchFamily="2" charset="-122"/>
                <a:ea typeface="华文仿宋" panose="02010600040101010101" pitchFamily="2" charset="-122"/>
              </a:rPr>
              <a:t>的</a:t>
            </a:r>
            <a:r>
              <a:rPr lang="en-US" altLang="zh-CN" sz="3200" dirty="0">
                <a:latin typeface="华文仿宋" panose="02010600040101010101" pitchFamily="2" charset="-122"/>
                <a:ea typeface="华文仿宋" panose="02010600040101010101" pitchFamily="2" charset="-122"/>
              </a:rPr>
              <a:t>2000</a:t>
            </a:r>
            <a:r>
              <a:rPr lang="zh-CN" altLang="en-US" sz="3200" dirty="0">
                <a:latin typeface="华文仿宋" panose="02010600040101010101" pitchFamily="2" charset="-122"/>
                <a:ea typeface="华文仿宋" panose="02010600040101010101" pitchFamily="2" charset="-122"/>
              </a:rPr>
              <a:t>次方总没有</a:t>
            </a:r>
            <a:r>
              <a:rPr lang="en-US" altLang="zh-CN" sz="3200" dirty="0">
                <a:latin typeface="华文仿宋" panose="02010600040101010101" pitchFamily="2" charset="-122"/>
                <a:ea typeface="华文仿宋" panose="02010600040101010101" pitchFamily="2" charset="-122"/>
              </a:rPr>
              <a:t>2</a:t>
            </a:r>
            <a:r>
              <a:rPr lang="zh-CN" altLang="en-US" sz="3200" dirty="0">
                <a:latin typeface="华文仿宋" panose="02010600040101010101" pitchFamily="2" charset="-122"/>
                <a:ea typeface="华文仿宋" panose="02010600040101010101" pitchFamily="2" charset="-122"/>
              </a:rPr>
              <a:t>的</a:t>
            </a:r>
            <a:r>
              <a:rPr lang="en-US" altLang="zh-CN" sz="3200" dirty="0">
                <a:latin typeface="华文仿宋" panose="02010600040101010101" pitchFamily="2" charset="-122"/>
                <a:ea typeface="华文仿宋" panose="02010600040101010101" pitchFamily="2" charset="-122"/>
              </a:rPr>
              <a:t>n</a:t>
            </a:r>
            <a:r>
              <a:rPr lang="zh-CN" altLang="en-US" sz="3200" dirty="0">
                <a:latin typeface="华文仿宋" panose="02010600040101010101" pitchFamily="2" charset="-122"/>
                <a:ea typeface="华文仿宋" panose="02010600040101010101" pitchFamily="2" charset="-122"/>
              </a:rPr>
              <a:t>次方增长快 </a:t>
            </a:r>
          </a:p>
        </p:txBody>
      </p:sp>
      <p:sp>
        <p:nvSpPr>
          <p:cNvPr id="6" name="Rectangle 2">
            <a:extLst>
              <a:ext uri="{FF2B5EF4-FFF2-40B4-BE49-F238E27FC236}">
                <a16:creationId xmlns:a16="http://schemas.microsoft.com/office/drawing/2014/main" id="{87F78781-14C3-86D8-C841-5A70F886697F}"/>
              </a:ext>
            </a:extLst>
          </p:cNvPr>
          <p:cNvSpPr>
            <a:spLocks noGrp="1" noChangeArrowheads="1"/>
          </p:cNvSpPr>
          <p:nvPr>
            <p:ph type="title"/>
          </p:nvPr>
        </p:nvSpPr>
        <p:spPr>
          <a:xfrm>
            <a:off x="237113" y="214060"/>
            <a:ext cx="8229600" cy="527050"/>
          </a:xfrm>
        </p:spPr>
        <p:txBody>
          <a:bodyPr rtlCol="0">
            <a:normAutofit fontScale="90000"/>
          </a:bodyPr>
          <a:lstStyle/>
          <a:p>
            <a:pPr>
              <a:defRPr/>
            </a:pPr>
            <a:r>
              <a:rPr lang="en-US" altLang="zh-CN" sz="4000" b="1" dirty="0">
                <a:latin typeface="华文仿宋" panose="02010600040101010101" pitchFamily="2" charset="-122"/>
                <a:ea typeface="华文仿宋" panose="02010600040101010101" pitchFamily="2" charset="-122"/>
              </a:rPr>
              <a:t>1.4 </a:t>
            </a:r>
            <a:r>
              <a:rPr lang="zh-CN" altLang="en-US" sz="4000" b="1" dirty="0">
                <a:latin typeface="华文仿宋" panose="02010600040101010101" pitchFamily="2" charset="-122"/>
                <a:ea typeface="华文仿宋" panose="02010600040101010101" pitchFamily="2" charset="-122"/>
              </a:rPr>
              <a:t>算法和算法分析</a:t>
            </a:r>
          </a:p>
        </p:txBody>
      </p:sp>
    </p:spTree>
    <p:extLst>
      <p:ext uri="{BB962C8B-B14F-4D97-AF65-F5344CB8AC3E}">
        <p14:creationId xmlns:p14="http://schemas.microsoft.com/office/powerpoint/2010/main" val="1351003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47482" y="187100"/>
            <a:ext cx="10515600" cy="1325563"/>
          </a:xfrm>
        </p:spPr>
        <p:txBody>
          <a:bodyPr/>
          <a:lstStyle/>
          <a:p>
            <a:pPr eaLnBrk="1" hangingPunct="1"/>
            <a:r>
              <a:rPr lang="zh-CN" altLang="en-US" b="1" dirty="0">
                <a:latin typeface="华文仿宋" panose="02010600040101010101" pitchFamily="2" charset="-122"/>
                <a:ea typeface="华文仿宋" panose="02010600040101010101" pitchFamily="2" charset="-122"/>
              </a:rPr>
              <a:t>大</a:t>
            </a:r>
            <a:r>
              <a:rPr lang="en-US" altLang="zh-CN" b="1" dirty="0">
                <a:latin typeface="华文仿宋" panose="02010600040101010101" pitchFamily="2" charset="-122"/>
                <a:ea typeface="华文仿宋" panose="02010600040101010101" pitchFamily="2" charset="-122"/>
              </a:rPr>
              <a:t>O</a:t>
            </a:r>
            <a:r>
              <a:rPr lang="zh-CN" altLang="en-US" b="1" dirty="0">
                <a:latin typeface="华文仿宋" panose="02010600040101010101" pitchFamily="2" charset="-122"/>
                <a:ea typeface="华文仿宋" panose="02010600040101010101" pitchFamily="2" charset="-122"/>
              </a:rPr>
              <a:t>运算规则</a:t>
            </a:r>
          </a:p>
        </p:txBody>
      </p:sp>
      <p:sp>
        <p:nvSpPr>
          <p:cNvPr id="35843" name="Rectangle 3"/>
          <p:cNvSpPr>
            <a:spLocks noGrp="1" noChangeArrowheads="1"/>
          </p:cNvSpPr>
          <p:nvPr>
            <p:ph idx="1"/>
          </p:nvPr>
        </p:nvSpPr>
        <p:spPr>
          <a:xfrm>
            <a:off x="247482" y="1582863"/>
            <a:ext cx="11944518" cy="4583267"/>
          </a:xfrm>
        </p:spPr>
        <p:txBody>
          <a:bodyPr/>
          <a:lstStyle/>
          <a:p>
            <a:pPr eaLnBrk="1" hangingPunct="1">
              <a:buFontTx/>
              <a:buNone/>
            </a:pPr>
            <a:r>
              <a:rPr lang="zh-CN" altLang="en-US" dirty="0">
                <a:latin typeface="华文仿宋" panose="02010600040101010101" pitchFamily="2" charset="-122"/>
                <a:ea typeface="华文仿宋" panose="02010600040101010101" pitchFamily="2" charset="-122"/>
              </a:rPr>
              <a:t>规则</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a:t>
            </a:r>
            <a:r>
              <a:rPr lang="en-US" altLang="zh-CN" dirty="0" err="1">
                <a:latin typeface="华文仿宋" panose="02010600040101010101" pitchFamily="2" charset="-122"/>
                <a:ea typeface="华文仿宋" panose="02010600040101010101" pitchFamily="2" charset="-122"/>
              </a:rPr>
              <a:t>kf</a:t>
            </a:r>
            <a:r>
              <a:rPr lang="en-US" altLang="zh-CN" dirty="0">
                <a:latin typeface="华文仿宋" panose="02010600040101010101" pitchFamily="2" charset="-122"/>
                <a:ea typeface="华文仿宋" panose="02010600040101010101" pitchFamily="2" charset="-122"/>
              </a:rPr>
              <a:t>(n)=O(f(n))  </a:t>
            </a:r>
            <a:r>
              <a:rPr lang="zh-CN" altLang="en-US" dirty="0">
                <a:latin typeface="华文仿宋" panose="02010600040101010101" pitchFamily="2" charset="-122"/>
                <a:ea typeface="华文仿宋" panose="02010600040101010101" pitchFamily="2" charset="-122"/>
              </a:rPr>
              <a:t>大</a:t>
            </a:r>
            <a:r>
              <a:rPr lang="en-US" altLang="zh-CN" dirty="0">
                <a:latin typeface="华文仿宋" panose="02010600040101010101" pitchFamily="2" charset="-122"/>
                <a:ea typeface="华文仿宋" panose="02010600040101010101" pitchFamily="2" charset="-122"/>
              </a:rPr>
              <a:t>O</a:t>
            </a:r>
            <a:r>
              <a:rPr lang="zh-CN" altLang="en-US" dirty="0">
                <a:latin typeface="华文仿宋" panose="02010600040101010101" pitchFamily="2" charset="-122"/>
                <a:ea typeface="华文仿宋" panose="02010600040101010101" pitchFamily="2" charset="-122"/>
              </a:rPr>
              <a:t>忽略常数因子</a:t>
            </a:r>
            <a:endParaRPr lang="en-US" altLang="zh-CN" dirty="0">
              <a:latin typeface="华文仿宋" panose="02010600040101010101" pitchFamily="2" charset="-122"/>
              <a:ea typeface="华文仿宋" panose="02010600040101010101" pitchFamily="2" charset="-122"/>
            </a:endParaRPr>
          </a:p>
          <a:p>
            <a:pPr eaLnBrk="1" hangingPunct="1">
              <a:buFontTx/>
              <a:buNone/>
            </a:pPr>
            <a:endParaRPr lang="zh-CN" altLang="en-US" dirty="0">
              <a:latin typeface="华文仿宋" panose="02010600040101010101" pitchFamily="2" charset="-122"/>
              <a:ea typeface="华文仿宋" panose="02010600040101010101" pitchFamily="2" charset="-122"/>
            </a:endParaRPr>
          </a:p>
          <a:p>
            <a:pPr eaLnBrk="1" hangingPunct="1">
              <a:buFontTx/>
              <a:buNone/>
            </a:pPr>
            <a:r>
              <a:rPr lang="zh-CN" altLang="en-US" dirty="0">
                <a:latin typeface="华文仿宋" panose="02010600040101010101" pitchFamily="2" charset="-122"/>
                <a:ea typeface="华文仿宋" panose="02010600040101010101" pitchFamily="2" charset="-122"/>
              </a:rPr>
              <a:t>规则</a:t>
            </a: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if  f(n) = O(g(n))and g(n)=O(h(n)) then f(n)=O(h(n)) </a:t>
            </a:r>
            <a:r>
              <a:rPr lang="zh-CN" altLang="en-US" dirty="0">
                <a:latin typeface="华文仿宋" panose="02010600040101010101" pitchFamily="2" charset="-122"/>
                <a:ea typeface="华文仿宋" panose="02010600040101010101" pitchFamily="2" charset="-122"/>
              </a:rPr>
              <a:t>传递性</a:t>
            </a:r>
            <a:endParaRPr lang="en-US" altLang="zh-CN" dirty="0">
              <a:latin typeface="华文仿宋" panose="02010600040101010101" pitchFamily="2" charset="-122"/>
              <a:ea typeface="华文仿宋" panose="02010600040101010101" pitchFamily="2" charset="-122"/>
            </a:endParaRPr>
          </a:p>
          <a:p>
            <a:pPr eaLnBrk="1" hangingPunct="1">
              <a:buFontTx/>
              <a:buNone/>
            </a:pPr>
            <a:endParaRPr lang="zh-CN" altLang="en-US" dirty="0">
              <a:latin typeface="华文仿宋" panose="02010600040101010101" pitchFamily="2" charset="-122"/>
              <a:ea typeface="华文仿宋" panose="02010600040101010101" pitchFamily="2" charset="-122"/>
            </a:endParaRPr>
          </a:p>
          <a:p>
            <a:pPr eaLnBrk="1" hangingPunct="1">
              <a:buFontTx/>
              <a:buNone/>
            </a:pPr>
            <a:r>
              <a:rPr lang="zh-CN" altLang="en-US" dirty="0">
                <a:latin typeface="华文仿宋" panose="02010600040101010101" pitchFamily="2" charset="-122"/>
                <a:ea typeface="华文仿宋" panose="02010600040101010101" pitchFamily="2" charset="-122"/>
              </a:rPr>
              <a:t>规则</a:t>
            </a:r>
            <a:r>
              <a:rPr lang="en-US" altLang="zh-CN" dirty="0">
                <a:latin typeface="华文仿宋" panose="02010600040101010101" pitchFamily="2" charset="-122"/>
                <a:ea typeface="华文仿宋" panose="02010600040101010101" pitchFamily="2" charset="-122"/>
              </a:rPr>
              <a:t>3</a:t>
            </a: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f(n) + g(n)= O(max{f(n),g(n)})</a:t>
            </a:r>
          </a:p>
          <a:p>
            <a:pPr eaLnBrk="1" hangingPunct="1">
              <a:buFontTx/>
              <a:buNone/>
            </a:pPr>
            <a:endParaRPr lang="en-US" altLang="zh-CN" dirty="0">
              <a:latin typeface="华文仿宋" panose="02010600040101010101" pitchFamily="2" charset="-122"/>
              <a:ea typeface="华文仿宋" panose="02010600040101010101" pitchFamily="2" charset="-122"/>
            </a:endParaRPr>
          </a:p>
          <a:p>
            <a:pPr eaLnBrk="1" hangingPunct="1">
              <a:buFontTx/>
              <a:buNone/>
            </a:pPr>
            <a:r>
              <a:rPr lang="zh-CN" altLang="en-US" dirty="0">
                <a:latin typeface="华文仿宋" panose="02010600040101010101" pitchFamily="2" charset="-122"/>
                <a:ea typeface="华文仿宋" panose="02010600040101010101" pitchFamily="2" charset="-122"/>
              </a:rPr>
              <a:t>规则</a:t>
            </a:r>
            <a:r>
              <a:rPr lang="en-US" altLang="zh-CN" dirty="0">
                <a:latin typeface="华文仿宋" panose="02010600040101010101" pitchFamily="2" charset="-122"/>
                <a:ea typeface="华文仿宋" panose="02010600040101010101" pitchFamily="2" charset="-122"/>
              </a:rPr>
              <a:t>4</a:t>
            </a: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if  f1(n)=O(g1(n)) and f2(n)=O(g2(n))then               </a:t>
            </a:r>
          </a:p>
          <a:p>
            <a:pPr eaLnBrk="1" hangingPunct="1">
              <a:buFontTx/>
              <a:buNone/>
            </a:pPr>
            <a:r>
              <a:rPr lang="en-US" altLang="zh-CN" dirty="0"/>
              <a:t>                                                                 </a:t>
            </a:r>
            <a:r>
              <a:rPr lang="en-US" altLang="zh-CN" dirty="0">
                <a:latin typeface="华文仿宋" panose="02010600040101010101" pitchFamily="2" charset="-122"/>
                <a:ea typeface="华文仿宋" panose="02010600040101010101" pitchFamily="2" charset="-122"/>
              </a:rPr>
              <a:t>f1(n)*f2(n)=O(g1(n)*g2(n))</a:t>
            </a:r>
          </a:p>
          <a:p>
            <a:pPr eaLnBrk="1" hangingPunct="1"/>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215368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Grp="1" noRot="1" noChangeArrowheads="1"/>
          </p:cNvSpPr>
          <p:nvPr>
            <p:ph type="title"/>
          </p:nvPr>
        </p:nvSpPr>
        <p:spPr>
          <a:xfrm>
            <a:off x="300460" y="633455"/>
            <a:ext cx="8229600" cy="527050"/>
          </a:xfrm>
        </p:spPr>
        <p:txBody>
          <a:bodyPr rtlCol="0">
            <a:normAutofit fontScale="90000"/>
          </a:bodyPr>
          <a:lstStyle/>
          <a:p>
            <a:pPr>
              <a:defRPr/>
            </a:pPr>
            <a:r>
              <a:rPr lang="en-US" altLang="zh-CN" sz="4000" b="1" dirty="0">
                <a:latin typeface="华文仿宋" panose="02010600040101010101" pitchFamily="2" charset="-122"/>
                <a:ea typeface="华文仿宋" panose="02010600040101010101" pitchFamily="2" charset="-122"/>
              </a:rPr>
              <a:t>1.4 </a:t>
            </a:r>
            <a:r>
              <a:rPr lang="zh-CN" altLang="en-US" sz="4000" b="1" dirty="0">
                <a:latin typeface="华文仿宋" panose="02010600040101010101" pitchFamily="2" charset="-122"/>
                <a:ea typeface="华文仿宋" panose="02010600040101010101" pitchFamily="2" charset="-122"/>
              </a:rPr>
              <a:t>算法和算法分析</a:t>
            </a:r>
          </a:p>
        </p:txBody>
      </p:sp>
      <p:sp>
        <p:nvSpPr>
          <p:cNvPr id="36867" name="Rectangle 3"/>
          <p:cNvSpPr>
            <a:spLocks noGrp="1" noChangeArrowheads="1"/>
          </p:cNvSpPr>
          <p:nvPr>
            <p:ph idx="1"/>
          </p:nvPr>
        </p:nvSpPr>
        <p:spPr>
          <a:xfrm>
            <a:off x="633857" y="1739259"/>
            <a:ext cx="10992086" cy="4351338"/>
          </a:xfrm>
        </p:spPr>
        <p:txBody>
          <a:bodyPr/>
          <a:lstStyle/>
          <a:p>
            <a:pPr eaLnBrk="1" hangingPunct="1">
              <a:buFont typeface="Wingdings" panose="05000000000000000000" pitchFamily="2" charset="2"/>
              <a:buChar char="l"/>
            </a:pPr>
            <a:r>
              <a:rPr lang="zh-CN" altLang="en-US" b="1" dirty="0">
                <a:latin typeface="华文仿宋" panose="02010600040101010101" pitchFamily="2" charset="-122"/>
                <a:ea typeface="华文仿宋" panose="02010600040101010101" pitchFamily="2" charset="-122"/>
              </a:rPr>
              <a:t>最佳、最差、平均时间复杂度</a:t>
            </a:r>
            <a:endParaRPr lang="en-US" altLang="zh-CN" b="1" dirty="0">
              <a:latin typeface="华文仿宋" panose="02010600040101010101" pitchFamily="2" charset="-122"/>
              <a:ea typeface="华文仿宋" panose="02010600040101010101" pitchFamily="2" charset="-122"/>
            </a:endParaRPr>
          </a:p>
          <a:p>
            <a:pPr marL="0" indent="0" eaLnBrk="1" hangingPunct="1">
              <a:buNone/>
            </a:pPr>
            <a:endParaRPr lang="zh-CN" altLang="en-US" dirty="0">
              <a:latin typeface="华文仿宋" panose="02010600040101010101" pitchFamily="2" charset="-122"/>
              <a:ea typeface="华文仿宋" panose="02010600040101010101" pitchFamily="2" charset="-122"/>
            </a:endParaRPr>
          </a:p>
          <a:p>
            <a:pPr lvl="1" eaLnBrk="1" hangingPunct="1">
              <a:buFont typeface="Wingdings" panose="05000000000000000000" pitchFamily="2" charset="2"/>
              <a:buChar char="l"/>
            </a:pPr>
            <a:r>
              <a:rPr lang="zh-CN" altLang="en-US" sz="2800" dirty="0">
                <a:latin typeface="华文仿宋" panose="02010600040101010101" pitchFamily="2" charset="-122"/>
                <a:ea typeface="华文仿宋" panose="02010600040101010101" pitchFamily="2" charset="-122"/>
              </a:rPr>
              <a:t>无法精确计算基本操作的执行次数（频度）时，只须求出其关于</a:t>
            </a:r>
            <a:r>
              <a:rPr lang="en-US" altLang="zh-CN" sz="2800" dirty="0">
                <a:latin typeface="华文仿宋" panose="02010600040101010101" pitchFamily="2" charset="-122"/>
                <a:ea typeface="华文仿宋" panose="02010600040101010101" pitchFamily="2" charset="-122"/>
              </a:rPr>
              <a:t>n</a:t>
            </a:r>
            <a:r>
              <a:rPr lang="zh-CN" altLang="en-US" sz="2800" dirty="0">
                <a:latin typeface="华文仿宋" panose="02010600040101010101" pitchFamily="2" charset="-122"/>
                <a:ea typeface="华文仿宋" panose="02010600040101010101" pitchFamily="2" charset="-122"/>
              </a:rPr>
              <a:t>的增长率</a:t>
            </a:r>
            <a:endParaRPr lang="en-US" altLang="zh-CN" sz="2800" dirty="0">
              <a:latin typeface="华文仿宋" panose="02010600040101010101" pitchFamily="2" charset="-122"/>
              <a:ea typeface="华文仿宋" panose="02010600040101010101" pitchFamily="2" charset="-122"/>
            </a:endParaRPr>
          </a:p>
          <a:p>
            <a:pPr marL="457200" lvl="1" indent="0" eaLnBrk="1" hangingPunct="1">
              <a:buNone/>
            </a:pPr>
            <a:endParaRPr lang="zh-CN" altLang="en-US" sz="2800" dirty="0">
              <a:latin typeface="华文仿宋" panose="02010600040101010101" pitchFamily="2" charset="-122"/>
              <a:ea typeface="华文仿宋" panose="02010600040101010101" pitchFamily="2" charset="-122"/>
            </a:endParaRPr>
          </a:p>
          <a:p>
            <a:pPr lvl="1" eaLnBrk="1" hangingPunct="1">
              <a:buFont typeface="Wingdings" panose="05000000000000000000" pitchFamily="2" charset="2"/>
              <a:buChar char="l"/>
            </a:pPr>
            <a:r>
              <a:rPr lang="zh-CN" altLang="en-US" sz="2800" dirty="0">
                <a:latin typeface="华文仿宋" panose="02010600040101010101" pitchFamily="2" charset="-122"/>
                <a:ea typeface="华文仿宋" panose="02010600040101010101" pitchFamily="2" charset="-122"/>
              </a:rPr>
              <a:t>与输入数据集有关，如冒泡程序，可考虑平均时间复杂度和最坏情况下的时间复杂度</a:t>
            </a:r>
          </a:p>
          <a:p>
            <a:pPr eaLnBrk="1" hangingPunct="1"/>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781355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04" name="Rectangle 108"/>
          <p:cNvSpPr>
            <a:spLocks noGrp="1" noRot="1" noChangeArrowheads="1"/>
          </p:cNvSpPr>
          <p:nvPr>
            <p:ph type="title"/>
          </p:nvPr>
        </p:nvSpPr>
        <p:spPr>
          <a:xfrm>
            <a:off x="425275" y="361584"/>
            <a:ext cx="8229600" cy="527050"/>
          </a:xfrm>
        </p:spPr>
        <p:txBody>
          <a:bodyPr rtlCol="0">
            <a:normAutofit fontScale="90000"/>
          </a:bodyPr>
          <a:lstStyle/>
          <a:p>
            <a:pPr>
              <a:defRPr/>
            </a:pPr>
            <a:r>
              <a:rPr lang="en-US" altLang="zh-CN" sz="4000" b="1" dirty="0">
                <a:latin typeface="华文仿宋" panose="02010600040101010101" pitchFamily="2" charset="-122"/>
                <a:ea typeface="华文仿宋" panose="02010600040101010101" pitchFamily="2" charset="-122"/>
              </a:rPr>
              <a:t>1.4 </a:t>
            </a:r>
            <a:r>
              <a:rPr lang="zh-CN" altLang="en-US" sz="4000" b="1" dirty="0">
                <a:latin typeface="华文仿宋" panose="02010600040101010101" pitchFamily="2" charset="-122"/>
                <a:ea typeface="华文仿宋" panose="02010600040101010101" pitchFamily="2" charset="-122"/>
              </a:rPr>
              <a:t>算法和算法分析</a:t>
            </a:r>
          </a:p>
        </p:txBody>
      </p:sp>
      <p:graphicFrame>
        <p:nvGraphicFramePr>
          <p:cNvPr id="55403" name="Group 107"/>
          <p:cNvGraphicFramePr>
            <a:graphicFrameLocks noGrp="1"/>
          </p:cNvGraphicFramePr>
          <p:nvPr>
            <p:ph idx="1"/>
            <p:extLst>
              <p:ext uri="{D42A27DB-BD31-4B8C-83A1-F6EECF244321}">
                <p14:modId xmlns:p14="http://schemas.microsoft.com/office/powerpoint/2010/main" val="343430777"/>
              </p:ext>
            </p:extLst>
          </p:nvPr>
        </p:nvGraphicFramePr>
        <p:xfrm>
          <a:off x="913878" y="1293819"/>
          <a:ext cx="10772354" cy="5305802"/>
        </p:xfrm>
        <a:graphic>
          <a:graphicData uri="http://schemas.openxmlformats.org/drawingml/2006/table">
            <a:tbl>
              <a:tblPr/>
              <a:tblGrid>
                <a:gridCol w="1140015">
                  <a:extLst>
                    <a:ext uri="{9D8B030D-6E8A-4147-A177-3AD203B41FA5}">
                      <a16:colId xmlns:a16="http://schemas.microsoft.com/office/drawing/2014/main" val="20000"/>
                    </a:ext>
                  </a:extLst>
                </a:gridCol>
                <a:gridCol w="1140015">
                  <a:extLst>
                    <a:ext uri="{9D8B030D-6E8A-4147-A177-3AD203B41FA5}">
                      <a16:colId xmlns:a16="http://schemas.microsoft.com/office/drawing/2014/main" val="20001"/>
                    </a:ext>
                  </a:extLst>
                </a:gridCol>
                <a:gridCol w="874804">
                  <a:extLst>
                    <a:ext uri="{9D8B030D-6E8A-4147-A177-3AD203B41FA5}">
                      <a16:colId xmlns:a16="http://schemas.microsoft.com/office/drawing/2014/main" val="20002"/>
                    </a:ext>
                  </a:extLst>
                </a:gridCol>
                <a:gridCol w="1405227">
                  <a:extLst>
                    <a:ext uri="{9D8B030D-6E8A-4147-A177-3AD203B41FA5}">
                      <a16:colId xmlns:a16="http://schemas.microsoft.com/office/drawing/2014/main" val="20003"/>
                    </a:ext>
                  </a:extLst>
                </a:gridCol>
                <a:gridCol w="1140015">
                  <a:extLst>
                    <a:ext uri="{9D8B030D-6E8A-4147-A177-3AD203B41FA5}">
                      <a16:colId xmlns:a16="http://schemas.microsoft.com/office/drawing/2014/main" val="20004"/>
                    </a:ext>
                  </a:extLst>
                </a:gridCol>
                <a:gridCol w="1140015">
                  <a:extLst>
                    <a:ext uri="{9D8B030D-6E8A-4147-A177-3AD203B41FA5}">
                      <a16:colId xmlns:a16="http://schemas.microsoft.com/office/drawing/2014/main" val="20005"/>
                    </a:ext>
                  </a:extLst>
                </a:gridCol>
                <a:gridCol w="1140015">
                  <a:extLst>
                    <a:ext uri="{9D8B030D-6E8A-4147-A177-3AD203B41FA5}">
                      <a16:colId xmlns:a16="http://schemas.microsoft.com/office/drawing/2014/main" val="20006"/>
                    </a:ext>
                  </a:extLst>
                </a:gridCol>
                <a:gridCol w="1445770">
                  <a:extLst>
                    <a:ext uri="{9D8B030D-6E8A-4147-A177-3AD203B41FA5}">
                      <a16:colId xmlns:a16="http://schemas.microsoft.com/office/drawing/2014/main" val="20007"/>
                    </a:ext>
                  </a:extLst>
                </a:gridCol>
                <a:gridCol w="1346478">
                  <a:extLst>
                    <a:ext uri="{9D8B030D-6E8A-4147-A177-3AD203B41FA5}">
                      <a16:colId xmlns:a16="http://schemas.microsoft.com/office/drawing/2014/main" val="20008"/>
                    </a:ext>
                  </a:extLst>
                </a:gridCol>
              </a:tblGrid>
              <a:tr h="779838">
                <a:tc gridSpan="9">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表：时间复杂度和算法运行时间的关系</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131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  T(n)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O(</a:t>
                      </a:r>
                      <a:r>
                        <a:rPr kumimoji="0" lang="en-US" altLang="zh-CN" sz="2400" b="0" i="0" u="none" strike="noStrike" cap="none" normalizeH="0" baseline="0" dirty="0" err="1">
                          <a:ln>
                            <a:noFill/>
                          </a:ln>
                          <a:solidFill>
                            <a:schemeClr val="tx1"/>
                          </a:solidFill>
                          <a:effectLst/>
                          <a:latin typeface="华文仿宋" panose="02010600040101010101" pitchFamily="2" charset="-122"/>
                          <a:ea typeface="华文仿宋" panose="02010600040101010101" pitchFamily="2" charset="-122"/>
                        </a:rPr>
                        <a:t>logn</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O(</a:t>
                      </a:r>
                      <a:r>
                        <a:rPr kumimoji="0" lang="en-US" altLang="zh-CN" sz="2400" b="0" i="0" u="none" strike="noStrike" cap="none" normalizeH="0" baseline="0" dirty="0" err="1">
                          <a:ln>
                            <a:noFill/>
                          </a:ln>
                          <a:solidFill>
                            <a:schemeClr val="tx1"/>
                          </a:solidFill>
                          <a:effectLst/>
                          <a:latin typeface="华文仿宋" panose="02010600040101010101" pitchFamily="2" charset="-122"/>
                          <a:ea typeface="华文仿宋" panose="02010600040101010101" pitchFamily="2" charset="-122"/>
                        </a:rPr>
                        <a:t>nlogn</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O(n</a:t>
                      </a:r>
                      <a:r>
                        <a:rPr kumimoji="0" lang="en-US" altLang="zh-CN" sz="2400" b="0" i="0" u="none" strike="noStrike" cap="none" normalizeH="0" baseline="30000" dirty="0">
                          <a:ln>
                            <a:noFill/>
                          </a:ln>
                          <a:solidFill>
                            <a:schemeClr val="tx1"/>
                          </a:solidFill>
                          <a:effectLst/>
                          <a:latin typeface="华文仿宋" panose="02010600040101010101" pitchFamily="2" charset="-122"/>
                          <a:ea typeface="华文仿宋" panose="02010600040101010101" pitchFamily="2" charset="-122"/>
                        </a:rPr>
                        <a:t>2</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O(n</a:t>
                      </a:r>
                      <a:r>
                        <a:rPr kumimoji="0" lang="en-US" altLang="zh-CN" sz="2400" b="0" i="0" u="none" strike="noStrike" kern="1200" cap="none" normalizeH="0" baseline="30000" dirty="0">
                          <a:ln>
                            <a:noFill/>
                          </a:ln>
                          <a:solidFill>
                            <a:schemeClr val="tx1"/>
                          </a:solidFill>
                          <a:effectLst/>
                          <a:latin typeface="华文仿宋" panose="02010600040101010101" pitchFamily="2" charset="-122"/>
                          <a:ea typeface="华文仿宋" panose="02010600040101010101" pitchFamily="2" charset="-122"/>
                          <a:cs typeface="+mn-cs"/>
                        </a:rPr>
                        <a:t>3</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O(n</a:t>
                      </a:r>
                      <a:r>
                        <a:rPr kumimoji="0" lang="en-US" altLang="zh-CN" sz="2400" b="0" i="0" u="none" strike="noStrike" kern="1200" cap="none" normalizeH="0" baseline="30000" dirty="0">
                          <a:ln>
                            <a:noFill/>
                          </a:ln>
                          <a:solidFill>
                            <a:schemeClr val="tx1"/>
                          </a:solidFill>
                          <a:effectLst/>
                          <a:latin typeface="华文仿宋" panose="02010600040101010101" pitchFamily="2" charset="-122"/>
                          <a:ea typeface="华文仿宋" panose="02010600040101010101" pitchFamily="2" charset="-122"/>
                          <a:cs typeface="+mn-cs"/>
                        </a:rPr>
                        <a:t>5</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O(2</a:t>
                      </a:r>
                      <a:r>
                        <a:rPr kumimoji="0" lang="en-US" altLang="zh-CN" sz="2400" b="0" i="0" u="none" strike="noStrike" kern="1200" cap="none" normalizeH="0" baseline="30000" dirty="0">
                          <a:ln>
                            <a:noFill/>
                          </a:ln>
                          <a:solidFill>
                            <a:schemeClr val="tx1"/>
                          </a:solidFill>
                          <a:effectLst/>
                          <a:latin typeface="华文仿宋" panose="02010600040101010101" pitchFamily="2" charset="-122"/>
                          <a:ea typeface="华文仿宋" panose="02010600040101010101" pitchFamily="2" charset="-122"/>
                          <a:cs typeface="+mn-cs"/>
                        </a:rPr>
                        <a:t>n</a:t>
                      </a: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1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4.3us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20us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86.4us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400us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8ms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3.2s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1.05s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771</a:t>
                      </a: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世纪</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30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40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64ms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1.7min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12.7</a:t>
                      </a: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2.59*1032</a:t>
                      </a: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世纪</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31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354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3600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216ms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13min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366</a:t>
                      </a: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世纪</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2.64*1066</a:t>
                      </a:r>
                      <a:r>
                        <a:rPr kumimoji="0" lang="zh-CN" altLang="en-US" sz="2400" b="0" i="0" u="none" strike="noStrike" cap="none" normalizeH="0" baseline="0" dirty="0">
                          <a:ln>
                            <a:noFill/>
                          </a:ln>
                          <a:solidFill>
                            <a:schemeClr val="tx1"/>
                          </a:solidFill>
                          <a:effectLst/>
                          <a:latin typeface="华文仿宋" panose="02010600040101010101" pitchFamily="2" charset="-122"/>
                          <a:ea typeface="华文仿宋" panose="02010600040101010101" pitchFamily="2" charset="-122"/>
                        </a:rPr>
                        <a:t>世纪</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74440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1"/>
          </p:nvPr>
        </p:nvSpPr>
        <p:spPr>
          <a:xfrm>
            <a:off x="320238" y="1453497"/>
            <a:ext cx="11464411" cy="4700588"/>
          </a:xfrm>
        </p:spPr>
        <p:txBody>
          <a:bodyPr/>
          <a:lstStyle/>
          <a:p>
            <a:pPr eaLnBrk="1" hangingPunct="1">
              <a:buFontTx/>
              <a:buNone/>
            </a:pPr>
            <a:r>
              <a:rPr lang="zh-CN" altLang="en-US" dirty="0">
                <a:latin typeface="华文仿宋" panose="02010600040101010101" pitchFamily="2" charset="-122"/>
                <a:ea typeface="华文仿宋" panose="02010600040101010101" pitchFamily="2" charset="-122"/>
              </a:rPr>
              <a:t>结论：</a:t>
            </a: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）当</a:t>
            </a:r>
            <a:r>
              <a:rPr lang="en-US" altLang="zh-CN" dirty="0">
                <a:latin typeface="华文仿宋" panose="02010600040101010101" pitchFamily="2" charset="-122"/>
                <a:ea typeface="华文仿宋" panose="02010600040101010101" pitchFamily="2" charset="-122"/>
              </a:rPr>
              <a:t>f(n)</a:t>
            </a:r>
            <a:r>
              <a:rPr lang="zh-CN" altLang="en-US" dirty="0">
                <a:latin typeface="华文仿宋" panose="02010600040101010101" pitchFamily="2" charset="-122"/>
                <a:ea typeface="华文仿宋" panose="02010600040101010101" pitchFamily="2" charset="-122"/>
              </a:rPr>
              <a:t>为对数函数、幂函数、或它们的乘积时，算法的运行时间是可以接受的，称这些算法是有效算法；当</a:t>
            </a:r>
            <a:r>
              <a:rPr lang="en-US" altLang="zh-CN" dirty="0">
                <a:latin typeface="华文仿宋" panose="02010600040101010101" pitchFamily="2" charset="-122"/>
                <a:ea typeface="华文仿宋" panose="02010600040101010101" pitchFamily="2" charset="-122"/>
              </a:rPr>
              <a:t>f(n)</a:t>
            </a:r>
            <a:r>
              <a:rPr lang="zh-CN" altLang="en-US" dirty="0">
                <a:latin typeface="华文仿宋" panose="02010600040101010101" pitchFamily="2" charset="-122"/>
                <a:ea typeface="华文仿宋" panose="02010600040101010101" pitchFamily="2" charset="-122"/>
              </a:rPr>
              <a:t>为指数函数或阶乘函数时，算法的运行时间是不可接受的，称这些算法是无效的算法。</a:t>
            </a:r>
            <a:endParaRPr lang="en-US" altLang="zh-CN" dirty="0">
              <a:latin typeface="华文仿宋" panose="02010600040101010101" pitchFamily="2" charset="-122"/>
              <a:ea typeface="华文仿宋" panose="02010600040101010101" pitchFamily="2" charset="-122"/>
            </a:endParaRPr>
          </a:p>
          <a:p>
            <a:pPr eaLnBrk="1" hangingPunct="1">
              <a:buFontTx/>
              <a:buNone/>
            </a:pPr>
            <a:endParaRPr lang="zh-CN" altLang="en-US" dirty="0">
              <a:latin typeface="华文仿宋" panose="02010600040101010101" pitchFamily="2" charset="-122"/>
              <a:ea typeface="华文仿宋" panose="02010600040101010101" pitchFamily="2" charset="-122"/>
            </a:endParaRP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）随着</a:t>
            </a:r>
            <a:r>
              <a:rPr lang="en-US" altLang="zh-CN" dirty="0">
                <a:latin typeface="华文仿宋" panose="02010600040101010101" pitchFamily="2" charset="-122"/>
                <a:ea typeface="华文仿宋" panose="02010600040101010101" pitchFamily="2" charset="-122"/>
              </a:rPr>
              <a:t>n</a:t>
            </a:r>
            <a:r>
              <a:rPr lang="zh-CN" altLang="en-US" dirty="0">
                <a:latin typeface="华文仿宋" panose="02010600040101010101" pitchFamily="2" charset="-122"/>
                <a:ea typeface="华文仿宋" panose="02010600040101010101" pitchFamily="2" charset="-122"/>
              </a:rPr>
              <a:t>值的增大，增长速度各不相同，</a:t>
            </a:r>
            <a:r>
              <a:rPr lang="en-US" altLang="zh-CN" dirty="0">
                <a:latin typeface="华文仿宋" panose="02010600040101010101" pitchFamily="2" charset="-122"/>
                <a:ea typeface="华文仿宋" panose="02010600040101010101" pitchFamily="2" charset="-122"/>
              </a:rPr>
              <a:t>n</a:t>
            </a:r>
            <a:r>
              <a:rPr lang="zh-CN" altLang="en-US" dirty="0">
                <a:latin typeface="华文仿宋" panose="02010600040101010101" pitchFamily="2" charset="-122"/>
                <a:ea typeface="华文仿宋" panose="02010600040101010101" pitchFamily="2" charset="-122"/>
              </a:rPr>
              <a:t>足够大时，存在下列关系：</a:t>
            </a:r>
          </a:p>
          <a:p>
            <a:pPr lvl="1" eaLnBrk="1" hangingPunct="1">
              <a:buFontTx/>
              <a:buNone/>
            </a:pPr>
            <a:endParaRPr lang="zh-CN" altLang="en-US" dirty="0">
              <a:latin typeface="华文仿宋" panose="02010600040101010101" pitchFamily="2" charset="-122"/>
              <a:ea typeface="华文仿宋" panose="02010600040101010101" pitchFamily="2" charset="-122"/>
            </a:endParaRPr>
          </a:p>
          <a:p>
            <a:pPr lvl="1" eaLnBrk="1" hangingPunct="1">
              <a:buFontTx/>
              <a:buNone/>
            </a:pPr>
            <a:r>
              <a:rPr lang="zh-CN" altLang="en-US" dirty="0">
                <a:latin typeface="华文仿宋" panose="02010600040101010101" pitchFamily="2" charset="-122"/>
                <a:ea typeface="华文仿宋" panose="02010600040101010101" pitchFamily="2" charset="-122"/>
              </a:rPr>
              <a:t>     对数函数</a:t>
            </a:r>
            <a:r>
              <a:rPr lang="en-US" altLang="zh-CN" dirty="0">
                <a:latin typeface="华文仿宋" panose="02010600040101010101" pitchFamily="2" charset="-122"/>
                <a:ea typeface="华文仿宋" panose="02010600040101010101" pitchFamily="2" charset="-122"/>
              </a:rPr>
              <a:t>&lt;</a:t>
            </a:r>
            <a:r>
              <a:rPr lang="zh-CN" altLang="en-US" dirty="0">
                <a:latin typeface="华文仿宋" panose="02010600040101010101" pitchFamily="2" charset="-122"/>
                <a:ea typeface="华文仿宋" panose="02010600040101010101" pitchFamily="2" charset="-122"/>
              </a:rPr>
              <a:t>幂函数</a:t>
            </a:r>
            <a:r>
              <a:rPr lang="en-US" altLang="zh-CN" dirty="0">
                <a:latin typeface="华文仿宋" panose="02010600040101010101" pitchFamily="2" charset="-122"/>
                <a:ea typeface="华文仿宋" panose="02010600040101010101" pitchFamily="2" charset="-122"/>
              </a:rPr>
              <a:t>&lt;</a:t>
            </a:r>
            <a:r>
              <a:rPr lang="zh-CN" altLang="en-US" dirty="0">
                <a:latin typeface="华文仿宋" panose="02010600040101010101" pitchFamily="2" charset="-122"/>
                <a:ea typeface="华文仿宋" panose="02010600040101010101" pitchFamily="2" charset="-122"/>
              </a:rPr>
              <a:t>指数函数</a:t>
            </a:r>
          </a:p>
        </p:txBody>
      </p:sp>
      <p:sp>
        <p:nvSpPr>
          <p:cNvPr id="38915" name="Rectangle 4"/>
          <p:cNvSpPr>
            <a:spLocks noRot="1" noChangeArrowheads="1"/>
          </p:cNvSpPr>
          <p:nvPr/>
        </p:nvSpPr>
        <p:spPr bwMode="auto">
          <a:xfrm>
            <a:off x="320239" y="375901"/>
            <a:ext cx="5542441"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4000" b="1" dirty="0">
                <a:solidFill>
                  <a:schemeClr val="tx2"/>
                </a:solidFill>
                <a:latin typeface="华文仿宋" panose="02010600040101010101" pitchFamily="2" charset="-122"/>
                <a:ea typeface="华文仿宋" panose="02010600040101010101" pitchFamily="2" charset="-122"/>
              </a:rPr>
              <a:t>1.4 </a:t>
            </a:r>
            <a:r>
              <a:rPr lang="zh-CN" altLang="en-US" sz="4000" b="1" dirty="0">
                <a:solidFill>
                  <a:schemeClr val="tx2"/>
                </a:solidFill>
                <a:latin typeface="华文仿宋" panose="02010600040101010101" pitchFamily="2" charset="-122"/>
                <a:ea typeface="华文仿宋" panose="02010600040101010101" pitchFamily="2" charset="-122"/>
              </a:rPr>
              <a:t>算法和算法分析</a:t>
            </a:r>
          </a:p>
        </p:txBody>
      </p:sp>
    </p:spTree>
    <p:extLst>
      <p:ext uri="{BB962C8B-B14F-4D97-AF65-F5344CB8AC3E}">
        <p14:creationId xmlns:p14="http://schemas.microsoft.com/office/powerpoint/2010/main" val="3476618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Rot="1" noChangeArrowheads="1"/>
          </p:cNvSpPr>
          <p:nvPr>
            <p:ph type="title"/>
          </p:nvPr>
        </p:nvSpPr>
        <p:spPr>
          <a:noFill/>
        </p:spPr>
        <p:txBody>
          <a:bodyPr/>
          <a:lstStyle/>
          <a:p>
            <a:pPr eaLnBrk="1" hangingPunct="1"/>
            <a:r>
              <a:rPr lang="en-US" altLang="zh-CN" b="1" dirty="0">
                <a:latin typeface="华文仿宋" panose="02010600040101010101" pitchFamily="2" charset="-122"/>
                <a:ea typeface="华文仿宋" panose="02010600040101010101" pitchFamily="2" charset="-122"/>
              </a:rPr>
              <a:t>1.4 </a:t>
            </a:r>
            <a:r>
              <a:rPr lang="zh-CN" altLang="en-US" b="1" dirty="0">
                <a:latin typeface="华文仿宋" panose="02010600040101010101" pitchFamily="2" charset="-122"/>
                <a:ea typeface="华文仿宋" panose="02010600040101010101" pitchFamily="2" charset="-122"/>
              </a:rPr>
              <a:t>算法和算法分析</a:t>
            </a:r>
          </a:p>
        </p:txBody>
      </p:sp>
      <p:sp>
        <p:nvSpPr>
          <p:cNvPr id="39939" name="Rectangle 3"/>
          <p:cNvSpPr>
            <a:spLocks noGrp="1" noChangeArrowheads="1"/>
          </p:cNvSpPr>
          <p:nvPr>
            <p:ph idx="1"/>
          </p:nvPr>
        </p:nvSpPr>
        <p:spPr/>
        <p:txBody>
          <a:bodyPr/>
          <a:lstStyle/>
          <a:p>
            <a:pPr eaLnBrk="1" hangingPunct="1">
              <a:lnSpc>
                <a:spcPct val="80000"/>
              </a:lnSpc>
              <a:buFontTx/>
              <a:buNone/>
            </a:pPr>
            <a:r>
              <a:rPr lang="en-US" altLang="zh-CN" sz="2400" dirty="0">
                <a:latin typeface="华文仿宋" panose="02010600040101010101" pitchFamily="2" charset="-122"/>
                <a:ea typeface="华文仿宋" panose="02010600040101010101" pitchFamily="2" charset="-122"/>
              </a:rPr>
              <a:t>    O(1)           </a:t>
            </a:r>
            <a:r>
              <a:rPr lang="zh-CN" altLang="en-US" sz="2400" dirty="0">
                <a:latin typeface="华文仿宋" panose="02010600040101010101" pitchFamily="2" charset="-122"/>
                <a:ea typeface="华文仿宋" panose="02010600040101010101" pitchFamily="2" charset="-122"/>
              </a:rPr>
              <a:t>常量阶，与</a:t>
            </a:r>
            <a:r>
              <a:rPr lang="en-US" altLang="zh-CN" sz="2400" dirty="0">
                <a:latin typeface="华文仿宋" panose="02010600040101010101" pitchFamily="2" charset="-122"/>
                <a:ea typeface="华文仿宋" panose="02010600040101010101" pitchFamily="2" charset="-122"/>
              </a:rPr>
              <a:t>n</a:t>
            </a:r>
            <a:r>
              <a:rPr lang="zh-CN" altLang="en-US" sz="2400" dirty="0">
                <a:latin typeface="华文仿宋" panose="02010600040101010101" pitchFamily="2" charset="-122"/>
                <a:ea typeface="华文仿宋" panose="02010600040101010101" pitchFamily="2" charset="-122"/>
              </a:rPr>
              <a:t>无关</a:t>
            </a:r>
          </a:p>
          <a:p>
            <a:pPr eaLnBrk="1" hangingPunct="1">
              <a:lnSpc>
                <a:spcPct val="80000"/>
              </a:lnSpc>
              <a:buFontTx/>
              <a:buNone/>
            </a:pPr>
            <a:r>
              <a:rPr lang="zh-CN" altLang="en-US" sz="2400" dirty="0">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rPr>
              <a:t>O(log n)        </a:t>
            </a:r>
            <a:r>
              <a:rPr lang="en-US" altLang="zh-CN" sz="2400" dirty="0" err="1">
                <a:latin typeface="华文仿宋" panose="02010600040101010101" pitchFamily="2" charset="-122"/>
                <a:ea typeface="华文仿宋" panose="02010600040101010101" pitchFamily="2" charset="-122"/>
              </a:rPr>
              <a:t>logn</a:t>
            </a:r>
            <a:r>
              <a:rPr lang="zh-CN" altLang="en-US" sz="2400" dirty="0">
                <a:latin typeface="华文仿宋" panose="02010600040101010101" pitchFamily="2" charset="-122"/>
                <a:ea typeface="华文仿宋" panose="02010600040101010101" pitchFamily="2" charset="-122"/>
              </a:rPr>
              <a:t>阶</a:t>
            </a:r>
          </a:p>
          <a:p>
            <a:pPr eaLnBrk="1" hangingPunct="1">
              <a:lnSpc>
                <a:spcPct val="80000"/>
              </a:lnSpc>
              <a:buFontTx/>
              <a:buNone/>
            </a:pPr>
            <a:r>
              <a:rPr lang="zh-CN" altLang="en-US" sz="2400" dirty="0">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rPr>
              <a:t>O(n)            n</a:t>
            </a:r>
            <a:r>
              <a:rPr lang="zh-CN" altLang="en-US" sz="2400" dirty="0">
                <a:latin typeface="华文仿宋" panose="02010600040101010101" pitchFamily="2" charset="-122"/>
                <a:ea typeface="华文仿宋" panose="02010600040101010101" pitchFamily="2" charset="-122"/>
              </a:rPr>
              <a:t>阶</a:t>
            </a:r>
          </a:p>
          <a:p>
            <a:pPr eaLnBrk="1" hangingPunct="1">
              <a:lnSpc>
                <a:spcPct val="80000"/>
              </a:lnSpc>
              <a:buFontTx/>
              <a:buNone/>
            </a:pPr>
            <a:r>
              <a:rPr lang="zh-CN" altLang="en-US" sz="2400" dirty="0">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rPr>
              <a:t>O(</a:t>
            </a:r>
            <a:r>
              <a:rPr lang="en-US" altLang="zh-CN" sz="2400" dirty="0" err="1">
                <a:latin typeface="华文仿宋" panose="02010600040101010101" pitchFamily="2" charset="-122"/>
                <a:ea typeface="华文仿宋" panose="02010600040101010101" pitchFamily="2" charset="-122"/>
              </a:rPr>
              <a:t>nlogn</a:t>
            </a:r>
            <a:r>
              <a:rPr lang="en-US" altLang="zh-CN" sz="2400" dirty="0">
                <a:latin typeface="华文仿宋" panose="02010600040101010101" pitchFamily="2" charset="-122"/>
                <a:ea typeface="华文仿宋" panose="02010600040101010101" pitchFamily="2" charset="-122"/>
              </a:rPr>
              <a:t>)        </a:t>
            </a:r>
            <a:r>
              <a:rPr lang="en-US" altLang="zh-CN" sz="2400" dirty="0" err="1">
                <a:latin typeface="华文仿宋" panose="02010600040101010101" pitchFamily="2" charset="-122"/>
                <a:ea typeface="华文仿宋" panose="02010600040101010101" pitchFamily="2" charset="-122"/>
              </a:rPr>
              <a:t>nlogn</a:t>
            </a:r>
            <a:r>
              <a:rPr lang="zh-CN" altLang="en-US" sz="2400" dirty="0">
                <a:latin typeface="华文仿宋" panose="02010600040101010101" pitchFamily="2" charset="-122"/>
                <a:ea typeface="华文仿宋" panose="02010600040101010101" pitchFamily="2" charset="-122"/>
              </a:rPr>
              <a:t>阶</a:t>
            </a:r>
          </a:p>
          <a:p>
            <a:pPr eaLnBrk="1" hangingPunct="1">
              <a:lnSpc>
                <a:spcPct val="80000"/>
              </a:lnSpc>
              <a:buFontTx/>
              <a:buNone/>
            </a:pPr>
            <a:r>
              <a:rPr lang="zh-CN" altLang="en-US" sz="2400" dirty="0">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rPr>
              <a:t>O(n</a:t>
            </a:r>
            <a:r>
              <a:rPr lang="en-US" altLang="zh-CN" sz="2400" baseline="30000" dirty="0">
                <a:latin typeface="华文仿宋" panose="02010600040101010101" pitchFamily="2" charset="-122"/>
                <a:ea typeface="华文仿宋" panose="02010600040101010101" pitchFamily="2" charset="-122"/>
              </a:rPr>
              <a:t>2</a:t>
            </a:r>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平方阶</a:t>
            </a:r>
          </a:p>
          <a:p>
            <a:pPr eaLnBrk="1" hangingPunct="1">
              <a:lnSpc>
                <a:spcPct val="80000"/>
              </a:lnSpc>
              <a:buFontTx/>
              <a:buNone/>
            </a:pPr>
            <a:r>
              <a:rPr lang="zh-CN" altLang="en-US" sz="2400" dirty="0">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rPr>
              <a:t>O(n</a:t>
            </a:r>
            <a:r>
              <a:rPr lang="en-US" altLang="zh-CN" sz="2400" baseline="30000" dirty="0">
                <a:latin typeface="华文仿宋" panose="02010600040101010101" pitchFamily="2" charset="-122"/>
                <a:ea typeface="华文仿宋" panose="02010600040101010101" pitchFamily="2" charset="-122"/>
              </a:rPr>
              <a:t>3</a:t>
            </a:r>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立方阶</a:t>
            </a:r>
          </a:p>
          <a:p>
            <a:pPr eaLnBrk="1" hangingPunct="1">
              <a:lnSpc>
                <a:spcPct val="80000"/>
              </a:lnSpc>
              <a:buFontTx/>
              <a:buNone/>
            </a:pPr>
            <a:r>
              <a:rPr lang="zh-CN" altLang="en-US" sz="2400" dirty="0">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rPr>
              <a:t>O(2</a:t>
            </a:r>
            <a:r>
              <a:rPr lang="en-US" altLang="zh-CN" sz="2400" baseline="30000" dirty="0">
                <a:latin typeface="华文仿宋" panose="02010600040101010101" pitchFamily="2" charset="-122"/>
                <a:ea typeface="华文仿宋" panose="02010600040101010101" pitchFamily="2" charset="-122"/>
              </a:rPr>
              <a:t>n</a:t>
            </a:r>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指数阶</a:t>
            </a:r>
          </a:p>
          <a:p>
            <a:pPr eaLnBrk="1" hangingPunct="1">
              <a:lnSpc>
                <a:spcPct val="80000"/>
              </a:lnSpc>
              <a:buFontTx/>
              <a:buNone/>
            </a:pPr>
            <a:r>
              <a:rPr lang="zh-CN" altLang="en-US" sz="2400" dirty="0">
                <a:latin typeface="华文仿宋" panose="02010600040101010101" pitchFamily="2" charset="-122"/>
                <a:ea typeface="华文仿宋" panose="02010600040101010101" pitchFamily="2" charset="-122"/>
              </a:rPr>
              <a:t>    </a:t>
            </a:r>
            <a:endParaRPr lang="en-US" altLang="zh-CN" sz="2400" dirty="0">
              <a:latin typeface="华文仿宋" panose="02010600040101010101" pitchFamily="2" charset="-122"/>
              <a:ea typeface="华文仿宋" panose="02010600040101010101" pitchFamily="2" charset="-122"/>
            </a:endParaRPr>
          </a:p>
          <a:p>
            <a:pPr eaLnBrk="1" hangingPunct="1">
              <a:lnSpc>
                <a:spcPct val="80000"/>
              </a:lnSpc>
              <a:buFontTx/>
              <a:buNone/>
            </a:pPr>
            <a:r>
              <a:rPr lang="en-US" altLang="zh-CN" sz="2400" dirty="0">
                <a:latin typeface="华文仿宋" panose="02010600040101010101" pitchFamily="2" charset="-122"/>
                <a:ea typeface="华文仿宋" panose="02010600040101010101" pitchFamily="2" charset="-122"/>
              </a:rPr>
              <a:t> </a:t>
            </a:r>
            <a:r>
              <a:rPr lang="zh-CN" altLang="en-US" sz="2400" dirty="0">
                <a:latin typeface="华文仿宋" panose="02010600040101010101" pitchFamily="2" charset="-122"/>
                <a:ea typeface="华文仿宋" panose="02010600040101010101" pitchFamily="2" charset="-122"/>
              </a:rPr>
              <a:t>尽量少用指数阶的算法</a:t>
            </a:r>
          </a:p>
          <a:p>
            <a:pPr eaLnBrk="1" hangingPunct="1">
              <a:lnSpc>
                <a:spcPct val="80000"/>
              </a:lnSpc>
              <a:buFont typeface="Wingdings" panose="05000000000000000000" pitchFamily="2" charset="2"/>
              <a:buChar char="l"/>
            </a:pPr>
            <a:r>
              <a:rPr lang="zh-CN" altLang="en-US" sz="2400" dirty="0">
                <a:latin typeface="华文仿宋" panose="02010600040101010101" pitchFamily="2" charset="-122"/>
                <a:ea typeface="华文仿宋" panose="02010600040101010101" pitchFamily="2" charset="-122"/>
              </a:rPr>
              <a:t>说明：除特别指明外，均指最坏情况下的时间复杂度</a:t>
            </a:r>
          </a:p>
        </p:txBody>
      </p:sp>
    </p:spTree>
    <p:extLst>
      <p:ext uri="{BB962C8B-B14F-4D97-AF65-F5344CB8AC3E}">
        <p14:creationId xmlns:p14="http://schemas.microsoft.com/office/powerpoint/2010/main" val="2543854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25734" y="254593"/>
            <a:ext cx="10515600" cy="1325563"/>
          </a:xfrm>
        </p:spPr>
        <p:txBody>
          <a:bodyPr/>
          <a:lstStyle/>
          <a:p>
            <a:pPr eaLnBrk="1" hangingPunct="1"/>
            <a:r>
              <a:rPr lang="en-US" altLang="zh-CN" b="1" dirty="0">
                <a:latin typeface="华文仿宋" panose="02010600040101010101" pitchFamily="2" charset="-122"/>
                <a:ea typeface="华文仿宋" panose="02010600040101010101" pitchFamily="2" charset="-122"/>
              </a:rPr>
              <a:t>1.4 </a:t>
            </a:r>
            <a:r>
              <a:rPr lang="zh-CN" altLang="en-US" b="1" dirty="0">
                <a:latin typeface="华文仿宋" panose="02010600040101010101" pitchFamily="2" charset="-122"/>
                <a:ea typeface="华文仿宋" panose="02010600040101010101" pitchFamily="2" charset="-122"/>
              </a:rPr>
              <a:t>算法和算法分析</a:t>
            </a:r>
          </a:p>
        </p:txBody>
      </p:sp>
      <p:sp>
        <p:nvSpPr>
          <p:cNvPr id="40963" name="Rectangle 3"/>
          <p:cNvSpPr>
            <a:spLocks noGrp="1" noChangeArrowheads="1"/>
          </p:cNvSpPr>
          <p:nvPr>
            <p:ph idx="1"/>
          </p:nvPr>
        </p:nvSpPr>
        <p:spPr>
          <a:xfrm>
            <a:off x="582627" y="1714500"/>
            <a:ext cx="11029444" cy="4679950"/>
          </a:xfrm>
        </p:spPr>
        <p:txBody>
          <a:bodyPr/>
          <a:lstStyle/>
          <a:p>
            <a:pPr eaLnBrk="1" hangingPunct="1">
              <a:buFontTx/>
              <a:buNone/>
            </a:pPr>
            <a:r>
              <a:rPr lang="zh-CN" altLang="en-US" dirty="0">
                <a:latin typeface="华文仿宋" panose="02010600040101010101" pitchFamily="2" charset="-122"/>
                <a:ea typeface="华文仿宋" panose="02010600040101010101" pitchFamily="2" charset="-122"/>
              </a:rPr>
              <a:t>空间复杂度</a:t>
            </a: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）存储算法本身所占用的空间</a:t>
            </a: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）算法的输入</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输出数据占用的空间</a:t>
            </a:r>
          </a:p>
          <a:p>
            <a:pPr eaLnBrk="1" hangingPunct="1">
              <a:buFontTx/>
              <a:buNone/>
            </a:pP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3</a:t>
            </a:r>
            <a:r>
              <a:rPr lang="zh-CN" altLang="en-US" dirty="0">
                <a:latin typeface="华文仿宋" panose="02010600040101010101" pitchFamily="2" charset="-122"/>
                <a:ea typeface="华文仿宋" panose="02010600040101010101" pitchFamily="2" charset="-122"/>
              </a:rPr>
              <a:t>）算法在运行过程中临时占用的辅助空间</a:t>
            </a:r>
            <a:endParaRPr lang="en-US" altLang="zh-CN" dirty="0">
              <a:latin typeface="华文仿宋" panose="02010600040101010101" pitchFamily="2" charset="-122"/>
              <a:ea typeface="华文仿宋" panose="02010600040101010101" pitchFamily="2" charset="-122"/>
            </a:endParaRPr>
          </a:p>
          <a:p>
            <a:pPr eaLnBrk="1" hangingPunct="1">
              <a:buFontTx/>
              <a:buNone/>
            </a:pPr>
            <a:endParaRPr lang="zh-CN" altLang="en-US" dirty="0">
              <a:latin typeface="华文仿宋" panose="02010600040101010101" pitchFamily="2" charset="-122"/>
              <a:ea typeface="华文仿宋" panose="02010600040101010101" pitchFamily="2" charset="-122"/>
            </a:endParaRPr>
          </a:p>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原地工作：若辅助空间相对于输入数据量是常数，则称此算法是原地工作。</a:t>
            </a:r>
          </a:p>
          <a:p>
            <a:pPr eaLnBrk="1" hangingPunct="1">
              <a:buFont typeface="Wingdings" panose="05000000000000000000" pitchFamily="2" charset="2"/>
              <a:buChar char="l"/>
            </a:pPr>
            <a:r>
              <a:rPr lang="zh-CN" altLang="en-US" dirty="0">
                <a:latin typeface="华文仿宋" panose="02010600040101010101" pitchFamily="2" charset="-122"/>
                <a:ea typeface="华文仿宋" panose="02010600040101010101" pitchFamily="2" charset="-122"/>
              </a:rPr>
              <a:t>若所占空间量依赖于特定的输入，按最坏情况来分析。</a:t>
            </a:r>
          </a:p>
        </p:txBody>
      </p:sp>
      <p:sp>
        <p:nvSpPr>
          <p:cNvPr id="40964" name="AutoShape 4">
            <a:hlinkClick r:id="" action="ppaction://hlinkshowjump?jump=firstslide" highlightClick="1"/>
          </p:cNvPr>
          <p:cNvSpPr>
            <a:spLocks noChangeArrowheads="1"/>
          </p:cNvSpPr>
          <p:nvPr/>
        </p:nvSpPr>
        <p:spPr bwMode="auto">
          <a:xfrm>
            <a:off x="8832850" y="6092826"/>
            <a:ext cx="1150938" cy="288925"/>
          </a:xfrm>
          <a:prstGeom prst="actionButtonBeginning">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ea typeface="华文仿宋" panose="02010600040101010101" pitchFamily="2" charset="-122"/>
            </a:endParaRPr>
          </a:p>
        </p:txBody>
      </p:sp>
    </p:spTree>
    <p:extLst>
      <p:ext uri="{BB962C8B-B14F-4D97-AF65-F5344CB8AC3E}">
        <p14:creationId xmlns:p14="http://schemas.microsoft.com/office/powerpoint/2010/main" val="2975420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算法复杂性分析 </a:t>
            </a:r>
          </a:p>
        </p:txBody>
      </p:sp>
      <p:sp>
        <p:nvSpPr>
          <p:cNvPr id="18435" name="Rectangle 3"/>
          <p:cNvSpPr>
            <a:spLocks noGrp="1" noChangeArrowheads="1"/>
          </p:cNvSpPr>
          <p:nvPr>
            <p:ph idx="1"/>
          </p:nvPr>
        </p:nvSpPr>
        <p:spPr>
          <a:xfrm>
            <a:off x="688923" y="1546485"/>
            <a:ext cx="8229600" cy="4530725"/>
          </a:xfrm>
        </p:spPr>
        <p:txBody>
          <a:bodyPr/>
          <a:lstStyle/>
          <a:p>
            <a:pPr>
              <a:lnSpc>
                <a:spcPct val="150000"/>
              </a:lnSpc>
            </a:pPr>
            <a:r>
              <a:rPr lang="zh-CN" altLang="en-US" sz="3200" dirty="0"/>
              <a:t>算法复杂性 </a:t>
            </a:r>
            <a:r>
              <a:rPr lang="en-US" altLang="zh-CN" sz="3200" dirty="0"/>
              <a:t>= </a:t>
            </a:r>
            <a:r>
              <a:rPr lang="zh-CN" altLang="en-US" sz="3200" dirty="0"/>
              <a:t>算法所需要的计算机资源</a:t>
            </a:r>
          </a:p>
          <a:p>
            <a:pPr>
              <a:lnSpc>
                <a:spcPct val="150000"/>
              </a:lnSpc>
            </a:pPr>
            <a:r>
              <a:rPr lang="zh-CN" altLang="en-US" sz="3200" dirty="0"/>
              <a:t>算法的时间复杂性</a:t>
            </a:r>
            <a:r>
              <a:rPr lang="en-US" altLang="zh-CN" sz="3200" i="1" dirty="0"/>
              <a:t>T</a:t>
            </a:r>
            <a:r>
              <a:rPr lang="en-US" altLang="zh-CN" sz="3200" dirty="0"/>
              <a:t>(</a:t>
            </a:r>
            <a:r>
              <a:rPr lang="en-US" altLang="zh-CN" sz="3200" i="1" dirty="0"/>
              <a:t>n</a:t>
            </a:r>
            <a:r>
              <a:rPr lang="en-US" altLang="zh-CN" sz="3200" dirty="0"/>
              <a:t>)</a:t>
            </a:r>
            <a:r>
              <a:rPr lang="zh-CN" altLang="en-US" sz="3200" dirty="0"/>
              <a:t>；</a:t>
            </a:r>
          </a:p>
          <a:p>
            <a:pPr>
              <a:lnSpc>
                <a:spcPct val="150000"/>
              </a:lnSpc>
            </a:pPr>
            <a:r>
              <a:rPr lang="zh-CN" altLang="en-US" sz="3200" dirty="0"/>
              <a:t>算法的空间复杂性</a:t>
            </a:r>
            <a:r>
              <a:rPr lang="en-US" altLang="zh-CN" sz="3200" i="1" dirty="0"/>
              <a:t>S</a:t>
            </a:r>
            <a:r>
              <a:rPr lang="en-US" altLang="zh-CN" sz="3200" dirty="0"/>
              <a:t>(</a:t>
            </a:r>
            <a:r>
              <a:rPr lang="en-US" altLang="zh-CN" sz="3200" i="1" dirty="0"/>
              <a:t>n</a:t>
            </a:r>
            <a:r>
              <a:rPr lang="en-US" altLang="zh-CN" sz="3200" dirty="0"/>
              <a:t>)</a:t>
            </a:r>
            <a:r>
              <a:rPr lang="zh-CN" altLang="en-US" sz="3200" dirty="0"/>
              <a:t>。</a:t>
            </a:r>
          </a:p>
          <a:p>
            <a:pPr>
              <a:lnSpc>
                <a:spcPct val="150000"/>
              </a:lnSpc>
              <a:buFont typeface="Wingdings" panose="05000000000000000000" pitchFamily="2" charset="2"/>
              <a:buNone/>
            </a:pPr>
            <a:r>
              <a:rPr lang="zh-CN" altLang="en-US" sz="3200" dirty="0"/>
              <a:t>其中</a:t>
            </a:r>
            <a:r>
              <a:rPr lang="en-US" altLang="zh-CN" sz="3200" i="1" dirty="0"/>
              <a:t>n</a:t>
            </a:r>
            <a:r>
              <a:rPr lang="zh-CN" altLang="en-US" sz="3200" dirty="0"/>
              <a:t>是问题的规模（输入大小）。</a:t>
            </a:r>
          </a:p>
        </p:txBody>
      </p:sp>
    </p:spTree>
    <p:extLst>
      <p:ext uri="{BB962C8B-B14F-4D97-AF65-F5344CB8AC3E}">
        <p14:creationId xmlns:p14="http://schemas.microsoft.com/office/powerpoint/2010/main" val="195047814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算法的时间复杂性</a:t>
            </a:r>
          </a:p>
        </p:txBody>
      </p:sp>
      <p:sp>
        <p:nvSpPr>
          <p:cNvPr id="19459" name="Rectangle 3"/>
          <p:cNvSpPr>
            <a:spLocks noGrp="1" noChangeArrowheads="1"/>
          </p:cNvSpPr>
          <p:nvPr>
            <p:ph idx="1"/>
          </p:nvPr>
        </p:nvSpPr>
        <p:spPr>
          <a:xfrm>
            <a:off x="609599" y="1469358"/>
            <a:ext cx="10664651" cy="4322762"/>
          </a:xfrm>
        </p:spPr>
        <p:txBody>
          <a:bodyPr>
            <a:noAutofit/>
          </a:bodyPr>
          <a:lstStyle/>
          <a:p>
            <a:pPr>
              <a:lnSpc>
                <a:spcPct val="150000"/>
              </a:lnSpc>
              <a:buFont typeface="Wingdings" panose="05000000000000000000" pitchFamily="2" charset="2"/>
              <a:buNone/>
            </a:pPr>
            <a:r>
              <a:rPr lang="zh-CN" altLang="en-US" sz="2400" b="1" dirty="0"/>
              <a:t>（</a:t>
            </a:r>
            <a:r>
              <a:rPr lang="en-US" altLang="zh-CN" sz="2400" b="1" dirty="0"/>
              <a:t>1</a:t>
            </a:r>
            <a:r>
              <a:rPr lang="zh-CN" altLang="en-US" sz="2400" b="1" dirty="0"/>
              <a:t>）</a:t>
            </a:r>
            <a:r>
              <a:rPr lang="zh-CN" altLang="en-US" sz="2400" b="1" dirty="0">
                <a:solidFill>
                  <a:srgbClr val="3907F1"/>
                </a:solidFill>
              </a:rPr>
              <a:t>最坏情况</a:t>
            </a:r>
            <a:r>
              <a:rPr lang="zh-CN" altLang="en-US" sz="2400" b="1" dirty="0"/>
              <a:t>下的时间复杂性</a:t>
            </a:r>
          </a:p>
          <a:p>
            <a:pPr>
              <a:lnSpc>
                <a:spcPct val="150000"/>
              </a:lnSpc>
              <a:buFont typeface="Wingdings" panose="05000000000000000000" pitchFamily="2" charset="2"/>
              <a:buNone/>
            </a:pPr>
            <a:r>
              <a:rPr lang="zh-CN" altLang="en-US" sz="2400" b="1" i="1" dirty="0"/>
              <a:t>  </a:t>
            </a:r>
            <a:r>
              <a:rPr lang="en-US" altLang="zh-CN" sz="2400" b="1" i="1" dirty="0" err="1"/>
              <a:t>T</a:t>
            </a:r>
            <a:r>
              <a:rPr lang="en-US" altLang="zh-CN" sz="2400" b="1" baseline="-25000" dirty="0" err="1"/>
              <a:t>max</a:t>
            </a:r>
            <a:r>
              <a:rPr lang="en-US" altLang="zh-CN" sz="2400" b="1" dirty="0"/>
              <a:t>(</a:t>
            </a:r>
            <a:r>
              <a:rPr lang="en-US" altLang="zh-CN" sz="2400" b="1" i="1" dirty="0"/>
              <a:t>n</a:t>
            </a:r>
            <a:r>
              <a:rPr lang="en-US" altLang="zh-CN" sz="2400" b="1" dirty="0"/>
              <a:t>) = max{ </a:t>
            </a:r>
            <a:r>
              <a:rPr lang="en-US" altLang="zh-CN" sz="2400" b="1" i="1" dirty="0"/>
              <a:t>T</a:t>
            </a:r>
            <a:r>
              <a:rPr lang="en-US" altLang="zh-CN" sz="2400" b="1" dirty="0"/>
              <a:t>(I) | size(I)=</a:t>
            </a:r>
            <a:r>
              <a:rPr lang="en-US" altLang="zh-CN" sz="2400" b="1" i="1" dirty="0"/>
              <a:t>n </a:t>
            </a:r>
            <a:r>
              <a:rPr lang="en-US" altLang="zh-CN" sz="2400" b="1" dirty="0"/>
              <a:t>}</a:t>
            </a:r>
          </a:p>
          <a:p>
            <a:pPr>
              <a:lnSpc>
                <a:spcPct val="150000"/>
              </a:lnSpc>
              <a:buFont typeface="Wingdings" panose="05000000000000000000" pitchFamily="2" charset="2"/>
              <a:buNone/>
            </a:pPr>
            <a:r>
              <a:rPr lang="zh-CN" altLang="en-US" sz="2400" b="1" dirty="0"/>
              <a:t>（</a:t>
            </a:r>
            <a:r>
              <a:rPr lang="en-US" altLang="zh-CN" sz="2400" b="1" dirty="0"/>
              <a:t>2</a:t>
            </a:r>
            <a:r>
              <a:rPr lang="zh-CN" altLang="en-US" sz="2400" b="1" dirty="0"/>
              <a:t>）</a:t>
            </a:r>
            <a:r>
              <a:rPr lang="zh-CN" altLang="en-US" sz="2400" b="1" dirty="0">
                <a:solidFill>
                  <a:srgbClr val="3907F1"/>
                </a:solidFill>
              </a:rPr>
              <a:t>最好情况</a:t>
            </a:r>
            <a:r>
              <a:rPr lang="zh-CN" altLang="en-US" sz="2400" b="1" dirty="0"/>
              <a:t>下的时间复杂性</a:t>
            </a:r>
          </a:p>
          <a:p>
            <a:pPr>
              <a:lnSpc>
                <a:spcPct val="150000"/>
              </a:lnSpc>
              <a:buFont typeface="Wingdings" panose="05000000000000000000" pitchFamily="2" charset="2"/>
              <a:buNone/>
            </a:pPr>
            <a:r>
              <a:rPr lang="zh-CN" altLang="en-US" sz="2400" b="1" i="1" dirty="0"/>
              <a:t>  </a:t>
            </a:r>
            <a:r>
              <a:rPr lang="en-US" altLang="zh-CN" sz="2400" b="1" i="1" dirty="0" err="1"/>
              <a:t>T</a:t>
            </a:r>
            <a:r>
              <a:rPr lang="en-US" altLang="zh-CN" sz="2400" b="1" baseline="-25000" dirty="0" err="1"/>
              <a:t>min</a:t>
            </a:r>
            <a:r>
              <a:rPr lang="en-US" altLang="zh-CN" sz="2400" b="1" dirty="0"/>
              <a:t>(</a:t>
            </a:r>
            <a:r>
              <a:rPr lang="en-US" altLang="zh-CN" sz="2400" b="1" i="1" dirty="0"/>
              <a:t>n</a:t>
            </a:r>
            <a:r>
              <a:rPr lang="en-US" altLang="zh-CN" sz="2400" b="1" dirty="0"/>
              <a:t>) = min{ </a:t>
            </a:r>
            <a:r>
              <a:rPr lang="en-US" altLang="zh-CN" sz="2400" b="1" i="1" dirty="0"/>
              <a:t>T</a:t>
            </a:r>
            <a:r>
              <a:rPr lang="en-US" altLang="zh-CN" sz="2400" b="1" dirty="0"/>
              <a:t>(I) | size(I)=</a:t>
            </a:r>
            <a:r>
              <a:rPr lang="en-US" altLang="zh-CN" sz="2400" b="1" i="1" dirty="0"/>
              <a:t>n </a:t>
            </a:r>
            <a:r>
              <a:rPr lang="en-US" altLang="zh-CN" sz="2400" b="1" dirty="0"/>
              <a:t>}</a:t>
            </a:r>
          </a:p>
          <a:p>
            <a:pPr>
              <a:lnSpc>
                <a:spcPct val="150000"/>
              </a:lnSpc>
              <a:buFont typeface="Wingdings" panose="05000000000000000000" pitchFamily="2" charset="2"/>
              <a:buNone/>
            </a:pPr>
            <a:r>
              <a:rPr lang="zh-CN" altLang="en-US" sz="2400" b="1" dirty="0"/>
              <a:t>（</a:t>
            </a:r>
            <a:r>
              <a:rPr lang="en-US" altLang="zh-CN" sz="2400" b="1" dirty="0"/>
              <a:t>3</a:t>
            </a:r>
            <a:r>
              <a:rPr lang="zh-CN" altLang="en-US" sz="2400" b="1" dirty="0"/>
              <a:t>）</a:t>
            </a:r>
            <a:r>
              <a:rPr lang="zh-CN" altLang="en-US" sz="2400" b="1" dirty="0">
                <a:solidFill>
                  <a:srgbClr val="3907F1"/>
                </a:solidFill>
              </a:rPr>
              <a:t>平均情况</a:t>
            </a:r>
            <a:r>
              <a:rPr lang="zh-CN" altLang="en-US" sz="2400" b="1" dirty="0"/>
              <a:t>下的时间复杂性</a:t>
            </a:r>
          </a:p>
          <a:p>
            <a:pPr>
              <a:lnSpc>
                <a:spcPct val="200000"/>
              </a:lnSpc>
              <a:buFont typeface="Wingdings" panose="05000000000000000000" pitchFamily="2" charset="2"/>
              <a:buNone/>
            </a:pPr>
            <a:r>
              <a:rPr lang="zh-CN" altLang="en-US" sz="2400" b="1" i="1" dirty="0"/>
              <a:t>  </a:t>
            </a:r>
            <a:r>
              <a:rPr lang="en-US" altLang="zh-CN" sz="2400" b="1" i="1" dirty="0" err="1"/>
              <a:t>T</a:t>
            </a:r>
            <a:r>
              <a:rPr lang="en-US" altLang="zh-CN" sz="2400" b="1" baseline="-25000" dirty="0" err="1"/>
              <a:t>avg</a:t>
            </a:r>
            <a:r>
              <a:rPr lang="en-US" altLang="zh-CN" sz="2400" b="1" dirty="0"/>
              <a:t>(</a:t>
            </a:r>
            <a:r>
              <a:rPr lang="en-US" altLang="zh-CN" sz="2400" b="1" i="1" dirty="0"/>
              <a:t>n</a:t>
            </a:r>
            <a:r>
              <a:rPr lang="en-US" altLang="zh-CN" sz="2400" b="1" dirty="0"/>
              <a:t>) =</a:t>
            </a:r>
          </a:p>
          <a:p>
            <a:pPr>
              <a:lnSpc>
                <a:spcPct val="200000"/>
              </a:lnSpc>
              <a:buFont typeface="Wingdings" panose="05000000000000000000" pitchFamily="2" charset="2"/>
              <a:buNone/>
            </a:pPr>
            <a:r>
              <a:rPr lang="en-US" altLang="zh-CN" sz="2400" b="1" dirty="0"/>
              <a:t> </a:t>
            </a:r>
            <a:r>
              <a:rPr lang="zh-CN" altLang="en-US" sz="2400" b="1" dirty="0"/>
              <a:t>其中</a:t>
            </a:r>
            <a:r>
              <a:rPr lang="en-US" altLang="zh-CN" sz="2400" b="1" i="1" dirty="0"/>
              <a:t>I</a:t>
            </a:r>
            <a:r>
              <a:rPr lang="zh-CN" altLang="en-US" sz="2400" b="1" dirty="0"/>
              <a:t>是问题的规模为</a:t>
            </a:r>
            <a:r>
              <a:rPr lang="en-US" altLang="zh-CN" sz="2400" b="1" i="1" dirty="0"/>
              <a:t>n</a:t>
            </a:r>
            <a:r>
              <a:rPr lang="zh-CN" altLang="en-US" sz="2400" b="1" dirty="0"/>
              <a:t>的实例，</a:t>
            </a:r>
            <a:r>
              <a:rPr lang="en-US" altLang="zh-CN" sz="2400" b="1" i="1" dirty="0"/>
              <a:t>p</a:t>
            </a:r>
            <a:r>
              <a:rPr lang="en-US" altLang="zh-CN" sz="2400" b="1" dirty="0"/>
              <a:t>(</a:t>
            </a:r>
            <a:r>
              <a:rPr lang="en-US" altLang="zh-CN" sz="2400" b="1" i="1" dirty="0"/>
              <a:t>I</a:t>
            </a:r>
            <a:r>
              <a:rPr lang="en-US" altLang="zh-CN" sz="2400" b="1" dirty="0"/>
              <a:t>)</a:t>
            </a:r>
            <a:r>
              <a:rPr lang="zh-CN" altLang="en-US" sz="2400" b="1" dirty="0"/>
              <a:t>是实例</a:t>
            </a:r>
            <a:r>
              <a:rPr lang="en-US" altLang="zh-CN" sz="2400" b="1" i="1" dirty="0"/>
              <a:t>I</a:t>
            </a:r>
            <a:r>
              <a:rPr lang="zh-CN" altLang="en-US" sz="2400" b="1" dirty="0"/>
              <a:t>出现的概率。</a:t>
            </a:r>
          </a:p>
        </p:txBody>
      </p:sp>
      <p:sp>
        <p:nvSpPr>
          <p:cNvPr id="19460" name="Rectangle 5"/>
          <p:cNvSpPr>
            <a:spLocks noChangeArrowheads="1"/>
          </p:cNvSpPr>
          <p:nvPr/>
        </p:nvSpPr>
        <p:spPr bwMode="auto">
          <a:xfrm>
            <a:off x="1524000" y="-276999"/>
            <a:ext cx="37061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aphicFrame>
        <p:nvGraphicFramePr>
          <p:cNvPr id="19461" name="Object 2"/>
          <p:cNvGraphicFramePr>
            <a:graphicFrameLocks noChangeAspect="1"/>
          </p:cNvGraphicFramePr>
          <p:nvPr>
            <p:extLst>
              <p:ext uri="{D42A27DB-BD31-4B8C-83A1-F6EECF244321}">
                <p14:modId xmlns:p14="http://schemas.microsoft.com/office/powerpoint/2010/main" val="1397062746"/>
              </p:ext>
            </p:extLst>
          </p:nvPr>
        </p:nvGraphicFramePr>
        <p:xfrm>
          <a:off x="1990660" y="4927978"/>
          <a:ext cx="2480856" cy="921327"/>
        </p:xfrm>
        <a:graphic>
          <a:graphicData uri="http://schemas.openxmlformats.org/presentationml/2006/ole">
            <mc:AlternateContent xmlns:mc="http://schemas.openxmlformats.org/markup-compatibility/2006">
              <mc:Choice xmlns:v="urn:schemas-microsoft-com:vml" Requires="v">
                <p:oleObj name="公式" r:id="rId2" imgW="952087" imgH="355446" progId="Equation.3">
                  <p:embed/>
                </p:oleObj>
              </mc:Choice>
              <mc:Fallback>
                <p:oleObj name="公式" r:id="rId2" imgW="952087" imgH="355446"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660" y="4927978"/>
                        <a:ext cx="2480856" cy="92132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3211761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算法渐近复杂性</a:t>
            </a:r>
          </a:p>
        </p:txBody>
      </p:sp>
      <p:sp>
        <p:nvSpPr>
          <p:cNvPr id="25603" name="Rectangle 3"/>
          <p:cNvSpPr>
            <a:spLocks noGrp="1" noChangeArrowheads="1"/>
          </p:cNvSpPr>
          <p:nvPr>
            <p:ph idx="1"/>
          </p:nvPr>
        </p:nvSpPr>
        <p:spPr>
          <a:xfrm>
            <a:off x="1200595" y="1578835"/>
            <a:ext cx="9575652" cy="4464050"/>
          </a:xfrm>
        </p:spPr>
        <p:txBody>
          <a:bodyPr>
            <a:normAutofit/>
          </a:bodyPr>
          <a:lstStyle/>
          <a:p>
            <a:pPr marL="0" indent="0">
              <a:lnSpc>
                <a:spcPct val="150000"/>
              </a:lnSpc>
              <a:buNone/>
              <a:defRPr/>
            </a:pPr>
            <a:r>
              <a:rPr lang="en-US" altLang="zh-CN" i="1" dirty="0"/>
              <a:t>T</a:t>
            </a:r>
            <a:r>
              <a:rPr lang="en-US" altLang="zh-CN" dirty="0"/>
              <a:t>(</a:t>
            </a:r>
            <a:r>
              <a:rPr lang="en-US" altLang="zh-CN" i="1" dirty="0"/>
              <a:t>n</a:t>
            </a:r>
            <a:r>
              <a:rPr lang="en-US" altLang="zh-CN" dirty="0"/>
              <a:t>) </a:t>
            </a:r>
            <a:r>
              <a:rPr lang="en-US" altLang="zh-CN" dirty="0">
                <a:sym typeface="Symbol" panose="05050102010706020507" pitchFamily="18" charset="2"/>
              </a:rPr>
              <a:t></a:t>
            </a:r>
            <a:r>
              <a:rPr lang="en-US" altLang="zh-CN" dirty="0"/>
              <a:t> ,  as </a:t>
            </a:r>
            <a:r>
              <a:rPr lang="en-US" altLang="zh-CN" i="1" dirty="0"/>
              <a:t>n</a:t>
            </a:r>
            <a:r>
              <a:rPr lang="en-US" altLang="zh-CN" dirty="0">
                <a:sym typeface="Symbol" panose="05050102010706020507" pitchFamily="18" charset="2"/>
              </a:rPr>
              <a:t></a:t>
            </a:r>
            <a:r>
              <a:rPr lang="en-US" altLang="zh-CN" dirty="0"/>
              <a:t> ; (</a:t>
            </a:r>
            <a:r>
              <a:rPr lang="en-US" altLang="zh-CN" i="1" dirty="0"/>
              <a:t>T</a:t>
            </a:r>
            <a:r>
              <a:rPr lang="en-US" altLang="zh-CN" dirty="0"/>
              <a:t>(</a:t>
            </a:r>
            <a:r>
              <a:rPr lang="en-US" altLang="zh-CN" i="1" dirty="0"/>
              <a:t>n</a:t>
            </a:r>
            <a:r>
              <a:rPr lang="en-US" altLang="zh-CN" dirty="0"/>
              <a:t>) - </a:t>
            </a:r>
            <a:r>
              <a:rPr lang="en-US" altLang="zh-CN" i="1" dirty="0"/>
              <a:t>t</a:t>
            </a:r>
            <a:r>
              <a:rPr lang="en-US" altLang="zh-CN" dirty="0"/>
              <a:t>(</a:t>
            </a:r>
            <a:r>
              <a:rPr lang="en-US" altLang="zh-CN" i="1" dirty="0"/>
              <a:t>n</a:t>
            </a:r>
            <a:r>
              <a:rPr lang="en-US" altLang="zh-CN" dirty="0"/>
              <a:t>) )/ </a:t>
            </a:r>
            <a:r>
              <a:rPr lang="en-US" altLang="zh-CN" i="1" dirty="0"/>
              <a:t>T</a:t>
            </a:r>
            <a:r>
              <a:rPr lang="en-US" altLang="zh-CN" dirty="0"/>
              <a:t>(</a:t>
            </a:r>
            <a:r>
              <a:rPr lang="en-US" altLang="zh-CN" i="1" dirty="0"/>
              <a:t>n</a:t>
            </a:r>
            <a:r>
              <a:rPr lang="en-US" altLang="zh-CN" dirty="0"/>
              <a:t>) </a:t>
            </a:r>
            <a:r>
              <a:rPr lang="en-US" altLang="zh-CN" dirty="0">
                <a:sym typeface="Symbol" panose="05050102010706020507" pitchFamily="18" charset="2"/>
              </a:rPr>
              <a:t>0</a:t>
            </a:r>
            <a:r>
              <a:rPr lang="en-US" altLang="zh-CN" dirty="0"/>
              <a:t> </a:t>
            </a:r>
            <a:r>
              <a:rPr lang="zh-CN" altLang="en-US" dirty="0"/>
              <a:t>，</a:t>
            </a:r>
            <a:r>
              <a:rPr lang="en-US" altLang="zh-CN" dirty="0"/>
              <a:t>as  </a:t>
            </a:r>
            <a:r>
              <a:rPr lang="en-US" altLang="zh-CN" i="1" dirty="0"/>
              <a:t>n</a:t>
            </a:r>
            <a:r>
              <a:rPr lang="en-US" altLang="zh-CN" dirty="0">
                <a:sym typeface="Symbol" panose="05050102010706020507" pitchFamily="18" charset="2"/>
              </a:rPr>
              <a:t>;</a:t>
            </a:r>
          </a:p>
          <a:p>
            <a:pPr>
              <a:lnSpc>
                <a:spcPct val="150000"/>
              </a:lnSpc>
              <a:defRPr/>
            </a:pPr>
            <a:r>
              <a:rPr lang="en-US" altLang="zh-CN" i="1" dirty="0"/>
              <a:t>t</a:t>
            </a:r>
            <a:r>
              <a:rPr lang="en-US" altLang="zh-CN" dirty="0"/>
              <a:t>(</a:t>
            </a:r>
            <a:r>
              <a:rPr lang="en-US" altLang="zh-CN" i="1" dirty="0"/>
              <a:t>n</a:t>
            </a:r>
            <a:r>
              <a:rPr lang="en-US" altLang="zh-CN" dirty="0"/>
              <a:t>)</a:t>
            </a:r>
            <a:r>
              <a:rPr lang="zh-CN" altLang="en-US" dirty="0"/>
              <a:t>是</a:t>
            </a:r>
            <a:r>
              <a:rPr lang="en-US" altLang="zh-CN" i="1" dirty="0"/>
              <a:t>T</a:t>
            </a:r>
            <a:r>
              <a:rPr lang="en-US" altLang="zh-CN" dirty="0"/>
              <a:t>(</a:t>
            </a:r>
            <a:r>
              <a:rPr lang="en-US" altLang="zh-CN" i="1" dirty="0"/>
              <a:t>n</a:t>
            </a:r>
            <a:r>
              <a:rPr lang="en-US" altLang="zh-CN" dirty="0"/>
              <a:t>)</a:t>
            </a:r>
            <a:r>
              <a:rPr lang="zh-CN" altLang="en-US" dirty="0"/>
              <a:t>的渐近性态，为算法的渐近复杂性。</a:t>
            </a:r>
          </a:p>
          <a:p>
            <a:pPr>
              <a:lnSpc>
                <a:spcPct val="150000"/>
              </a:lnSpc>
              <a:defRPr/>
            </a:pPr>
            <a:r>
              <a:rPr lang="zh-CN" altLang="en-US" dirty="0"/>
              <a:t>在数学上， </a:t>
            </a:r>
            <a:r>
              <a:rPr lang="en-US" altLang="zh-CN" i="1" dirty="0"/>
              <a:t>t</a:t>
            </a:r>
            <a:r>
              <a:rPr lang="en-US" altLang="zh-CN" dirty="0"/>
              <a:t>(</a:t>
            </a:r>
            <a:r>
              <a:rPr lang="en-US" altLang="zh-CN" i="1" dirty="0"/>
              <a:t>n</a:t>
            </a:r>
            <a:r>
              <a:rPr lang="en-US" altLang="zh-CN" dirty="0"/>
              <a:t>)</a:t>
            </a:r>
            <a:r>
              <a:rPr lang="zh-CN" altLang="en-US" dirty="0"/>
              <a:t>是</a:t>
            </a:r>
            <a:r>
              <a:rPr lang="en-US" altLang="zh-CN" i="1" dirty="0"/>
              <a:t>T</a:t>
            </a:r>
            <a:r>
              <a:rPr lang="en-US" altLang="zh-CN" dirty="0"/>
              <a:t>(</a:t>
            </a:r>
            <a:r>
              <a:rPr lang="en-US" altLang="zh-CN" i="1" dirty="0"/>
              <a:t>n</a:t>
            </a:r>
            <a:r>
              <a:rPr lang="en-US" altLang="zh-CN" dirty="0"/>
              <a:t>)</a:t>
            </a:r>
            <a:r>
              <a:rPr lang="zh-CN" altLang="en-US" dirty="0"/>
              <a:t>的渐近表达式，是</a:t>
            </a:r>
            <a:r>
              <a:rPr lang="en-US" altLang="zh-CN" i="1" dirty="0"/>
              <a:t>T</a:t>
            </a:r>
            <a:r>
              <a:rPr lang="en-US" altLang="zh-CN" dirty="0"/>
              <a:t>(</a:t>
            </a:r>
            <a:r>
              <a:rPr lang="en-US" altLang="zh-CN" i="1" dirty="0"/>
              <a:t>n</a:t>
            </a:r>
            <a:r>
              <a:rPr lang="en-US" altLang="zh-CN" dirty="0"/>
              <a:t>)</a:t>
            </a:r>
            <a:r>
              <a:rPr lang="zh-CN" altLang="en-US" dirty="0"/>
              <a:t>略去低阶项留下的主项。它比</a:t>
            </a:r>
            <a:r>
              <a:rPr lang="en-US" altLang="zh-CN" i="1" dirty="0"/>
              <a:t>T</a:t>
            </a:r>
            <a:r>
              <a:rPr lang="en-US" altLang="zh-CN" dirty="0"/>
              <a:t>(</a:t>
            </a:r>
            <a:r>
              <a:rPr lang="en-US" altLang="zh-CN" i="1" dirty="0"/>
              <a:t>n</a:t>
            </a:r>
            <a:r>
              <a:rPr lang="en-US" altLang="zh-CN" dirty="0"/>
              <a:t>) </a:t>
            </a:r>
            <a:r>
              <a:rPr lang="zh-CN" altLang="en-US" dirty="0"/>
              <a:t>简单。</a:t>
            </a:r>
          </a:p>
        </p:txBody>
      </p:sp>
    </p:spTree>
    <p:extLst>
      <p:ext uri="{BB962C8B-B14F-4D97-AF65-F5344CB8AC3E}">
        <p14:creationId xmlns:p14="http://schemas.microsoft.com/office/powerpoint/2010/main" val="380987670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43669" y="380208"/>
            <a:ext cx="8229600" cy="941388"/>
          </a:xfrm>
          <a:solidFill>
            <a:schemeClr val="bg1"/>
          </a:solidFill>
        </p:spPr>
        <p:txBody>
          <a:bodyPr vert="horz" lIns="91440" tIns="45720" rIns="91440" bIns="45720" rtlCol="0" anchor="ctr">
            <a:normAutofit/>
          </a:bodyPr>
          <a:lstStyle/>
          <a:p>
            <a:r>
              <a:rPr lang="zh-CN" altLang="en-US" b="1" dirty="0"/>
              <a:t>渐近分析的记号</a:t>
            </a:r>
            <a:r>
              <a:rPr lang="en-US" altLang="zh-CN" b="1" dirty="0"/>
              <a:t>Q, O, W</a:t>
            </a:r>
            <a:endParaRPr lang="zh-CN" altLang="en-US" b="1" dirty="0"/>
          </a:p>
        </p:txBody>
      </p:sp>
      <p:sp>
        <p:nvSpPr>
          <p:cNvPr id="21507" name="Rectangle 3"/>
          <p:cNvSpPr>
            <a:spLocks noGrp="1" noChangeArrowheads="1"/>
          </p:cNvSpPr>
          <p:nvPr>
            <p:ph idx="1"/>
          </p:nvPr>
        </p:nvSpPr>
        <p:spPr>
          <a:xfrm>
            <a:off x="427288" y="1321596"/>
            <a:ext cx="10545511" cy="4327525"/>
          </a:xfrm>
        </p:spPr>
        <p:txBody>
          <a:bodyPr/>
          <a:lstStyle/>
          <a:p>
            <a:pPr>
              <a:lnSpc>
                <a:spcPct val="150000"/>
              </a:lnSpc>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在下面的</a:t>
            </a:r>
            <a:r>
              <a:rPr lang="zh-CN" altLang="en-US" sz="2400" dirty="0">
                <a:solidFill>
                  <a:srgbClr val="000000"/>
                </a:solidFill>
                <a:latin typeface="Times New Roman" panose="02020603050405020304" pitchFamily="18" charset="0"/>
                <a:cs typeface="Times New Roman" panose="02020603050405020304" pitchFamily="18" charset="0"/>
              </a:rPr>
              <a:t>讨论</a:t>
            </a:r>
            <a:r>
              <a:rPr lang="zh-CN" altLang="en-US" sz="2400" dirty="0">
                <a:latin typeface="Times New Roman" panose="02020603050405020304" pitchFamily="18" charset="0"/>
                <a:cs typeface="Times New Roman" panose="02020603050405020304" pitchFamily="18" charset="0"/>
              </a:rPr>
              <a:t>中，对所有</a:t>
            </a:r>
            <a:r>
              <a:rPr lang="en-US" altLang="zh-CN" sz="2400" i="1"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0</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0</a:t>
            </a:r>
            <a:r>
              <a:rPr lang="zh-CN" altLang="en-US"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zh-CN" altLang="en-US" sz="2400" b="1" dirty="0">
                <a:solidFill>
                  <a:srgbClr val="3907F1"/>
                </a:solidFill>
                <a:latin typeface="Times New Roman" panose="02020603050405020304" pitchFamily="18" charset="0"/>
                <a:cs typeface="Times New Roman" panose="02020603050405020304" pitchFamily="18" charset="0"/>
              </a:rPr>
              <a:t>渐近上界记号</a:t>
            </a:r>
            <a:r>
              <a:rPr lang="en-US" altLang="zh-CN" sz="2400" b="1" dirty="0">
                <a:solidFill>
                  <a:srgbClr val="3907F1"/>
                </a:solidFill>
                <a:latin typeface="Times New Roman" panose="02020603050405020304" pitchFamily="18" charset="0"/>
                <a:cs typeface="Times New Roman" panose="02020603050405020304" pitchFamily="18" charset="0"/>
              </a:rPr>
              <a:t>O</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 {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 </a:t>
            </a:r>
            <a:r>
              <a:rPr lang="zh-CN" altLang="en-US" sz="2400" dirty="0">
                <a:latin typeface="Times New Roman" panose="02020603050405020304" pitchFamily="18" charset="0"/>
                <a:cs typeface="Times New Roman" panose="02020603050405020304" pitchFamily="18" charset="0"/>
              </a:rPr>
              <a:t>存在正常数</a:t>
            </a:r>
            <a:r>
              <a:rPr lang="en-US" altLang="zh-CN"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和</a:t>
            </a:r>
            <a:r>
              <a:rPr lang="en-US" altLang="zh-CN" sz="2400" i="1" dirty="0">
                <a:latin typeface="Times New Roman" panose="02020603050405020304" pitchFamily="18" charset="0"/>
                <a:cs typeface="Times New Roman" panose="02020603050405020304" pitchFamily="18" charset="0"/>
              </a:rPr>
              <a:t>n</a:t>
            </a:r>
            <a:r>
              <a:rPr lang="en-US" altLang="zh-CN" sz="2400"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使得对所有</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n</a:t>
            </a:r>
            <a:r>
              <a:rPr lang="en-US" altLang="zh-CN" sz="2400"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有：</a:t>
            </a:r>
            <a:r>
              <a:rPr lang="en-US" altLang="zh-CN" sz="2400" dirty="0">
                <a:latin typeface="Times New Roman" panose="02020603050405020304" pitchFamily="18" charset="0"/>
                <a:cs typeface="Times New Roman" panose="02020603050405020304" pitchFamily="18" charset="0"/>
              </a:rPr>
              <a:t>0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cg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p>
        </p:txBody>
      </p:sp>
      <p:pic>
        <p:nvPicPr>
          <p:cNvPr id="21508" name="Picture 8" descr="graph_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1817" y="3297120"/>
            <a:ext cx="32432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782889" y="4848225"/>
            <a:ext cx="1976437" cy="584200"/>
          </a:xfrm>
          <a:prstGeom prst="rect">
            <a:avLst/>
          </a:prstGeom>
        </p:spPr>
        <p:txBody>
          <a:bodyPr wrap="none">
            <a:spAutoFit/>
          </a:bodyPr>
          <a:lstStyle/>
          <a:p>
            <a:pPr>
              <a:defRPr/>
            </a:pPr>
            <a:r>
              <a:rPr lang="en-US" altLang="zh-CN" sz="3200" kern="0" dirty="0">
                <a:solidFill>
                  <a:srgbClr val="010000"/>
                </a:solidFill>
                <a:latin typeface="Times New Roman"/>
                <a:ea typeface="华文仿宋" panose="02010600040101010101" pitchFamily="2" charset="-122"/>
              </a:rPr>
              <a:t>3</a:t>
            </a:r>
            <a:r>
              <a:rPr lang="en-US" altLang="zh-CN" sz="3200" i="1" kern="0" dirty="0">
                <a:solidFill>
                  <a:srgbClr val="010000"/>
                </a:solidFill>
                <a:latin typeface="Times New Roman"/>
                <a:ea typeface="华文仿宋" panose="02010600040101010101" pitchFamily="2" charset="-122"/>
              </a:rPr>
              <a:t>n</a:t>
            </a:r>
            <a:r>
              <a:rPr lang="en-US" altLang="zh-CN" sz="3200" kern="0" baseline="30000" dirty="0">
                <a:solidFill>
                  <a:srgbClr val="010000"/>
                </a:solidFill>
                <a:latin typeface="Times New Roman"/>
                <a:ea typeface="华文仿宋" panose="02010600040101010101" pitchFamily="2" charset="-122"/>
              </a:rPr>
              <a:t>3</a:t>
            </a:r>
            <a:r>
              <a:rPr lang="en-US" altLang="zh-CN" sz="3200" kern="0" dirty="0">
                <a:solidFill>
                  <a:srgbClr val="010000"/>
                </a:solidFill>
                <a:latin typeface="Times New Roman"/>
                <a:ea typeface="华文仿宋" panose="02010600040101010101" pitchFamily="2" charset="-122"/>
              </a:rPr>
              <a:t>=</a:t>
            </a:r>
            <a:r>
              <a:rPr lang="en-US" altLang="zh-CN" sz="3200" i="1" kern="0" dirty="0">
                <a:solidFill>
                  <a:srgbClr val="010000"/>
                </a:solidFill>
                <a:latin typeface="Times New Roman"/>
                <a:ea typeface="华文仿宋" panose="02010600040101010101" pitchFamily="2" charset="-122"/>
              </a:rPr>
              <a:t>O</a:t>
            </a:r>
            <a:r>
              <a:rPr lang="en-US" altLang="zh-CN" sz="3200" kern="0" dirty="0">
                <a:solidFill>
                  <a:srgbClr val="010000"/>
                </a:solidFill>
                <a:latin typeface="Times New Roman"/>
                <a:ea typeface="华文仿宋" panose="02010600040101010101" pitchFamily="2" charset="-122"/>
              </a:rPr>
              <a:t>(</a:t>
            </a:r>
            <a:r>
              <a:rPr lang="en-US" altLang="zh-CN" sz="3200" i="1" kern="0" dirty="0">
                <a:solidFill>
                  <a:srgbClr val="010000"/>
                </a:solidFill>
                <a:latin typeface="Times New Roman"/>
                <a:ea typeface="华文仿宋" panose="02010600040101010101" pitchFamily="2" charset="-122"/>
              </a:rPr>
              <a:t>n</a:t>
            </a:r>
            <a:r>
              <a:rPr lang="en-US" altLang="zh-CN" sz="3200" kern="0" baseline="30000" dirty="0">
                <a:solidFill>
                  <a:srgbClr val="010000"/>
                </a:solidFill>
                <a:latin typeface="Times New Roman"/>
                <a:ea typeface="华文仿宋" panose="02010600040101010101" pitchFamily="2" charset="-122"/>
              </a:rPr>
              <a:t>4</a:t>
            </a:r>
            <a:r>
              <a:rPr lang="en-US" altLang="zh-CN" sz="3200" kern="0" dirty="0">
                <a:solidFill>
                  <a:srgbClr val="010000"/>
                </a:solidFill>
                <a:latin typeface="Times New Roman"/>
                <a:ea typeface="华文仿宋" panose="02010600040101010101" pitchFamily="2" charset="-122"/>
              </a:rPr>
              <a:t>) </a:t>
            </a:r>
            <a:endParaRPr lang="zh-CN" altLang="en-US" kern="0" dirty="0">
              <a:solidFill>
                <a:sysClr val="windowText" lastClr="000000"/>
              </a:solidFill>
              <a:latin typeface="华文仿宋" panose="02010600040101010101" pitchFamily="2" charset="-122"/>
              <a:ea typeface="华文仿宋" panose="02010600040101010101" pitchFamily="2" charset="-122"/>
            </a:endParaRPr>
          </a:p>
        </p:txBody>
      </p:sp>
      <p:sp>
        <p:nvSpPr>
          <p:cNvPr id="3" name="矩形 2"/>
          <p:cNvSpPr/>
          <p:nvPr/>
        </p:nvSpPr>
        <p:spPr>
          <a:xfrm>
            <a:off x="2705100" y="4191000"/>
            <a:ext cx="2787650" cy="584200"/>
          </a:xfrm>
          <a:prstGeom prst="rect">
            <a:avLst/>
          </a:prstGeom>
        </p:spPr>
        <p:txBody>
          <a:bodyPr wrap="none">
            <a:spAutoFit/>
          </a:bodyPr>
          <a:lstStyle/>
          <a:p>
            <a:pPr>
              <a:defRPr/>
            </a:pPr>
            <a:r>
              <a:rPr lang="en-US" altLang="zh-CN" sz="3200" i="1" kern="0" dirty="0">
                <a:solidFill>
                  <a:srgbClr val="010000"/>
                </a:solidFill>
                <a:latin typeface="Times New Roman"/>
                <a:ea typeface="华文仿宋" panose="02010600040101010101" pitchFamily="2" charset="-122"/>
              </a:rPr>
              <a:t>2n</a:t>
            </a:r>
            <a:r>
              <a:rPr lang="en-US" altLang="zh-CN" sz="3200" kern="0" dirty="0">
                <a:solidFill>
                  <a:srgbClr val="010000"/>
                </a:solidFill>
                <a:latin typeface="Times New Roman"/>
                <a:ea typeface="华文仿宋" panose="02010600040101010101" pitchFamily="2" charset="-122"/>
              </a:rPr>
              <a:t> + </a:t>
            </a:r>
            <a:r>
              <a:rPr lang="en-US" altLang="zh-CN" sz="3200" i="1" kern="0" dirty="0">
                <a:solidFill>
                  <a:srgbClr val="010000"/>
                </a:solidFill>
                <a:latin typeface="Times New Roman"/>
                <a:ea typeface="华文仿宋" panose="02010600040101010101" pitchFamily="2" charset="-122"/>
              </a:rPr>
              <a:t>3</a:t>
            </a:r>
            <a:r>
              <a:rPr lang="en-US" altLang="zh-CN" sz="3200" kern="0" dirty="0">
                <a:solidFill>
                  <a:srgbClr val="010000"/>
                </a:solidFill>
                <a:latin typeface="Times New Roman"/>
                <a:ea typeface="华文仿宋" panose="02010600040101010101" pitchFamily="2" charset="-122"/>
              </a:rPr>
              <a:t> = </a:t>
            </a:r>
            <a:r>
              <a:rPr lang="en-US" altLang="zh-CN" sz="3200" i="1" kern="0" dirty="0">
                <a:solidFill>
                  <a:srgbClr val="010000"/>
                </a:solidFill>
                <a:latin typeface="Times New Roman"/>
                <a:ea typeface="华文仿宋" panose="02010600040101010101" pitchFamily="2" charset="-122"/>
              </a:rPr>
              <a:t>O</a:t>
            </a:r>
            <a:r>
              <a:rPr lang="en-US" altLang="zh-CN" sz="3200" kern="0" dirty="0">
                <a:solidFill>
                  <a:srgbClr val="010000"/>
                </a:solidFill>
                <a:latin typeface="Times New Roman"/>
                <a:ea typeface="华文仿宋" panose="02010600040101010101" pitchFamily="2" charset="-122"/>
              </a:rPr>
              <a:t>(</a:t>
            </a:r>
            <a:r>
              <a:rPr lang="en-US" altLang="zh-CN" sz="3200" i="1" kern="0" dirty="0">
                <a:solidFill>
                  <a:srgbClr val="010000"/>
                </a:solidFill>
                <a:latin typeface="Times New Roman"/>
                <a:ea typeface="华文仿宋" panose="02010600040101010101" pitchFamily="2" charset="-122"/>
              </a:rPr>
              <a:t>n</a:t>
            </a:r>
            <a:r>
              <a:rPr lang="en-US" altLang="zh-CN" sz="3200" kern="0" baseline="30000" dirty="0">
                <a:solidFill>
                  <a:srgbClr val="010000"/>
                </a:solidFill>
                <a:latin typeface="Times New Roman"/>
                <a:ea typeface="华文仿宋" panose="02010600040101010101" pitchFamily="2" charset="-122"/>
              </a:rPr>
              <a:t>2</a:t>
            </a:r>
            <a:r>
              <a:rPr lang="en-US" altLang="zh-CN" sz="3200" kern="0" dirty="0">
                <a:solidFill>
                  <a:srgbClr val="010000"/>
                </a:solidFill>
                <a:latin typeface="Times New Roman"/>
                <a:ea typeface="华文仿宋" panose="02010600040101010101" pitchFamily="2" charset="-122"/>
              </a:rPr>
              <a:t>). </a:t>
            </a:r>
            <a:endParaRPr lang="zh-CN" altLang="en-US" kern="0" dirty="0">
              <a:solidFill>
                <a:sysClr val="windowText" lastClr="000000"/>
              </a:solidFill>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81247193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
          <p:cNvSpPr>
            <a:spLocks noGrp="1" noChangeArrowheads="1"/>
          </p:cNvSpPr>
          <p:nvPr>
            <p:ph idx="1"/>
          </p:nvPr>
        </p:nvSpPr>
        <p:spPr>
          <a:xfrm>
            <a:off x="435836" y="811850"/>
            <a:ext cx="9878153" cy="5730238"/>
          </a:xfrm>
        </p:spPr>
        <p:txBody>
          <a:bodyPr/>
          <a:lstStyle/>
          <a:p>
            <a:r>
              <a:rPr lang="zh-CN" altLang="en-US" dirty="0">
                <a:latin typeface="Times New Roman" panose="02020603050405020304" pitchFamily="18" charset="0"/>
                <a:cs typeface="Times New Roman" panose="02020603050405020304" pitchFamily="18" charset="0"/>
              </a:rPr>
              <a:t>用来作比较的函数</a:t>
            </a:r>
            <a:r>
              <a:rPr lang="en-US" altLang="zh-CN" dirty="0">
                <a:latin typeface="Times New Roman" panose="02020603050405020304" pitchFamily="18" charset="0"/>
                <a:cs typeface="Times New Roman" panose="02020603050405020304" pitchFamily="18" charset="0"/>
              </a:rPr>
              <a:t>g(n)</a:t>
            </a:r>
            <a:r>
              <a:rPr lang="zh-CN" altLang="en-US" dirty="0">
                <a:latin typeface="Times New Roman" panose="02020603050405020304" pitchFamily="18" charset="0"/>
                <a:cs typeface="Times New Roman" panose="02020603050405020304" pitchFamily="18" charset="0"/>
              </a:rPr>
              <a:t>应该尽量接近所考虑的函数</a:t>
            </a:r>
            <a:r>
              <a:rPr lang="en-US" altLang="zh-CN" dirty="0">
                <a:latin typeface="Times New Roman" panose="02020603050405020304" pitchFamily="18" charset="0"/>
                <a:cs typeface="Times New Roman" panose="02020603050405020304" pitchFamily="18" charset="0"/>
              </a:rPr>
              <a:t>f(n).  2n+3=O(n</a:t>
            </a:r>
            <a:r>
              <a:rPr lang="en-US" altLang="zh-CN" baseline="30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松散的界限；</a:t>
            </a:r>
            <a:r>
              <a:rPr lang="en-US" altLang="zh-CN" dirty="0">
                <a:latin typeface="Times New Roman" panose="02020603050405020304" pitchFamily="18" charset="0"/>
                <a:cs typeface="Times New Roman" panose="02020603050405020304" pitchFamily="18" charset="0"/>
              </a:rPr>
              <a:t>2n+3=O(n) </a:t>
            </a:r>
            <a:r>
              <a:rPr lang="zh-CN" altLang="en-US" dirty="0">
                <a:latin typeface="Times New Roman" panose="02020603050405020304" pitchFamily="18" charset="0"/>
                <a:cs typeface="Times New Roman" panose="02020603050405020304" pitchFamily="18" charset="0"/>
              </a:rPr>
              <a:t>较好的界限。</a:t>
            </a:r>
            <a:endParaRPr lang="en-US" altLang="zh-CN"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f(n)=O(g(n))</a:t>
            </a:r>
            <a:r>
              <a:rPr lang="zh-CN" altLang="en-US" dirty="0">
                <a:latin typeface="Times New Roman" panose="02020603050405020304" pitchFamily="18" charset="0"/>
                <a:cs typeface="Times New Roman" panose="02020603050405020304" pitchFamily="18" charset="0"/>
              </a:rPr>
              <a:t>不能写成</a:t>
            </a:r>
            <a:r>
              <a:rPr lang="en-US" altLang="zh-CN" dirty="0">
                <a:latin typeface="Times New Roman" panose="02020603050405020304" pitchFamily="18" charset="0"/>
                <a:cs typeface="Times New Roman" panose="02020603050405020304" pitchFamily="18" charset="0"/>
              </a:rPr>
              <a:t>g(n)=O(f(n))</a:t>
            </a:r>
            <a:r>
              <a:rPr lang="zh-CN" altLang="en-US" dirty="0">
                <a:latin typeface="Times New Roman" panose="02020603050405020304" pitchFamily="18" charset="0"/>
                <a:cs typeface="Times New Roman" panose="02020603050405020304" pitchFamily="18" charset="0"/>
              </a:rPr>
              <a:t>，因为两者并不等价。实际上，这里的等号并不是通常相等的含义。按照定义，用集合符号更准确些。</a:t>
            </a:r>
            <a:endParaRPr lang="en-US" altLang="zh-CN"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O(g(n))={f(n)|f(n)</a:t>
            </a:r>
            <a:r>
              <a:rPr lang="zh-CN" altLang="en-US" dirty="0">
                <a:latin typeface="Times New Roman" panose="02020603050405020304" pitchFamily="18" charset="0"/>
                <a:cs typeface="Times New Roman" panose="02020603050405020304" pitchFamily="18" charset="0"/>
              </a:rPr>
              <a:t>满足：存在正的常数</a:t>
            </a: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n</a:t>
            </a:r>
            <a:r>
              <a:rPr lang="en-US" altLang="zh-CN" baseline="-25000"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，使得当</a:t>
            </a:r>
            <a:r>
              <a:rPr lang="en-US" altLang="zh-CN" dirty="0">
                <a:latin typeface="Times New Roman" panose="02020603050405020304" pitchFamily="18" charset="0"/>
                <a:cs typeface="Times New Roman" panose="02020603050405020304" pitchFamily="18" charset="0"/>
              </a:rPr>
              <a:t>n&gt;=n</a:t>
            </a:r>
            <a:r>
              <a:rPr lang="en-US" altLang="zh-CN" baseline="-25000"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时</a:t>
            </a:r>
            <a:r>
              <a:rPr lang="en-US" altLang="zh-CN" dirty="0">
                <a:latin typeface="Times New Roman" panose="02020603050405020304" pitchFamily="18" charset="0"/>
                <a:cs typeface="Times New Roman" panose="02020603050405020304" pitchFamily="18" charset="0"/>
              </a:rPr>
              <a:t>f(n)&lt;=cg(n)}</a:t>
            </a:r>
            <a:r>
              <a:rPr lang="zh-CN" altLang="en-US" dirty="0">
                <a:latin typeface="Times New Roman" panose="02020603050405020304" pitchFamily="18" charset="0"/>
                <a:cs typeface="Times New Roman" panose="02020603050405020304" pitchFamily="18" charset="0"/>
              </a:rPr>
              <a:t>所以，人们常常把</a:t>
            </a:r>
            <a:r>
              <a:rPr lang="en-US" altLang="zh-CN" dirty="0">
                <a:latin typeface="Times New Roman" panose="02020603050405020304" pitchFamily="18" charset="0"/>
                <a:cs typeface="Times New Roman" panose="02020603050405020304" pitchFamily="18" charset="0"/>
              </a:rPr>
              <a:t>f(n)=O(g(n))</a:t>
            </a:r>
            <a:r>
              <a:rPr lang="zh-CN" altLang="en-US" dirty="0">
                <a:latin typeface="Times New Roman" panose="02020603050405020304" pitchFamily="18" charset="0"/>
                <a:cs typeface="Times New Roman" panose="02020603050405020304" pitchFamily="18" charset="0"/>
              </a:rPr>
              <a:t>读作：“</a:t>
            </a:r>
            <a:r>
              <a:rPr lang="en-US" altLang="zh-CN" dirty="0">
                <a:latin typeface="Times New Roman" panose="02020603050405020304" pitchFamily="18" charset="0"/>
                <a:cs typeface="Times New Roman" panose="02020603050405020304" pitchFamily="18" charset="0"/>
              </a:rPr>
              <a:t>f(n)</a:t>
            </a:r>
            <a:r>
              <a:rPr lang="zh-CN" altLang="en-US"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g(n)</a:t>
            </a:r>
            <a:r>
              <a:rPr lang="zh-CN" altLang="en-US" dirty="0">
                <a:latin typeface="Times New Roman" panose="02020603050405020304" pitchFamily="18" charset="0"/>
                <a:cs typeface="Times New Roman" panose="02020603050405020304" pitchFamily="18" charset="0"/>
              </a:rPr>
              <a:t>的一个大</a:t>
            </a:r>
            <a:r>
              <a:rPr lang="en-US" altLang="zh-CN" dirty="0">
                <a:latin typeface="Times New Roman" panose="02020603050405020304" pitchFamily="18" charset="0"/>
                <a:cs typeface="Times New Roman" panose="02020603050405020304" pitchFamily="18" charset="0"/>
              </a:rPr>
              <a:t>O</a:t>
            </a:r>
            <a:r>
              <a:rPr lang="zh-CN" altLang="en-US" dirty="0">
                <a:latin typeface="Times New Roman" panose="02020603050405020304" pitchFamily="18" charset="0"/>
                <a:cs typeface="Times New Roman" panose="02020603050405020304" pitchFamily="18" charset="0"/>
              </a:rPr>
              <a:t>成员”。</a:t>
            </a:r>
          </a:p>
          <a:p>
            <a:endParaRPr lang="zh-CN" altLang="en-US" dirty="0"/>
          </a:p>
        </p:txBody>
      </p:sp>
      <p:sp>
        <p:nvSpPr>
          <p:cNvPr id="2253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CF6A42D7-9F30-41B2-AA20-763F3C01C654}" type="slidenum">
              <a:rPr lang="en-US" altLang="zh-CN" sz="1200">
                <a:solidFill>
                  <a:schemeClr val="tx1"/>
                </a:solidFill>
                <a:latin typeface="Garamond" panose="02020404030301010803" pitchFamily="18" charset="0"/>
                <a:ea typeface="华文仿宋" panose="02010600040101010101" pitchFamily="2" charset="-122"/>
              </a:rPr>
              <a:pPr/>
              <a:t>34</a:t>
            </a:fld>
            <a:endParaRPr lang="en-US" altLang="zh-CN" sz="1200" dirty="0">
              <a:solidFill>
                <a:schemeClr val="tx1"/>
              </a:solidFill>
              <a:latin typeface="Garamond" panose="02020404030301010803" pitchFamily="18" charset="0"/>
              <a:ea typeface="华文仿宋" panose="02010600040101010101" pitchFamily="2" charset="-122"/>
            </a:endParaRPr>
          </a:p>
        </p:txBody>
      </p:sp>
    </p:spTree>
    <p:extLst>
      <p:ext uri="{BB962C8B-B14F-4D97-AF65-F5344CB8AC3E}">
        <p14:creationId xmlns:p14="http://schemas.microsoft.com/office/powerpoint/2010/main" val="4095029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noChangeArrowheads="1"/>
          </p:cNvSpPr>
          <p:nvPr>
            <p:ph idx="1"/>
          </p:nvPr>
        </p:nvSpPr>
        <p:spPr>
          <a:xfrm>
            <a:off x="460047" y="685044"/>
            <a:ext cx="10384565" cy="5078412"/>
          </a:xfrm>
        </p:spPr>
        <p:txBody>
          <a:bodyPr/>
          <a:lstStyle/>
          <a:p>
            <a:pPr>
              <a:lnSpc>
                <a:spcPct val="150000"/>
              </a:lnSpc>
              <a:buClr>
                <a:srgbClr val="CC9900"/>
              </a:buClr>
              <a:buFont typeface="Wingdings" panose="05000000000000000000" pitchFamily="2" charset="2"/>
              <a:buNone/>
            </a:pPr>
            <a:r>
              <a:rPr lang="zh-CN" altLang="en-US" sz="2400" dirty="0">
                <a:solidFill>
                  <a:srgbClr val="000000"/>
                </a:solidFill>
              </a:rPr>
              <a:t>（</a:t>
            </a:r>
            <a:r>
              <a:rPr lang="en-US" altLang="zh-CN" sz="2400" dirty="0">
                <a:solidFill>
                  <a:srgbClr val="000000"/>
                </a:solidFill>
              </a:rPr>
              <a:t>2</a:t>
            </a:r>
            <a:r>
              <a:rPr lang="zh-CN" altLang="en-US" sz="2400" dirty="0">
                <a:solidFill>
                  <a:srgbClr val="000000"/>
                </a:solidFill>
              </a:rPr>
              <a:t>）</a:t>
            </a:r>
            <a:r>
              <a:rPr lang="zh-CN" altLang="en-US" sz="2400" b="1" dirty="0">
                <a:solidFill>
                  <a:srgbClr val="3907F1"/>
                </a:solidFill>
              </a:rPr>
              <a:t>渐近下界记号</a:t>
            </a:r>
            <a:r>
              <a:rPr lang="zh-CN" altLang="en-US" sz="2400" b="1" dirty="0">
                <a:solidFill>
                  <a:srgbClr val="3907F1"/>
                </a:solidFill>
                <a:sym typeface="Symbol" panose="05050102010706020507" pitchFamily="18" charset="2"/>
              </a:rPr>
              <a:t></a:t>
            </a:r>
            <a:r>
              <a:rPr lang="zh-CN" altLang="en-US" sz="2400" dirty="0">
                <a:solidFill>
                  <a:srgbClr val="000000"/>
                </a:solidFill>
              </a:rPr>
              <a:t> </a:t>
            </a:r>
          </a:p>
          <a:p>
            <a:pPr>
              <a:lnSpc>
                <a:spcPct val="150000"/>
              </a:lnSpc>
              <a:buClr>
                <a:srgbClr val="CC9900"/>
              </a:buClr>
              <a:buFont typeface="Wingdings" panose="05000000000000000000" pitchFamily="2" charset="2"/>
              <a:buNone/>
            </a:pPr>
            <a:r>
              <a:rPr lang="zh-CN" altLang="en-US"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000000"/>
                </a:solidFill>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i="1" dirty="0">
                <a:solidFill>
                  <a:srgbClr val="000000"/>
                </a:solidFill>
                <a:latin typeface="Times New Roman" panose="02020603050405020304" pitchFamily="18" charset="0"/>
                <a:cs typeface="Times New Roman" panose="02020603050405020304" pitchFamily="18" charset="0"/>
              </a:rPr>
              <a:t>g</a:t>
            </a: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dirty="0">
                <a:solidFill>
                  <a:srgbClr val="000000"/>
                </a:solidFill>
                <a:latin typeface="Times New Roman" panose="02020603050405020304" pitchFamily="18" charset="0"/>
                <a:cs typeface="Times New Roman" panose="02020603050405020304" pitchFamily="18" charset="0"/>
              </a:rPr>
              <a:t>)) = { </a:t>
            </a:r>
            <a:r>
              <a:rPr lang="en-US" altLang="zh-CN" sz="2400" i="1" dirty="0">
                <a:solidFill>
                  <a:srgbClr val="000000"/>
                </a:solidFill>
                <a:latin typeface="Times New Roman" panose="02020603050405020304" pitchFamily="18" charset="0"/>
                <a:cs typeface="Times New Roman" panose="02020603050405020304" pitchFamily="18" charset="0"/>
              </a:rPr>
              <a:t>f</a:t>
            </a: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dirty="0">
                <a:solidFill>
                  <a:srgbClr val="000000"/>
                </a:solidFill>
                <a:latin typeface="Times New Roman" panose="02020603050405020304" pitchFamily="18" charset="0"/>
                <a:cs typeface="Times New Roman" panose="02020603050405020304" pitchFamily="18" charset="0"/>
              </a:rPr>
              <a:t>) | </a:t>
            </a:r>
            <a:r>
              <a:rPr lang="zh-CN" altLang="en-US" sz="2400" dirty="0">
                <a:solidFill>
                  <a:srgbClr val="000000"/>
                </a:solidFill>
                <a:latin typeface="Times New Roman" panose="02020603050405020304" pitchFamily="18" charset="0"/>
                <a:cs typeface="Times New Roman" panose="02020603050405020304" pitchFamily="18" charset="0"/>
              </a:rPr>
              <a:t>存在正常数</a:t>
            </a:r>
            <a:r>
              <a:rPr lang="en-US" altLang="zh-CN" sz="2400" i="1" dirty="0">
                <a:solidFill>
                  <a:srgbClr val="000000"/>
                </a:solidFill>
                <a:latin typeface="Times New Roman" panose="02020603050405020304" pitchFamily="18" charset="0"/>
                <a:cs typeface="Times New Roman" panose="02020603050405020304" pitchFamily="18" charset="0"/>
              </a:rPr>
              <a:t>c</a:t>
            </a:r>
            <a:r>
              <a:rPr lang="zh-CN" altLang="en-US" sz="2400" dirty="0">
                <a:solidFill>
                  <a:srgbClr val="000000"/>
                </a:solidFill>
                <a:latin typeface="Times New Roman" panose="02020603050405020304" pitchFamily="18" charset="0"/>
                <a:cs typeface="Times New Roman" panose="02020603050405020304" pitchFamily="18" charset="0"/>
              </a:rPr>
              <a:t>和</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baseline="-25000" dirty="0">
                <a:solidFill>
                  <a:srgbClr val="000000"/>
                </a:solidFill>
                <a:latin typeface="Times New Roman" panose="02020603050405020304" pitchFamily="18" charset="0"/>
                <a:cs typeface="Times New Roman" panose="02020603050405020304" pitchFamily="18" charset="0"/>
              </a:rPr>
              <a:t>0</a:t>
            </a:r>
            <a:r>
              <a:rPr lang="zh-CN" altLang="en-US" sz="2400" dirty="0">
                <a:solidFill>
                  <a:srgbClr val="000000"/>
                </a:solidFill>
                <a:latin typeface="Times New Roman" panose="02020603050405020304" pitchFamily="18" charset="0"/>
                <a:cs typeface="Times New Roman" panose="02020603050405020304" pitchFamily="18" charset="0"/>
              </a:rPr>
              <a:t>使得对所有</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baseline="-25000" dirty="0">
                <a:solidFill>
                  <a:srgbClr val="000000"/>
                </a:solidFill>
                <a:latin typeface="Times New Roman" panose="02020603050405020304" pitchFamily="18" charset="0"/>
                <a:cs typeface="Times New Roman" panose="02020603050405020304" pitchFamily="18" charset="0"/>
              </a:rPr>
              <a:t>0</a:t>
            </a:r>
            <a:r>
              <a:rPr lang="zh-CN" altLang="en-US" sz="2400" dirty="0">
                <a:solidFill>
                  <a:srgbClr val="000000"/>
                </a:solidFill>
                <a:latin typeface="Times New Roman" panose="02020603050405020304" pitchFamily="18" charset="0"/>
                <a:cs typeface="Times New Roman" panose="02020603050405020304" pitchFamily="18" charset="0"/>
              </a:rPr>
              <a:t>有：</a:t>
            </a:r>
            <a:r>
              <a:rPr lang="en-US" altLang="zh-CN" sz="2400" dirty="0">
                <a:solidFill>
                  <a:srgbClr val="000000"/>
                </a:solidFill>
                <a:latin typeface="Times New Roman" panose="02020603050405020304" pitchFamily="18" charset="0"/>
                <a:cs typeface="Times New Roman" panose="02020603050405020304" pitchFamily="18" charset="0"/>
              </a:rPr>
              <a:t>0</a:t>
            </a:r>
            <a:r>
              <a:rPr lang="en-US" altLang="zh-CN"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solidFill>
                  <a:srgbClr val="000000"/>
                </a:solidFill>
                <a:latin typeface="Times New Roman" panose="02020603050405020304" pitchFamily="18" charset="0"/>
                <a:cs typeface="Times New Roman" panose="02020603050405020304" pitchFamily="18" charset="0"/>
              </a:rPr>
              <a:t> </a:t>
            </a:r>
            <a:r>
              <a:rPr lang="en-US" altLang="zh-CN" sz="2400" i="1" dirty="0">
                <a:solidFill>
                  <a:srgbClr val="000000"/>
                </a:solidFill>
                <a:latin typeface="Times New Roman" panose="02020603050405020304" pitchFamily="18" charset="0"/>
                <a:cs typeface="Times New Roman" panose="02020603050405020304" pitchFamily="18" charset="0"/>
              </a:rPr>
              <a:t>cg</a:t>
            </a: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dirty="0">
                <a:solidFill>
                  <a:srgbClr val="000000"/>
                </a:solidFill>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solidFill>
                  <a:srgbClr val="000000"/>
                </a:solidFill>
                <a:latin typeface="Times New Roman" panose="02020603050405020304" pitchFamily="18" charset="0"/>
                <a:cs typeface="Times New Roman" panose="02020603050405020304" pitchFamily="18" charset="0"/>
              </a:rPr>
              <a:t> </a:t>
            </a:r>
            <a:r>
              <a:rPr lang="en-US" altLang="zh-CN" sz="2400" i="1" dirty="0">
                <a:solidFill>
                  <a:srgbClr val="000000"/>
                </a:solidFill>
                <a:latin typeface="Times New Roman" panose="02020603050405020304" pitchFamily="18" charset="0"/>
                <a:cs typeface="Times New Roman" panose="02020603050405020304" pitchFamily="18" charset="0"/>
              </a:rPr>
              <a:t>f</a:t>
            </a: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dirty="0">
                <a:solidFill>
                  <a:srgbClr val="000000"/>
                </a:solidFill>
                <a:latin typeface="Times New Roman" panose="02020603050405020304" pitchFamily="18" charset="0"/>
                <a:cs typeface="Times New Roman" panose="02020603050405020304" pitchFamily="18" charset="0"/>
              </a:rPr>
              <a:t>) }</a:t>
            </a:r>
          </a:p>
          <a:p>
            <a:endParaRPr lang="zh-CN" altLang="en-US" dirty="0"/>
          </a:p>
        </p:txBody>
      </p:sp>
      <p:sp>
        <p:nvSpPr>
          <p:cNvPr id="2355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809BED0-0E37-47DF-AEF2-781765A275BC}" type="slidenum">
              <a:rPr lang="en-US" altLang="zh-CN" sz="1200">
                <a:solidFill>
                  <a:schemeClr val="tx1"/>
                </a:solidFill>
                <a:latin typeface="Garamond" panose="02020404030301010803" pitchFamily="18" charset="0"/>
                <a:ea typeface="华文仿宋" panose="02010600040101010101" pitchFamily="2" charset="-122"/>
              </a:rPr>
              <a:pPr/>
              <a:t>35</a:t>
            </a:fld>
            <a:endParaRPr lang="en-US" altLang="zh-CN" sz="1200" dirty="0">
              <a:solidFill>
                <a:schemeClr val="tx1"/>
              </a:solidFill>
              <a:latin typeface="Garamond" panose="02020404030301010803" pitchFamily="18" charset="0"/>
              <a:ea typeface="华文仿宋" panose="02010600040101010101" pitchFamily="2" charset="-122"/>
            </a:endParaRPr>
          </a:p>
        </p:txBody>
      </p:sp>
      <p:pic>
        <p:nvPicPr>
          <p:cNvPr id="23556" name="Picture 10" descr="graph_Omeg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726" y="2852739"/>
            <a:ext cx="2951163"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2782888" y="4848225"/>
            <a:ext cx="2199641" cy="584775"/>
          </a:xfrm>
          <a:prstGeom prst="rect">
            <a:avLst/>
          </a:prstGeom>
        </p:spPr>
        <p:txBody>
          <a:bodyPr wrap="none">
            <a:spAutoFit/>
          </a:bodyPr>
          <a:lstStyle/>
          <a:p>
            <a:pPr>
              <a:defRPr/>
            </a:pPr>
            <a:r>
              <a:rPr lang="en-US" altLang="zh-CN" sz="3200" kern="0" dirty="0">
                <a:solidFill>
                  <a:srgbClr val="010000"/>
                </a:solidFill>
                <a:latin typeface="Times New Roman"/>
                <a:ea typeface="华文仿宋" panose="02010600040101010101" pitchFamily="2" charset="-122"/>
              </a:rPr>
              <a:t>3</a:t>
            </a:r>
            <a:r>
              <a:rPr lang="en-US" altLang="zh-CN" sz="3200" i="1" kern="0" dirty="0">
                <a:solidFill>
                  <a:srgbClr val="010000"/>
                </a:solidFill>
                <a:latin typeface="Times New Roman"/>
                <a:ea typeface="华文仿宋" panose="02010600040101010101" pitchFamily="2" charset="-122"/>
              </a:rPr>
              <a:t>n</a:t>
            </a:r>
            <a:r>
              <a:rPr lang="en-US" altLang="zh-CN" sz="3200" kern="0" baseline="30000" dirty="0">
                <a:solidFill>
                  <a:srgbClr val="010000"/>
                </a:solidFill>
                <a:latin typeface="Times New Roman"/>
                <a:ea typeface="华文仿宋" panose="02010600040101010101" pitchFamily="2" charset="-122"/>
              </a:rPr>
              <a:t>3</a:t>
            </a:r>
            <a:r>
              <a:rPr lang="en-US" altLang="zh-CN" sz="3200" kern="0" dirty="0">
                <a:solidFill>
                  <a:srgbClr val="010000"/>
                </a:solidFill>
                <a:latin typeface="Times New Roman"/>
                <a:ea typeface="华文仿宋" panose="02010600040101010101" pitchFamily="2" charset="-122"/>
              </a:rPr>
              <a:t>=</a:t>
            </a:r>
            <a:r>
              <a:rPr lang="zh-CN" altLang="en-US" sz="3200" dirty="0">
                <a:solidFill>
                  <a:srgbClr val="000000"/>
                </a:solidFill>
                <a:latin typeface="华文仿宋" panose="02010600040101010101" pitchFamily="2" charset="-122"/>
                <a:ea typeface="华文仿宋" panose="02010600040101010101" pitchFamily="2" charset="-122"/>
                <a:sym typeface="Symbol" panose="05050102010706020507" pitchFamily="18" charset="2"/>
              </a:rPr>
              <a:t> </a:t>
            </a:r>
            <a:r>
              <a:rPr lang="zh-CN" altLang="en-US" sz="3200" dirty="0">
                <a:solidFill>
                  <a:srgbClr val="000000"/>
                </a:solidFill>
                <a:latin typeface="华文仿宋" panose="02010600040101010101" pitchFamily="2" charset="-122"/>
                <a:ea typeface="华文仿宋" panose="02010600040101010101" pitchFamily="2" charset="-122"/>
              </a:rPr>
              <a:t> </a:t>
            </a:r>
            <a:r>
              <a:rPr lang="en-US" altLang="zh-CN" sz="3200" kern="0" dirty="0">
                <a:solidFill>
                  <a:srgbClr val="010000"/>
                </a:solidFill>
                <a:latin typeface="Times New Roman"/>
                <a:ea typeface="华文仿宋" panose="02010600040101010101" pitchFamily="2" charset="-122"/>
              </a:rPr>
              <a:t>(</a:t>
            </a:r>
            <a:r>
              <a:rPr lang="en-US" altLang="zh-CN" sz="3200" i="1" kern="0" dirty="0">
                <a:solidFill>
                  <a:srgbClr val="010000"/>
                </a:solidFill>
                <a:latin typeface="Times New Roman"/>
                <a:ea typeface="华文仿宋" panose="02010600040101010101" pitchFamily="2" charset="-122"/>
              </a:rPr>
              <a:t>n</a:t>
            </a:r>
            <a:r>
              <a:rPr lang="en-US" altLang="zh-CN" sz="3200" kern="0" baseline="30000" dirty="0">
                <a:solidFill>
                  <a:srgbClr val="010000"/>
                </a:solidFill>
                <a:latin typeface="Times New Roman"/>
                <a:ea typeface="华文仿宋" panose="02010600040101010101" pitchFamily="2" charset="-122"/>
              </a:rPr>
              <a:t>2</a:t>
            </a:r>
            <a:r>
              <a:rPr lang="en-US" altLang="zh-CN" sz="3200" kern="0" dirty="0">
                <a:solidFill>
                  <a:srgbClr val="010000"/>
                </a:solidFill>
                <a:latin typeface="Times New Roman"/>
                <a:ea typeface="华文仿宋" panose="02010600040101010101" pitchFamily="2" charset="-122"/>
              </a:rPr>
              <a:t>) </a:t>
            </a:r>
            <a:endParaRPr lang="zh-CN" altLang="en-US" kern="0" dirty="0">
              <a:solidFill>
                <a:sysClr val="windowText" lastClr="000000"/>
              </a:solidFill>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874831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564023" y="714375"/>
            <a:ext cx="11357360" cy="4827588"/>
          </a:xfrm>
        </p:spPr>
        <p:txBody>
          <a:bodyPr/>
          <a:lstStyle/>
          <a:p>
            <a:pPr>
              <a:lnSpc>
                <a:spcPct val="150000"/>
              </a:lnSpc>
              <a:buFont typeface="Wingdings" panose="05000000000000000000" pitchFamily="2" charset="2"/>
              <a:buNone/>
            </a:pPr>
            <a:r>
              <a:rPr lang="zh-CN" altLang="en-US" sz="2400" dirty="0"/>
              <a:t>（</a:t>
            </a:r>
            <a:r>
              <a:rPr lang="en-US" altLang="zh-CN" sz="2400" dirty="0"/>
              <a:t>3</a:t>
            </a:r>
            <a:r>
              <a:rPr lang="zh-CN" altLang="en-US" sz="2400" dirty="0"/>
              <a:t>）</a:t>
            </a:r>
            <a:r>
              <a:rPr lang="zh-CN" altLang="en-US" sz="2400" b="1" dirty="0">
                <a:solidFill>
                  <a:srgbClr val="3907F1"/>
                </a:solidFill>
              </a:rPr>
              <a:t>紧渐近界记号</a:t>
            </a:r>
            <a:r>
              <a:rPr lang="zh-CN" altLang="en-US" sz="2400" b="1" dirty="0">
                <a:solidFill>
                  <a:srgbClr val="3907F1"/>
                </a:solidFill>
                <a:sym typeface="Symbol" panose="05050102010706020507" pitchFamily="18" charset="2"/>
              </a:rPr>
              <a:t></a:t>
            </a:r>
            <a:r>
              <a:rPr lang="zh-CN" altLang="en-US" sz="2400" b="1" dirty="0">
                <a:solidFill>
                  <a:srgbClr val="3907F1"/>
                </a:solidFill>
              </a:rPr>
              <a:t> </a:t>
            </a:r>
          </a:p>
          <a:p>
            <a:pPr>
              <a:lnSpc>
                <a:spcPct val="150000"/>
              </a:lnSpc>
              <a:buFont typeface="Wingdings" panose="05000000000000000000" pitchFamily="2" charset="2"/>
              <a:buNone/>
            </a:pPr>
            <a:r>
              <a:rPr lang="zh-CN" altLang="en-US" sz="2400" dirty="0">
                <a:sym typeface="Symbol" panose="05050102010706020507" pitchFamily="18" charset="2"/>
              </a:rPr>
              <a:t></a:t>
            </a:r>
            <a:r>
              <a:rPr lang="zh-CN" altLang="en-US" sz="2400" dirty="0"/>
              <a:t> </a:t>
            </a:r>
            <a:r>
              <a:rPr lang="en-US" altLang="zh-CN" sz="2400" dirty="0"/>
              <a:t>(</a:t>
            </a:r>
            <a:r>
              <a:rPr lang="en-US" altLang="zh-CN" sz="2400" i="1" dirty="0"/>
              <a:t>g</a:t>
            </a:r>
            <a:r>
              <a:rPr lang="en-US" altLang="zh-CN" sz="2400" dirty="0"/>
              <a:t>(</a:t>
            </a:r>
            <a:r>
              <a:rPr lang="en-US" altLang="zh-CN" sz="2400" i="1" dirty="0"/>
              <a:t>n</a:t>
            </a:r>
            <a:r>
              <a:rPr lang="en-US" altLang="zh-CN" sz="2400" dirty="0"/>
              <a:t>)) = { </a:t>
            </a:r>
            <a:r>
              <a:rPr lang="en-US" altLang="zh-CN" sz="2400" i="1" dirty="0"/>
              <a:t>f</a:t>
            </a:r>
            <a:r>
              <a:rPr lang="en-US" altLang="zh-CN" sz="2400" dirty="0"/>
              <a:t>(</a:t>
            </a:r>
            <a:r>
              <a:rPr lang="en-US" altLang="zh-CN" sz="2400" i="1" dirty="0"/>
              <a:t>n</a:t>
            </a:r>
            <a:r>
              <a:rPr lang="en-US" altLang="zh-CN" sz="2400" dirty="0"/>
              <a:t>) | </a:t>
            </a:r>
            <a:r>
              <a:rPr lang="zh-CN" altLang="en-US" sz="2400" dirty="0"/>
              <a:t>存在正常数</a:t>
            </a:r>
            <a:r>
              <a:rPr lang="en-US" altLang="zh-CN" sz="2400" i="1" dirty="0"/>
              <a:t>c</a:t>
            </a:r>
            <a:r>
              <a:rPr lang="en-US" altLang="zh-CN" sz="2400" baseline="-25000" dirty="0"/>
              <a:t>1</a:t>
            </a:r>
            <a:r>
              <a:rPr lang="en-US" altLang="zh-CN" sz="2400" i="1" dirty="0"/>
              <a:t>,c</a:t>
            </a:r>
            <a:r>
              <a:rPr lang="en-US" altLang="zh-CN" sz="2400" baseline="-25000" dirty="0"/>
              <a:t>2</a:t>
            </a:r>
            <a:r>
              <a:rPr lang="zh-CN" altLang="en-US" sz="2400" dirty="0"/>
              <a:t>和</a:t>
            </a:r>
            <a:r>
              <a:rPr lang="en-US" altLang="zh-CN" sz="2400" i="1" dirty="0"/>
              <a:t>n</a:t>
            </a:r>
            <a:r>
              <a:rPr lang="en-US" altLang="zh-CN" sz="2400" baseline="-25000" dirty="0"/>
              <a:t>0</a:t>
            </a:r>
            <a:r>
              <a:rPr lang="zh-CN" altLang="en-US" sz="2400" dirty="0"/>
              <a:t>使得对所有</a:t>
            </a:r>
            <a:r>
              <a:rPr lang="en-US" altLang="zh-CN" sz="2400" i="1" dirty="0"/>
              <a:t>n</a:t>
            </a:r>
            <a:r>
              <a:rPr lang="en-US" altLang="zh-CN" sz="2400" dirty="0">
                <a:sym typeface="Symbol" panose="05050102010706020507" pitchFamily="18" charset="2"/>
              </a:rPr>
              <a:t> </a:t>
            </a:r>
            <a:r>
              <a:rPr lang="en-US" altLang="zh-CN" sz="2400" i="1" dirty="0"/>
              <a:t>n</a:t>
            </a:r>
            <a:r>
              <a:rPr lang="en-US" altLang="zh-CN" sz="2400" baseline="-25000" dirty="0"/>
              <a:t>0</a:t>
            </a:r>
            <a:r>
              <a:rPr lang="zh-CN" altLang="en-US" sz="2400" dirty="0"/>
              <a:t>有：</a:t>
            </a:r>
            <a:r>
              <a:rPr lang="en-US" altLang="zh-CN" sz="2400" i="1" dirty="0"/>
              <a:t>c</a:t>
            </a:r>
            <a:r>
              <a:rPr lang="en-US" altLang="zh-CN" sz="2400" baseline="-25000" dirty="0"/>
              <a:t>1</a:t>
            </a:r>
            <a:r>
              <a:rPr lang="en-US" altLang="zh-CN" sz="2400" i="1" dirty="0"/>
              <a:t>g</a:t>
            </a:r>
            <a:r>
              <a:rPr lang="en-US" altLang="zh-CN" sz="2400" dirty="0"/>
              <a:t>(</a:t>
            </a:r>
            <a:r>
              <a:rPr lang="en-US" altLang="zh-CN" sz="2400" i="1" dirty="0"/>
              <a:t>n</a:t>
            </a:r>
            <a:r>
              <a:rPr lang="en-US" altLang="zh-CN" sz="2400" dirty="0"/>
              <a:t>) </a:t>
            </a:r>
            <a:r>
              <a:rPr lang="en-US" altLang="zh-CN" sz="2400" dirty="0">
                <a:sym typeface="Symbol" panose="05050102010706020507" pitchFamily="18" charset="2"/>
              </a:rPr>
              <a:t> </a:t>
            </a:r>
            <a:r>
              <a:rPr lang="en-US" altLang="zh-CN" sz="2400" i="1" dirty="0"/>
              <a:t>f</a:t>
            </a:r>
            <a:r>
              <a:rPr lang="en-US" altLang="zh-CN" sz="2400" dirty="0"/>
              <a:t>(</a:t>
            </a:r>
            <a:r>
              <a:rPr lang="en-US" altLang="zh-CN" sz="2400" i="1" dirty="0"/>
              <a:t>n</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c</a:t>
            </a:r>
            <a:r>
              <a:rPr lang="en-US" altLang="zh-CN" sz="2400" baseline="-25000" dirty="0"/>
              <a:t>2</a:t>
            </a:r>
            <a:r>
              <a:rPr lang="en-US" altLang="zh-CN" sz="2400" i="1" dirty="0"/>
              <a:t>g</a:t>
            </a:r>
            <a:r>
              <a:rPr lang="en-US" altLang="zh-CN" sz="2400" dirty="0"/>
              <a:t>(</a:t>
            </a:r>
            <a:r>
              <a:rPr lang="en-US" altLang="zh-CN" sz="2400" i="1" dirty="0"/>
              <a:t>n</a:t>
            </a:r>
            <a:r>
              <a:rPr lang="en-US" altLang="zh-CN" sz="2400" dirty="0"/>
              <a:t>) }</a:t>
            </a:r>
          </a:p>
          <a:p>
            <a:pPr>
              <a:buFont typeface="Wingdings" panose="05000000000000000000" pitchFamily="2" charset="2"/>
              <a:buNone/>
            </a:pPr>
            <a:r>
              <a:rPr lang="en-US" altLang="zh-CN" sz="2400" b="1" dirty="0"/>
              <a:t> </a:t>
            </a:r>
            <a:r>
              <a:rPr lang="zh-CN" altLang="en-US" sz="2400" b="1" dirty="0">
                <a:solidFill>
                  <a:srgbClr val="3907F1"/>
                </a:solidFill>
              </a:rPr>
              <a:t>定理</a:t>
            </a:r>
            <a:r>
              <a:rPr lang="en-US" altLang="zh-CN" sz="2400" b="1" dirty="0">
                <a:solidFill>
                  <a:srgbClr val="3907F1"/>
                </a:solidFill>
              </a:rPr>
              <a:t>1</a:t>
            </a:r>
            <a:r>
              <a:rPr lang="zh-CN" altLang="en-US" sz="2400" b="1" dirty="0">
                <a:solidFill>
                  <a:srgbClr val="3907F1"/>
                </a:solidFill>
              </a:rPr>
              <a:t>：</a:t>
            </a:r>
            <a:r>
              <a:rPr lang="zh-CN" altLang="en-US" sz="2400" dirty="0"/>
              <a:t> </a:t>
            </a:r>
            <a:r>
              <a:rPr lang="zh-CN" altLang="en-US" sz="2400" dirty="0">
                <a:sym typeface="Symbol" panose="05050102010706020507" pitchFamily="18" charset="2"/>
              </a:rPr>
              <a:t></a:t>
            </a:r>
            <a:r>
              <a:rPr lang="zh-CN" altLang="en-US" sz="2400" dirty="0"/>
              <a:t> </a:t>
            </a:r>
            <a:r>
              <a:rPr lang="en-US" altLang="zh-CN" sz="2400" dirty="0"/>
              <a:t>(</a:t>
            </a:r>
            <a:r>
              <a:rPr lang="en-US" altLang="zh-CN" sz="2400" i="1" dirty="0"/>
              <a:t>g</a:t>
            </a:r>
            <a:r>
              <a:rPr lang="en-US" altLang="zh-CN" sz="2400" dirty="0"/>
              <a:t>(</a:t>
            </a:r>
            <a:r>
              <a:rPr lang="en-US" altLang="zh-CN" sz="2400" i="1" dirty="0"/>
              <a:t>n</a:t>
            </a:r>
            <a:r>
              <a:rPr lang="en-US" altLang="zh-CN" sz="2400" dirty="0"/>
              <a:t>)) = </a:t>
            </a:r>
            <a:r>
              <a:rPr lang="en-US" altLang="zh-CN" sz="2400" i="1" dirty="0">
                <a:sym typeface="Symbol" panose="05050102010706020507" pitchFamily="18" charset="2"/>
              </a:rPr>
              <a:t>O</a:t>
            </a:r>
            <a:r>
              <a:rPr lang="en-US" altLang="zh-CN" sz="2400" dirty="0"/>
              <a:t> (</a:t>
            </a:r>
            <a:r>
              <a:rPr lang="en-US" altLang="zh-CN" sz="2400" i="1" dirty="0"/>
              <a:t>g</a:t>
            </a:r>
            <a:r>
              <a:rPr lang="en-US" altLang="zh-CN" sz="2400" dirty="0"/>
              <a:t>(</a:t>
            </a:r>
            <a:r>
              <a:rPr lang="en-US" altLang="zh-CN" sz="2400" i="1" dirty="0"/>
              <a:t>n</a:t>
            </a:r>
            <a:r>
              <a:rPr lang="en-US" altLang="zh-CN" sz="2400" dirty="0"/>
              <a:t>)) </a:t>
            </a:r>
            <a:r>
              <a:rPr lang="en-US" altLang="zh-CN" sz="2400" dirty="0">
                <a:sym typeface="Symbol" panose="05050102010706020507" pitchFamily="18" charset="2"/>
              </a:rPr>
              <a:t></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g</a:t>
            </a:r>
            <a:r>
              <a:rPr lang="en-US" altLang="zh-CN" sz="2400" dirty="0"/>
              <a:t>(</a:t>
            </a:r>
            <a:r>
              <a:rPr lang="en-US" altLang="zh-CN" sz="2400" i="1" dirty="0"/>
              <a:t>n</a:t>
            </a:r>
            <a:r>
              <a:rPr lang="en-US" altLang="zh-CN" sz="2400" dirty="0"/>
              <a:t>)) </a:t>
            </a:r>
          </a:p>
        </p:txBody>
      </p:sp>
      <p:pic>
        <p:nvPicPr>
          <p:cNvPr id="24579" name="Picture 3" descr="graph_th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2997200"/>
            <a:ext cx="2914650"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782889" y="4724401"/>
            <a:ext cx="3089275" cy="536575"/>
          </a:xfrm>
          <a:prstGeom prst="rect">
            <a:avLst/>
          </a:prstGeom>
        </p:spPr>
        <p:txBody>
          <a:bodyPr wrap="none">
            <a:spAutoFit/>
          </a:bodyPr>
          <a:lstStyle/>
          <a:p>
            <a:pPr>
              <a:lnSpc>
                <a:spcPct val="90000"/>
              </a:lnSpc>
              <a:spcBef>
                <a:spcPct val="20000"/>
              </a:spcBef>
              <a:defRPr/>
            </a:pPr>
            <a:r>
              <a:rPr lang="en-US" altLang="zh-CN" sz="3200" kern="0" dirty="0">
                <a:solidFill>
                  <a:srgbClr val="010000"/>
                </a:solidFill>
                <a:latin typeface="Times New Roman"/>
                <a:ea typeface="华文仿宋" panose="02010600040101010101" pitchFamily="2" charset="-122"/>
              </a:rPr>
              <a:t>10</a:t>
            </a:r>
            <a:r>
              <a:rPr lang="en-US" altLang="zh-CN" sz="3200" i="1" kern="0" dirty="0">
                <a:solidFill>
                  <a:srgbClr val="010000"/>
                </a:solidFill>
                <a:latin typeface="Times New Roman"/>
                <a:ea typeface="华文仿宋" panose="02010600040101010101" pitchFamily="2" charset="-122"/>
              </a:rPr>
              <a:t>n</a:t>
            </a:r>
            <a:r>
              <a:rPr lang="en-US" altLang="zh-CN" sz="3200" kern="0" baseline="30000" dirty="0">
                <a:solidFill>
                  <a:srgbClr val="010000"/>
                </a:solidFill>
                <a:latin typeface="Times New Roman"/>
                <a:ea typeface="华文仿宋" panose="02010600040101010101" pitchFamily="2" charset="-122"/>
              </a:rPr>
              <a:t>2</a:t>
            </a:r>
            <a:r>
              <a:rPr lang="en-US" altLang="zh-CN" sz="3200" i="1" kern="0" dirty="0">
                <a:solidFill>
                  <a:srgbClr val="010000"/>
                </a:solidFill>
                <a:latin typeface="Times New Roman"/>
                <a:ea typeface="华文仿宋" panose="02010600040101010101" pitchFamily="2" charset="-122"/>
              </a:rPr>
              <a:t> </a:t>
            </a:r>
            <a:r>
              <a:rPr lang="en-US" altLang="zh-CN" sz="3200" kern="0" dirty="0">
                <a:solidFill>
                  <a:srgbClr val="010000"/>
                </a:solidFill>
                <a:latin typeface="Times New Roman"/>
                <a:ea typeface="华文仿宋" panose="02010600040101010101" pitchFamily="2" charset="-122"/>
              </a:rPr>
              <a:t>-</a:t>
            </a:r>
            <a:r>
              <a:rPr lang="en-US" altLang="zh-CN" sz="3200" i="1" kern="0" dirty="0">
                <a:solidFill>
                  <a:srgbClr val="010000"/>
                </a:solidFill>
                <a:latin typeface="Times New Roman"/>
                <a:ea typeface="华文仿宋" panose="02010600040101010101" pitchFamily="2" charset="-122"/>
              </a:rPr>
              <a:t> </a:t>
            </a:r>
            <a:r>
              <a:rPr lang="en-US" altLang="zh-CN" sz="3200" kern="0" dirty="0">
                <a:solidFill>
                  <a:srgbClr val="010000"/>
                </a:solidFill>
                <a:latin typeface="Times New Roman"/>
                <a:ea typeface="华文仿宋" panose="02010600040101010101" pitchFamily="2" charset="-122"/>
              </a:rPr>
              <a:t>3</a:t>
            </a:r>
            <a:r>
              <a:rPr lang="en-US" altLang="zh-CN" sz="3200" i="1" kern="0" dirty="0">
                <a:solidFill>
                  <a:srgbClr val="010000"/>
                </a:solidFill>
                <a:latin typeface="Times New Roman"/>
                <a:ea typeface="华文仿宋" panose="02010600040101010101" pitchFamily="2" charset="-122"/>
              </a:rPr>
              <a:t>n = </a:t>
            </a:r>
            <a:r>
              <a:rPr lang="en-US" altLang="zh-CN" sz="3200" kern="0" dirty="0">
                <a:solidFill>
                  <a:srgbClr val="010000"/>
                </a:solidFill>
                <a:latin typeface="Symbol" panose="05050102010706020507" pitchFamily="18" charset="2"/>
                <a:ea typeface="华文仿宋" panose="02010600040101010101" pitchFamily="2" charset="-122"/>
              </a:rPr>
              <a:t>Q</a:t>
            </a:r>
            <a:r>
              <a:rPr lang="en-US" altLang="zh-CN" sz="3200" kern="0" dirty="0">
                <a:solidFill>
                  <a:srgbClr val="010000"/>
                </a:solidFill>
                <a:latin typeface="Times New Roman"/>
                <a:ea typeface="华文仿宋" panose="02010600040101010101" pitchFamily="2" charset="-122"/>
              </a:rPr>
              <a:t>(</a:t>
            </a:r>
            <a:r>
              <a:rPr lang="en-US" altLang="zh-CN" sz="3200" i="1" kern="0" dirty="0">
                <a:solidFill>
                  <a:srgbClr val="010000"/>
                </a:solidFill>
                <a:latin typeface="Times New Roman"/>
                <a:ea typeface="华文仿宋" panose="02010600040101010101" pitchFamily="2" charset="-122"/>
              </a:rPr>
              <a:t>n</a:t>
            </a:r>
            <a:r>
              <a:rPr lang="en-US" altLang="zh-CN" sz="3200" kern="0" baseline="30000" dirty="0">
                <a:solidFill>
                  <a:srgbClr val="010000"/>
                </a:solidFill>
                <a:latin typeface="Times New Roman"/>
                <a:ea typeface="华文仿宋" panose="02010600040101010101" pitchFamily="2" charset="-122"/>
              </a:rPr>
              <a:t>2</a:t>
            </a:r>
            <a:r>
              <a:rPr lang="en-US" altLang="zh-CN" sz="3200" kern="0" dirty="0">
                <a:solidFill>
                  <a:srgbClr val="010000"/>
                </a:solidFill>
                <a:latin typeface="Times New Roman"/>
                <a:ea typeface="华文仿宋" panose="02010600040101010101" pitchFamily="2" charset="-122"/>
              </a:rPr>
              <a:t>)</a:t>
            </a:r>
          </a:p>
        </p:txBody>
      </p:sp>
    </p:spTree>
    <p:extLst>
      <p:ext uri="{BB962C8B-B14F-4D97-AF65-F5344CB8AC3E}">
        <p14:creationId xmlns:p14="http://schemas.microsoft.com/office/powerpoint/2010/main" val="9561326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92313" y="549276"/>
            <a:ext cx="8229600" cy="1139825"/>
          </a:xfrm>
        </p:spPr>
        <p:txBody>
          <a:bodyPr/>
          <a:lstStyle/>
          <a:p>
            <a:r>
              <a:rPr lang="en-US" altLang="zh-CN">
                <a:latin typeface="Symbol" panose="05050102010706020507" pitchFamily="18" charset="2"/>
              </a:rPr>
              <a:t>Q</a:t>
            </a:r>
            <a:r>
              <a:rPr lang="en-US" altLang="zh-CN"/>
              <a:t>, </a:t>
            </a:r>
            <a:r>
              <a:rPr lang="en-US" altLang="zh-CN" i="1"/>
              <a:t>O, </a:t>
            </a:r>
            <a:r>
              <a:rPr lang="en-US" altLang="zh-CN">
                <a:latin typeface="Symbol" panose="05050102010706020507" pitchFamily="18" charset="2"/>
              </a:rPr>
              <a:t>W</a:t>
            </a:r>
            <a:r>
              <a:rPr lang="zh-CN" altLang="en-US">
                <a:latin typeface="Symbol" panose="05050102010706020507" pitchFamily="18" charset="2"/>
              </a:rPr>
              <a:t>之间的关系</a:t>
            </a:r>
            <a:endParaRPr lang="en-US" altLang="zh-CN"/>
          </a:p>
        </p:txBody>
      </p:sp>
      <p:pic>
        <p:nvPicPr>
          <p:cNvPr id="25603" name="Picture 3" descr="graph_th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425" y="2395539"/>
            <a:ext cx="26543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4" descr="graph_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9150" y="2395539"/>
            <a:ext cx="26543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5" descr="graph_Omeg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1113" y="2395539"/>
            <a:ext cx="26543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44719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noChangeArrowheads="1"/>
          </p:cNvSpPr>
          <p:nvPr>
            <p:ph type="title"/>
          </p:nvPr>
        </p:nvSpPr>
        <p:spPr>
          <a:xfrm>
            <a:off x="235299" y="40944"/>
            <a:ext cx="10515600" cy="1325563"/>
          </a:xfrm>
        </p:spPr>
        <p:txBody>
          <a:bodyPr/>
          <a:lstStyle/>
          <a:p>
            <a:r>
              <a:rPr lang="en-US" altLang="zh-CN" dirty="0"/>
              <a:t>Big-O </a:t>
            </a:r>
            <a:endParaRPr lang="zh-CN" altLang="en-US" dirty="0"/>
          </a:p>
        </p:txBody>
      </p:sp>
      <p:sp>
        <p:nvSpPr>
          <p:cNvPr id="26628" name="Rectangle 3" descr="Rectangle: Click to edit Master text styles&#10;Second level&#10;Third level&#10;Fourth level&#10;Fifth level"/>
          <p:cNvSpPr>
            <a:spLocks noGrp="1" noChangeArrowheads="1"/>
          </p:cNvSpPr>
          <p:nvPr>
            <p:ph idx="1"/>
          </p:nvPr>
        </p:nvSpPr>
        <p:spPr>
          <a:xfrm>
            <a:off x="838200" y="1365250"/>
            <a:ext cx="10515600" cy="4351338"/>
          </a:xfrm>
        </p:spPr>
        <p:txBody>
          <a:bodyPr>
            <a:normAutofit/>
          </a:bodyPr>
          <a:lstStyle/>
          <a:p>
            <a:pPr marL="533400" indent="-533400">
              <a:buNone/>
            </a:pPr>
            <a:r>
              <a:rPr lang="zh-CN" altLang="en-US" dirty="0"/>
              <a:t>略去低阶项和常数系数项留下的主项</a:t>
            </a:r>
            <a:endParaRPr lang="en-US" altLang="zh-CN" dirty="0"/>
          </a:p>
          <a:p>
            <a:pPr marL="533400" indent="-533400">
              <a:buNone/>
            </a:pPr>
            <a:r>
              <a:rPr lang="zh-CN" altLang="en-US" dirty="0"/>
              <a:t>      略去低阶项</a:t>
            </a:r>
            <a:endParaRPr lang="en-US" altLang="zh-CN" dirty="0"/>
          </a:p>
          <a:p>
            <a:pPr marL="1371600" lvl="2" indent="-457200"/>
            <a:r>
              <a:rPr lang="en-US" altLang="zh-CN" sz="2800" dirty="0"/>
              <a:t>4n + 5   </a:t>
            </a:r>
            <a:r>
              <a:rPr lang="en-US" altLang="zh-CN" sz="2800" dirty="0">
                <a:sym typeface="Symbol" panose="05050102010706020507" pitchFamily="18" charset="2"/>
              </a:rPr>
              <a:t>   4n</a:t>
            </a:r>
          </a:p>
          <a:p>
            <a:pPr marL="1371600" lvl="2" indent="-457200"/>
            <a:r>
              <a:rPr lang="en-US" altLang="zh-CN" sz="2800" dirty="0"/>
              <a:t>0.5 n log n  -  2n  +  7   </a:t>
            </a:r>
            <a:r>
              <a:rPr lang="en-US" altLang="zh-CN" sz="2800" dirty="0">
                <a:sym typeface="Symbol" panose="05050102010706020507" pitchFamily="18" charset="2"/>
              </a:rPr>
              <a:t>   0.5 n log n</a:t>
            </a:r>
            <a:endParaRPr lang="en-US" altLang="zh-CN" sz="2800" dirty="0"/>
          </a:p>
          <a:p>
            <a:pPr marL="914400" lvl="1" indent="-457200">
              <a:buClr>
                <a:schemeClr val="tx1"/>
              </a:buClr>
              <a:buNone/>
            </a:pPr>
            <a:r>
              <a:rPr lang="zh-CN" altLang="en-US" sz="2800" dirty="0"/>
              <a:t>略去常数系数项</a:t>
            </a:r>
            <a:endParaRPr lang="en-US" altLang="zh-CN" sz="2800" dirty="0"/>
          </a:p>
          <a:p>
            <a:pPr marL="1371600" lvl="2" indent="-457200"/>
            <a:r>
              <a:rPr lang="en-US" altLang="zh-CN" sz="2800" dirty="0"/>
              <a:t>4n   </a:t>
            </a:r>
            <a:r>
              <a:rPr lang="en-US" altLang="zh-CN" sz="2800" dirty="0">
                <a:sym typeface="Symbol" panose="05050102010706020507" pitchFamily="18" charset="2"/>
              </a:rPr>
              <a:t>   n</a:t>
            </a:r>
          </a:p>
          <a:p>
            <a:pPr marL="1371600" lvl="2" indent="-457200"/>
            <a:r>
              <a:rPr lang="en-US" altLang="zh-CN" sz="2800" dirty="0">
                <a:sym typeface="Symbol" panose="05050102010706020507" pitchFamily="18" charset="2"/>
              </a:rPr>
              <a:t>0.5 n log n      n log n</a:t>
            </a:r>
          </a:p>
          <a:p>
            <a:pPr marL="1371600" lvl="2" indent="-457200"/>
            <a:r>
              <a:rPr lang="en-US" altLang="zh-CN" sz="2800" dirty="0">
                <a:sym typeface="Symbol" panose="05050102010706020507" pitchFamily="18" charset="2"/>
              </a:rPr>
              <a:t>log n</a:t>
            </a:r>
            <a:r>
              <a:rPr lang="en-US" altLang="zh-CN" sz="2800" baseline="30000" dirty="0">
                <a:sym typeface="Symbol" panose="05050102010706020507" pitchFamily="18" charset="2"/>
              </a:rPr>
              <a:t>2</a:t>
            </a:r>
            <a:r>
              <a:rPr lang="en-US" altLang="zh-CN" sz="2800" dirty="0">
                <a:sym typeface="Symbol" panose="05050102010706020507" pitchFamily="18" charset="2"/>
              </a:rPr>
              <a:t>  =  2 log n        log n</a:t>
            </a:r>
          </a:p>
          <a:p>
            <a:pPr marL="1371600" lvl="2" indent="-457200"/>
            <a:r>
              <a:rPr lang="en-US" altLang="zh-CN" sz="2800" dirty="0">
                <a:sym typeface="Symbol" panose="05050102010706020507" pitchFamily="18" charset="2"/>
              </a:rPr>
              <a:t>log</a:t>
            </a:r>
            <a:r>
              <a:rPr lang="en-US" altLang="zh-CN" sz="2800" baseline="-25000" dirty="0">
                <a:sym typeface="Symbol" panose="05050102010706020507" pitchFamily="18" charset="2"/>
              </a:rPr>
              <a:t>3</a:t>
            </a:r>
            <a:r>
              <a:rPr lang="en-US" altLang="zh-CN" sz="2800" dirty="0">
                <a:sym typeface="Symbol" panose="05050102010706020507" pitchFamily="18" charset="2"/>
              </a:rPr>
              <a:t> n  =  (log</a:t>
            </a:r>
            <a:r>
              <a:rPr lang="en-US" altLang="zh-CN" sz="2800" baseline="-25000" dirty="0">
                <a:sym typeface="Symbol" panose="05050102010706020507" pitchFamily="18" charset="2"/>
              </a:rPr>
              <a:t>3</a:t>
            </a:r>
            <a:r>
              <a:rPr lang="en-US" altLang="zh-CN" sz="2800" dirty="0">
                <a:sym typeface="Symbol" panose="05050102010706020507" pitchFamily="18" charset="2"/>
              </a:rPr>
              <a:t> 2) log n     log n</a:t>
            </a:r>
          </a:p>
        </p:txBody>
      </p:sp>
      <p:sp>
        <p:nvSpPr>
          <p:cNvPr id="2662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D95B3C91-5961-4746-A89A-926556756DC3}" type="slidenum">
              <a:rPr lang="en-US" altLang="zh-CN" sz="1200">
                <a:solidFill>
                  <a:schemeClr val="tx1"/>
                </a:solidFill>
                <a:latin typeface="Garamond" panose="02020404030301010803" pitchFamily="18" charset="0"/>
                <a:ea typeface="华文仿宋" panose="02010600040101010101" pitchFamily="2" charset="-122"/>
              </a:rPr>
              <a:pPr/>
              <a:t>38</a:t>
            </a:fld>
            <a:endParaRPr lang="en-US" altLang="zh-CN" sz="1200" dirty="0">
              <a:solidFill>
                <a:schemeClr val="tx1"/>
              </a:solidFill>
              <a:latin typeface="Garamond" panose="02020404030301010803" pitchFamily="18" charset="0"/>
              <a:ea typeface="华文仿宋" panose="02010600040101010101" pitchFamily="2" charset="-122"/>
            </a:endParaRPr>
          </a:p>
        </p:txBody>
      </p:sp>
      <p:sp>
        <p:nvSpPr>
          <p:cNvPr id="26629" name="矩形 5"/>
          <p:cNvSpPr>
            <a:spLocks noChangeArrowheads="1"/>
          </p:cNvSpPr>
          <p:nvPr/>
        </p:nvSpPr>
        <p:spPr bwMode="auto">
          <a:xfrm>
            <a:off x="1676749" y="5716588"/>
            <a:ext cx="90741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000">
                <a:solidFill>
                  <a:srgbClr val="000066"/>
                </a:solidFill>
                <a:latin typeface="Arial" panose="020B0604020202020204" pitchFamily="34" charset="0"/>
                <a:ea typeface="楷体_GB2312" pitchFamily="49" charset="-122"/>
              </a:defRPr>
            </a:lvl1pPr>
            <a:lvl2pPr>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lvl="1"/>
            <a:r>
              <a:rPr lang="en-US" altLang="zh-CN" sz="2400" dirty="0">
                <a:ea typeface="华文仿宋" panose="02010600040101010101" pitchFamily="2" charset="-122"/>
              </a:rPr>
              <a:t>2n</a:t>
            </a:r>
            <a:r>
              <a:rPr lang="en-US" altLang="zh-CN" sz="2400" baseline="30000" dirty="0">
                <a:ea typeface="华文仿宋" panose="02010600040101010101" pitchFamily="2" charset="-122"/>
              </a:rPr>
              <a:t>2</a:t>
            </a:r>
            <a:r>
              <a:rPr lang="en-US" altLang="zh-CN" sz="2400" dirty="0">
                <a:ea typeface="华文仿宋" panose="02010600040101010101" pitchFamily="2" charset="-122"/>
              </a:rPr>
              <a:t> + 4n   =   O(n</a:t>
            </a:r>
            <a:r>
              <a:rPr lang="en-US" altLang="zh-CN" sz="2400" baseline="30000" dirty="0">
                <a:ea typeface="华文仿宋" panose="02010600040101010101" pitchFamily="2" charset="-122"/>
              </a:rPr>
              <a:t>2</a:t>
            </a:r>
            <a:r>
              <a:rPr lang="en-US" altLang="zh-CN" sz="2400" dirty="0">
                <a:ea typeface="华文仿宋" panose="02010600040101010101" pitchFamily="2" charset="-122"/>
              </a:rPr>
              <a:t>) </a:t>
            </a:r>
            <a:r>
              <a:rPr lang="en-US" altLang="zh-CN" sz="2400" b="1" dirty="0">
                <a:solidFill>
                  <a:srgbClr val="FF0000"/>
                </a:solidFill>
                <a:ea typeface="黑体" panose="02010609060101010101" pitchFamily="49" charset="-122"/>
                <a:cs typeface="Times New Roman" panose="02020603050405020304" pitchFamily="18" charset="0"/>
                <a:sym typeface="Wingdings" panose="05000000000000000000" pitchFamily="2" charset="2"/>
              </a:rPr>
              <a:t></a:t>
            </a:r>
            <a:endParaRPr lang="en-US" altLang="zh-CN" sz="2400" dirty="0">
              <a:ea typeface="华文仿宋" panose="02010600040101010101" pitchFamily="2" charset="-122"/>
            </a:endParaRPr>
          </a:p>
          <a:p>
            <a:pPr lvl="1"/>
            <a:r>
              <a:rPr lang="en-US" altLang="zh-CN" sz="2400" dirty="0">
                <a:ea typeface="华文仿宋" panose="02010600040101010101" pitchFamily="2" charset="-122"/>
              </a:rPr>
              <a:t>O(n</a:t>
            </a:r>
            <a:r>
              <a:rPr lang="en-US" altLang="zh-CN" sz="2400" baseline="30000" dirty="0">
                <a:ea typeface="华文仿宋" panose="02010600040101010101" pitchFamily="2" charset="-122"/>
              </a:rPr>
              <a:t>2</a:t>
            </a:r>
            <a:r>
              <a:rPr lang="en-US" altLang="zh-CN" sz="2400" dirty="0">
                <a:ea typeface="华文仿宋" panose="02010600040101010101" pitchFamily="2" charset="-122"/>
              </a:rPr>
              <a:t>)   =   2n</a:t>
            </a:r>
            <a:r>
              <a:rPr lang="en-US" altLang="zh-CN" sz="2400" baseline="30000" dirty="0">
                <a:ea typeface="华文仿宋" panose="02010600040101010101" pitchFamily="2" charset="-122"/>
              </a:rPr>
              <a:t>2</a:t>
            </a:r>
            <a:r>
              <a:rPr lang="en-US" altLang="zh-CN" sz="2400" dirty="0">
                <a:ea typeface="华文仿宋" panose="02010600040101010101" pitchFamily="2" charset="-122"/>
              </a:rPr>
              <a:t> + 4n  </a:t>
            </a:r>
            <a:r>
              <a:rPr lang="en-US" altLang="zh-CN" sz="2400" b="1" dirty="0">
                <a:solidFill>
                  <a:srgbClr val="FF0000"/>
                </a:solidFill>
                <a:sym typeface="Wingdings" panose="05000000000000000000" pitchFamily="2" charset="2"/>
              </a:rPr>
              <a:t> </a:t>
            </a:r>
            <a:endParaRPr lang="en-US" altLang="zh-CN" sz="2400" dirty="0">
              <a:ea typeface="华文仿宋" panose="02010600040101010101" pitchFamily="2" charset="-122"/>
            </a:endParaRPr>
          </a:p>
        </p:txBody>
      </p:sp>
    </p:spTree>
    <p:extLst>
      <p:ext uri="{BB962C8B-B14F-4D97-AF65-F5344CB8AC3E}">
        <p14:creationId xmlns:p14="http://schemas.microsoft.com/office/powerpoint/2010/main" val="39112276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68181" y="91659"/>
            <a:ext cx="10515600" cy="1325563"/>
          </a:xfrm>
        </p:spPr>
        <p:txBody>
          <a:bodyPr/>
          <a:lstStyle/>
          <a:p>
            <a:r>
              <a:rPr lang="en-US" altLang="zh-CN" dirty="0"/>
              <a:t>Big-O </a:t>
            </a:r>
            <a:r>
              <a:rPr lang="zh-CN" altLang="en-US" dirty="0"/>
              <a:t>实例</a:t>
            </a:r>
            <a:endParaRPr lang="en-US" altLang="zh-CN" dirty="0"/>
          </a:p>
        </p:txBody>
      </p:sp>
      <p:sp>
        <p:nvSpPr>
          <p:cNvPr id="27651" name="Rectangle 3" descr="Rectangle: Click to edit Master text styles&#10;Second level&#10;Third level&#10;Fourth level&#10;Fifth level"/>
          <p:cNvSpPr>
            <a:spLocks noGrp="1" noChangeArrowheads="1"/>
          </p:cNvSpPr>
          <p:nvPr>
            <p:ph idx="1"/>
          </p:nvPr>
        </p:nvSpPr>
        <p:spPr>
          <a:xfrm>
            <a:off x="604577" y="1157289"/>
            <a:ext cx="8342119" cy="4648200"/>
          </a:xfrm>
        </p:spPr>
        <p:txBody>
          <a:bodyPr>
            <a:noAutofit/>
          </a:bodyPr>
          <a:lstStyle/>
          <a:p>
            <a:pPr>
              <a:buClr>
                <a:schemeClr val="tx1"/>
              </a:buClr>
              <a:buFont typeface="Wingdings" panose="05000000000000000000" pitchFamily="2" charset="2"/>
              <a:buNone/>
            </a:pPr>
            <a:r>
              <a:rPr lang="en-US" altLang="zh-CN" dirty="0"/>
              <a:t>n</a:t>
            </a:r>
            <a:r>
              <a:rPr lang="en-US" altLang="zh-CN" baseline="30000" dirty="0"/>
              <a:t>2</a:t>
            </a:r>
            <a:r>
              <a:rPr lang="en-US" altLang="zh-CN" dirty="0"/>
              <a:t> + 100 n </a:t>
            </a:r>
            <a:r>
              <a:rPr lang="en-US" altLang="zh-CN" dirty="0">
                <a:sym typeface="Symbol" panose="05050102010706020507" pitchFamily="18" charset="2"/>
              </a:rPr>
              <a:t> = </a:t>
            </a:r>
            <a:r>
              <a:rPr lang="en-US" altLang="zh-CN" dirty="0"/>
              <a:t> </a:t>
            </a:r>
            <a:r>
              <a:rPr lang="en-US" altLang="zh-CN" dirty="0">
                <a:sym typeface="Symbol" panose="05050102010706020507" pitchFamily="18" charset="2"/>
              </a:rPr>
              <a:t>O(n</a:t>
            </a:r>
            <a:r>
              <a:rPr lang="en-US" altLang="zh-CN" baseline="30000" dirty="0">
                <a:sym typeface="Symbol" panose="05050102010706020507" pitchFamily="18" charset="2"/>
              </a:rPr>
              <a:t>2</a:t>
            </a:r>
            <a:r>
              <a:rPr lang="en-US" altLang="zh-CN" dirty="0">
                <a:sym typeface="Symbol" panose="05050102010706020507" pitchFamily="18" charset="2"/>
              </a:rPr>
              <a:t>)</a:t>
            </a:r>
          </a:p>
          <a:p>
            <a:pPr lvl="2">
              <a:buClr>
                <a:schemeClr val="tx1"/>
              </a:buClr>
              <a:buFont typeface="Wingdings" panose="05000000000000000000" pitchFamily="2" charset="2"/>
              <a:buNone/>
            </a:pPr>
            <a:r>
              <a:rPr lang="en-US" altLang="zh-CN" sz="2800" dirty="0"/>
              <a:t>( n</a:t>
            </a:r>
            <a:r>
              <a:rPr lang="en-US" altLang="zh-CN" sz="2800" baseline="30000" dirty="0"/>
              <a:t>2</a:t>
            </a:r>
            <a:r>
              <a:rPr lang="en-US" altLang="zh-CN" sz="2800" dirty="0"/>
              <a:t> + 100 n )   </a:t>
            </a:r>
            <a:r>
              <a:rPr lang="en-US" altLang="zh-CN" sz="2800" dirty="0">
                <a:sym typeface="Symbol" panose="05050102010706020507" pitchFamily="18" charset="2"/>
              </a:rPr>
              <a:t>   2 </a:t>
            </a:r>
            <a:r>
              <a:rPr lang="en-US" altLang="zh-CN" sz="2800" dirty="0"/>
              <a:t>n</a:t>
            </a:r>
            <a:r>
              <a:rPr lang="en-US" altLang="zh-CN" sz="2800" baseline="30000" dirty="0"/>
              <a:t>2</a:t>
            </a:r>
            <a:r>
              <a:rPr lang="en-US" altLang="zh-CN" sz="2800" dirty="0">
                <a:sym typeface="Symbol" panose="05050102010706020507" pitchFamily="18" charset="2"/>
              </a:rPr>
              <a:t>     for  n  10 </a:t>
            </a:r>
          </a:p>
          <a:p>
            <a:pPr>
              <a:buClr>
                <a:schemeClr val="tx1"/>
              </a:buClr>
              <a:buFont typeface="Wingdings" panose="05000000000000000000" pitchFamily="2" charset="2"/>
              <a:buNone/>
            </a:pPr>
            <a:endParaRPr lang="en-US" altLang="zh-CN" dirty="0"/>
          </a:p>
          <a:p>
            <a:pPr>
              <a:buClr>
                <a:schemeClr val="tx1"/>
              </a:buClr>
              <a:buFont typeface="Wingdings" panose="05000000000000000000" pitchFamily="2" charset="2"/>
              <a:buNone/>
            </a:pPr>
            <a:r>
              <a:rPr lang="en-US" altLang="zh-CN" dirty="0"/>
              <a:t>n</a:t>
            </a:r>
            <a:r>
              <a:rPr lang="en-US" altLang="zh-CN" baseline="30000" dirty="0"/>
              <a:t>2</a:t>
            </a:r>
            <a:r>
              <a:rPr lang="en-US" altLang="zh-CN" dirty="0"/>
              <a:t> + 100 n </a:t>
            </a:r>
            <a:r>
              <a:rPr lang="en-US" altLang="zh-CN" dirty="0">
                <a:sym typeface="Symbol" panose="05050102010706020507" pitchFamily="18" charset="2"/>
              </a:rPr>
              <a:t> = </a:t>
            </a:r>
            <a:r>
              <a:rPr lang="en-US" altLang="zh-CN" dirty="0"/>
              <a:t> </a:t>
            </a:r>
            <a:r>
              <a:rPr lang="en-US" altLang="zh-CN" dirty="0">
                <a:sym typeface="Symbol" panose="05050102010706020507" pitchFamily="18" charset="2"/>
              </a:rPr>
              <a:t>(n</a:t>
            </a:r>
            <a:r>
              <a:rPr lang="en-US" altLang="zh-CN" baseline="30000" dirty="0">
                <a:sym typeface="Symbol" panose="05050102010706020507" pitchFamily="18" charset="2"/>
              </a:rPr>
              <a:t>2</a:t>
            </a:r>
            <a:r>
              <a:rPr lang="en-US" altLang="zh-CN" dirty="0">
                <a:sym typeface="Symbol" panose="05050102010706020507" pitchFamily="18" charset="2"/>
              </a:rPr>
              <a:t>)</a:t>
            </a:r>
          </a:p>
          <a:p>
            <a:pPr lvl="2">
              <a:buClr>
                <a:schemeClr val="tx1"/>
              </a:buClr>
              <a:buFont typeface="Wingdings" panose="05000000000000000000" pitchFamily="2" charset="2"/>
              <a:buNone/>
            </a:pPr>
            <a:r>
              <a:rPr lang="en-US" altLang="zh-CN" sz="2800" dirty="0"/>
              <a:t>n</a:t>
            </a:r>
            <a:r>
              <a:rPr lang="en-US" altLang="zh-CN" sz="2800" baseline="30000" dirty="0"/>
              <a:t>2</a:t>
            </a:r>
            <a:r>
              <a:rPr lang="en-US" altLang="zh-CN" sz="2800" dirty="0"/>
              <a:t> + 100 n )   </a:t>
            </a:r>
            <a:r>
              <a:rPr lang="en-US" altLang="zh-CN" sz="2800" dirty="0">
                <a:sym typeface="Symbol" panose="05050102010706020507" pitchFamily="18" charset="2"/>
              </a:rPr>
              <a:t>   1 </a:t>
            </a:r>
            <a:r>
              <a:rPr lang="en-US" altLang="zh-CN" sz="2800" dirty="0"/>
              <a:t>n</a:t>
            </a:r>
            <a:r>
              <a:rPr lang="en-US" altLang="zh-CN" sz="2800" baseline="30000" dirty="0"/>
              <a:t>2</a:t>
            </a:r>
            <a:r>
              <a:rPr lang="en-US" altLang="zh-CN" sz="2800" dirty="0">
                <a:sym typeface="Symbol" panose="05050102010706020507" pitchFamily="18" charset="2"/>
              </a:rPr>
              <a:t>     for  n  0</a:t>
            </a:r>
            <a:endParaRPr lang="en-US" altLang="zh-CN" sz="2800" dirty="0"/>
          </a:p>
          <a:p>
            <a:pPr>
              <a:buClr>
                <a:schemeClr val="tx1"/>
              </a:buClr>
              <a:buFont typeface="Wingdings" panose="05000000000000000000" pitchFamily="2" charset="2"/>
              <a:buNone/>
            </a:pPr>
            <a:endParaRPr lang="en-US" altLang="zh-CN" dirty="0"/>
          </a:p>
          <a:p>
            <a:pPr>
              <a:buClr>
                <a:schemeClr val="tx1"/>
              </a:buClr>
              <a:buFont typeface="Wingdings" panose="05000000000000000000" pitchFamily="2" charset="2"/>
              <a:buNone/>
            </a:pPr>
            <a:r>
              <a:rPr lang="en-US" altLang="zh-CN" dirty="0"/>
              <a:t>n</a:t>
            </a:r>
            <a:r>
              <a:rPr lang="en-US" altLang="zh-CN" baseline="30000" dirty="0"/>
              <a:t>2</a:t>
            </a:r>
            <a:r>
              <a:rPr lang="en-US" altLang="zh-CN" dirty="0"/>
              <a:t> + 100 n </a:t>
            </a:r>
            <a:r>
              <a:rPr lang="en-US" altLang="zh-CN" dirty="0">
                <a:sym typeface="Symbol" panose="05050102010706020507" pitchFamily="18" charset="2"/>
              </a:rPr>
              <a:t> = </a:t>
            </a:r>
            <a:r>
              <a:rPr lang="en-US" altLang="zh-CN" dirty="0"/>
              <a:t> </a:t>
            </a:r>
            <a:r>
              <a:rPr lang="en-US" altLang="zh-CN" dirty="0">
                <a:sym typeface="Symbol" panose="05050102010706020507" pitchFamily="18" charset="2"/>
              </a:rPr>
              <a:t>(n</a:t>
            </a:r>
            <a:r>
              <a:rPr lang="en-US" altLang="zh-CN" baseline="30000" dirty="0">
                <a:sym typeface="Symbol" panose="05050102010706020507" pitchFamily="18" charset="2"/>
              </a:rPr>
              <a:t>2</a:t>
            </a:r>
            <a:r>
              <a:rPr lang="en-US" altLang="zh-CN" dirty="0">
                <a:sym typeface="Symbol" panose="05050102010706020507" pitchFamily="18" charset="2"/>
              </a:rPr>
              <a:t>)</a:t>
            </a:r>
          </a:p>
          <a:p>
            <a:pPr>
              <a:buClr>
                <a:schemeClr val="tx1"/>
              </a:buClr>
              <a:buFont typeface="Wingdings" panose="05000000000000000000" pitchFamily="2" charset="2"/>
              <a:buNone/>
            </a:pPr>
            <a:endParaRPr lang="en-US" altLang="zh-CN" dirty="0"/>
          </a:p>
          <a:p>
            <a:pPr>
              <a:buClr>
                <a:schemeClr val="tx1"/>
              </a:buClr>
              <a:buFont typeface="Wingdings" panose="05000000000000000000" pitchFamily="2" charset="2"/>
              <a:buNone/>
            </a:pPr>
            <a:r>
              <a:rPr lang="en-US" altLang="zh-CN" dirty="0"/>
              <a:t>n log n </a:t>
            </a:r>
            <a:r>
              <a:rPr lang="en-US" altLang="zh-CN" dirty="0">
                <a:sym typeface="Symbol" panose="05050102010706020507" pitchFamily="18" charset="2"/>
              </a:rPr>
              <a:t> = </a:t>
            </a:r>
            <a:r>
              <a:rPr lang="en-US" altLang="zh-CN" dirty="0"/>
              <a:t> O(n</a:t>
            </a:r>
            <a:r>
              <a:rPr lang="en-US" altLang="zh-CN" baseline="30000" dirty="0"/>
              <a:t>2</a:t>
            </a:r>
            <a:r>
              <a:rPr lang="en-US" altLang="zh-CN" dirty="0"/>
              <a:t>)</a:t>
            </a:r>
          </a:p>
          <a:p>
            <a:pPr>
              <a:buClr>
                <a:schemeClr val="tx1"/>
              </a:buClr>
              <a:buFont typeface="Wingdings" panose="05000000000000000000" pitchFamily="2" charset="2"/>
              <a:buNone/>
            </a:pPr>
            <a:r>
              <a:rPr lang="en-US" altLang="zh-CN" dirty="0"/>
              <a:t>n log n </a:t>
            </a:r>
            <a:r>
              <a:rPr lang="en-US" altLang="zh-CN" dirty="0">
                <a:sym typeface="Symbol" panose="05050102010706020507" pitchFamily="18" charset="2"/>
              </a:rPr>
              <a:t> = </a:t>
            </a:r>
            <a:r>
              <a:rPr lang="en-US" altLang="zh-CN" dirty="0"/>
              <a:t>(n log n)</a:t>
            </a:r>
          </a:p>
          <a:p>
            <a:pPr>
              <a:buClr>
                <a:schemeClr val="tx1"/>
              </a:buClr>
              <a:buFont typeface="Wingdings" panose="05000000000000000000" pitchFamily="2" charset="2"/>
              <a:buNone/>
            </a:pPr>
            <a:r>
              <a:rPr lang="en-US" altLang="zh-CN" dirty="0"/>
              <a:t>n log n </a:t>
            </a:r>
            <a:r>
              <a:rPr lang="en-US" altLang="zh-CN" dirty="0">
                <a:sym typeface="Symbol" panose="05050102010706020507" pitchFamily="18" charset="2"/>
              </a:rPr>
              <a:t> = </a:t>
            </a:r>
            <a:r>
              <a:rPr lang="en-US" altLang="zh-CN" dirty="0"/>
              <a:t> </a:t>
            </a:r>
            <a:r>
              <a:rPr lang="en-US" altLang="zh-CN" dirty="0">
                <a:sym typeface="Symbol" panose="05050102010706020507" pitchFamily="18" charset="2"/>
              </a:rPr>
              <a:t>(n)</a:t>
            </a:r>
          </a:p>
        </p:txBody>
      </p:sp>
      <p:sp>
        <p:nvSpPr>
          <p:cNvPr id="6" name="Rectangle 1027"/>
          <p:cNvSpPr txBox="1">
            <a:spLocks noChangeArrowheads="1"/>
          </p:cNvSpPr>
          <p:nvPr/>
        </p:nvSpPr>
        <p:spPr bwMode="auto">
          <a:xfrm>
            <a:off x="4705001" y="3672308"/>
            <a:ext cx="7312827" cy="2949556"/>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Font typeface="Wingdings" panose="05000000000000000000" pitchFamily="2" charset="2"/>
              <a:buChar char="w"/>
              <a:defRPr sz="3200">
                <a:solidFill>
                  <a:srgbClr val="010000"/>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s"/>
              <a:defRPr sz="2800">
                <a:solidFill>
                  <a:schemeClr val="tx1"/>
                </a:solidFill>
                <a:latin typeface="+mn-lt"/>
              </a:defRPr>
            </a:lvl2pPr>
            <a:lvl3pPr marL="1085850" indent="-228600" algn="l" rtl="0" eaLnBrk="0" fontAlgn="base" hangingPunct="0">
              <a:spcBef>
                <a:spcPct val="20000"/>
              </a:spcBef>
              <a:spcAft>
                <a:spcPct val="0"/>
              </a:spcAft>
              <a:buChar char="•"/>
              <a:defRPr sz="2400">
                <a:solidFill>
                  <a:schemeClr val="tx1"/>
                </a:solidFill>
                <a:latin typeface="+mn-lt"/>
              </a:defRPr>
            </a:lvl3pPr>
            <a:lvl4pPr marL="1428750" indent="-228600" algn="l" rtl="0" eaLnBrk="0" fontAlgn="base" hangingPunct="0">
              <a:spcBef>
                <a:spcPct val="20000"/>
              </a:spcBef>
              <a:spcAft>
                <a:spcPct val="0"/>
              </a:spcAft>
              <a:buChar char="–"/>
              <a:defRPr sz="2000">
                <a:solidFill>
                  <a:schemeClr val="tx1"/>
                </a:solidFill>
                <a:latin typeface="+mn-lt"/>
              </a:defRPr>
            </a:lvl4pPr>
            <a:lvl5pPr marL="1771650" indent="-228600" algn="l" rtl="0" eaLnBrk="0" fontAlgn="base" hangingPunct="0">
              <a:spcBef>
                <a:spcPct val="20000"/>
              </a:spcBef>
              <a:spcAft>
                <a:spcPct val="0"/>
              </a:spcAft>
              <a:buChar char="•"/>
              <a:defRPr sz="2000">
                <a:solidFill>
                  <a:schemeClr val="tx1"/>
                </a:solidFill>
                <a:latin typeface="+mn-lt"/>
              </a:defRPr>
            </a:lvl5pPr>
            <a:lvl6pPr marL="2228850" indent="-228600" algn="l" rtl="0" eaLnBrk="0" fontAlgn="base" hangingPunct="0">
              <a:spcBef>
                <a:spcPct val="20000"/>
              </a:spcBef>
              <a:spcAft>
                <a:spcPct val="0"/>
              </a:spcAft>
              <a:buChar char="•"/>
              <a:defRPr sz="2000">
                <a:solidFill>
                  <a:schemeClr val="tx1"/>
                </a:solidFill>
                <a:latin typeface="+mn-lt"/>
              </a:defRPr>
            </a:lvl6pPr>
            <a:lvl7pPr marL="2686050" indent="-228600" algn="l" rtl="0" eaLnBrk="0" fontAlgn="base" hangingPunct="0">
              <a:spcBef>
                <a:spcPct val="20000"/>
              </a:spcBef>
              <a:spcAft>
                <a:spcPct val="0"/>
              </a:spcAft>
              <a:buChar char="•"/>
              <a:defRPr sz="2000">
                <a:solidFill>
                  <a:schemeClr val="tx1"/>
                </a:solidFill>
                <a:latin typeface="+mn-lt"/>
              </a:defRPr>
            </a:lvl7pPr>
            <a:lvl8pPr marL="3143250" indent="-228600" algn="l" rtl="0" eaLnBrk="0" fontAlgn="base" hangingPunct="0">
              <a:spcBef>
                <a:spcPct val="20000"/>
              </a:spcBef>
              <a:spcAft>
                <a:spcPct val="0"/>
              </a:spcAft>
              <a:buChar char="•"/>
              <a:defRPr sz="2000">
                <a:solidFill>
                  <a:schemeClr val="tx1"/>
                </a:solidFill>
                <a:latin typeface="+mn-lt"/>
              </a:defRPr>
            </a:lvl8pPr>
            <a:lvl9pPr marL="3600450" indent="-228600" algn="l" rtl="0" eaLnBrk="0" fontAlgn="base" hangingPunct="0">
              <a:spcBef>
                <a:spcPct val="20000"/>
              </a:spcBef>
              <a:spcAft>
                <a:spcPct val="0"/>
              </a:spcAft>
              <a:buChar char="•"/>
              <a:defRPr sz="2000">
                <a:solidFill>
                  <a:schemeClr val="tx1"/>
                </a:solidFill>
                <a:latin typeface="+mn-lt"/>
              </a:defRPr>
            </a:lvl9pPr>
          </a:lstStyle>
          <a:p>
            <a:pPr>
              <a:spcBef>
                <a:spcPct val="100000"/>
              </a:spcBef>
              <a:defRPr/>
            </a:pPr>
            <a:r>
              <a:rPr lang="zh-CN" altLang="en-US" sz="2400" b="1" kern="0" dirty="0">
                <a:solidFill>
                  <a:schemeClr val="tx1"/>
                </a:solidFill>
                <a:latin typeface="华文仿宋" panose="02010600040101010101" pitchFamily="2" charset="-122"/>
                <a:ea typeface="华文仿宋" panose="02010600040101010101" pitchFamily="2" charset="-122"/>
              </a:rPr>
              <a:t>插入排序在最坏的情况下需要</a:t>
            </a:r>
            <a:r>
              <a:rPr lang="en-US" altLang="zh-CN" sz="2400" kern="0" dirty="0">
                <a:solidFill>
                  <a:schemeClr val="tx1"/>
                </a:solidFill>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sym typeface="Symbol" panose="05050102010706020507" pitchFamily="18" charset="2"/>
              </a:rPr>
              <a:t></a:t>
            </a:r>
            <a:r>
              <a:rPr lang="en-US" altLang="zh-CN" sz="2400" kern="0" dirty="0">
                <a:latin typeface="Times New Roman" panose="02020603050405020304" pitchFamily="18" charset="0"/>
                <a:ea typeface="华文仿宋" panose="02010600040101010101" pitchFamily="2" charset="-122"/>
                <a:cs typeface="Times New Roman" panose="02020603050405020304" pitchFamily="18" charset="0"/>
              </a:rPr>
              <a:t>(n</a:t>
            </a:r>
            <a:r>
              <a:rPr lang="en-US" altLang="zh-CN" sz="2400" kern="0" baseline="30000" dirty="0">
                <a:latin typeface="Times New Roman" panose="02020603050405020304" pitchFamily="18" charset="0"/>
                <a:ea typeface="华文仿宋" panose="02010600040101010101" pitchFamily="2" charset="-122"/>
                <a:cs typeface="Times New Roman" panose="02020603050405020304" pitchFamily="18" charset="0"/>
              </a:rPr>
              <a:t>2</a:t>
            </a:r>
            <a:r>
              <a:rPr lang="en-US" altLang="zh-CN" sz="2400" kern="0" dirty="0">
                <a:latin typeface="Times New Roman" panose="02020603050405020304" pitchFamily="18" charset="0"/>
                <a:ea typeface="华文仿宋" panose="02010600040101010101" pitchFamily="2" charset="-122"/>
                <a:cs typeface="Times New Roman" panose="02020603050405020304" pitchFamily="18" charset="0"/>
              </a:rPr>
              <a:t>)</a:t>
            </a:r>
            <a:r>
              <a:rPr lang="zh-CN" altLang="en-US" sz="2400" kern="0" dirty="0">
                <a:latin typeface="华文仿宋" panose="02010600040101010101" pitchFamily="2" charset="-122"/>
                <a:ea typeface="华文仿宋" panose="02010600040101010101" pitchFamily="2" charset="-122"/>
              </a:rPr>
              <a:t>，所以排序是</a:t>
            </a:r>
            <a:r>
              <a:rPr lang="en-US" altLang="zh-CN" sz="2400" kern="0" dirty="0">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sym typeface="Symbol" panose="05050102010706020507" pitchFamily="18" charset="2"/>
              </a:rPr>
              <a:t>O </a:t>
            </a:r>
            <a:r>
              <a:rPr lang="en-US" altLang="zh-CN" sz="2400" kern="0" dirty="0">
                <a:latin typeface="Times New Roman" panose="02020603050405020304" pitchFamily="18" charset="0"/>
                <a:ea typeface="华文仿宋" panose="02010600040101010101" pitchFamily="2" charset="-122"/>
                <a:cs typeface="Times New Roman" panose="02020603050405020304" pitchFamily="18" charset="0"/>
              </a:rPr>
              <a:t>(n</a:t>
            </a:r>
            <a:r>
              <a:rPr lang="en-US" altLang="zh-CN" sz="2400" kern="0" baseline="30000" dirty="0">
                <a:latin typeface="Times New Roman" panose="02020603050405020304" pitchFamily="18" charset="0"/>
                <a:ea typeface="华文仿宋" panose="02010600040101010101" pitchFamily="2" charset="-122"/>
                <a:cs typeface="Times New Roman" panose="02020603050405020304" pitchFamily="18" charset="0"/>
              </a:rPr>
              <a:t>2</a:t>
            </a:r>
            <a:r>
              <a:rPr lang="zh-CN" altLang="en-US" sz="2400" kern="0" dirty="0">
                <a:latin typeface="Times New Roman" panose="02020603050405020304" pitchFamily="18" charset="0"/>
                <a:ea typeface="华文仿宋" panose="02010600040101010101" pitchFamily="2" charset="-122"/>
                <a:cs typeface="Times New Roman" panose="02020603050405020304" pitchFamily="18" charset="0"/>
              </a:rPr>
              <a:t>）</a:t>
            </a:r>
            <a:endParaRPr lang="en-US" altLang="zh-CN" sz="2400" kern="0" dirty="0">
              <a:latin typeface="Times New Roman" panose="02020603050405020304" pitchFamily="18" charset="0"/>
              <a:ea typeface="华文仿宋" panose="02010600040101010101" pitchFamily="2" charset="-122"/>
              <a:cs typeface="Times New Roman" panose="02020603050405020304" pitchFamily="18" charset="0"/>
            </a:endParaRPr>
          </a:p>
          <a:p>
            <a:pPr>
              <a:spcBef>
                <a:spcPct val="100000"/>
              </a:spcBef>
              <a:defRPr/>
            </a:pPr>
            <a:r>
              <a:rPr lang="zh-CN" altLang="en-US" sz="2400" kern="0" dirty="0">
                <a:latin typeface="华文仿宋" panose="02010600040101010101" pitchFamily="2" charset="-122"/>
                <a:ea typeface="华文仿宋" panose="02010600040101010101" pitchFamily="2" charset="-122"/>
              </a:rPr>
              <a:t>任意的排序算法都需要查看每个元素，所以排序是</a:t>
            </a:r>
            <a:r>
              <a:rPr lang="en-US" altLang="zh-CN" sz="2400" dirty="0">
                <a:latin typeface="华文仿宋" panose="02010600040101010101" pitchFamily="2" charset="-122"/>
                <a:ea typeface="华文仿宋" panose="02010600040101010101" pitchFamily="2" charset="-122"/>
                <a:sym typeface="Symbol" panose="05050102010706020507" pitchFamily="18" charset="2"/>
              </a:rPr>
              <a:t></a:t>
            </a:r>
            <a:r>
              <a:rPr lang="en-US" altLang="zh-CN" sz="2400" kern="0" dirty="0">
                <a:latin typeface="Times New Roman" panose="02020603050405020304" pitchFamily="18" charset="0"/>
                <a:ea typeface="华文仿宋" panose="02010600040101010101" pitchFamily="2" charset="-122"/>
                <a:cs typeface="Times New Roman" panose="02020603050405020304" pitchFamily="18" charset="0"/>
              </a:rPr>
              <a:t>(n).</a:t>
            </a:r>
          </a:p>
          <a:p>
            <a:pPr>
              <a:spcBef>
                <a:spcPct val="100000"/>
              </a:spcBef>
              <a:defRPr/>
            </a:pPr>
            <a:r>
              <a:rPr lang="zh-CN" altLang="en-US" sz="2400" kern="0" dirty="0">
                <a:latin typeface="华文仿宋" panose="02010600040101010101" pitchFamily="2" charset="-122"/>
                <a:ea typeface="华文仿宋" panose="02010600040101010101" pitchFamily="2" charset="-122"/>
              </a:rPr>
              <a:t>实际上，合并排序在最坏的情况下是</a:t>
            </a:r>
            <a:r>
              <a:rPr lang="en-US" altLang="zh-CN" sz="2400" kern="0" dirty="0">
                <a:latin typeface="华文仿宋" panose="02010600040101010101" pitchFamily="2" charset="-122"/>
                <a:ea typeface="华文仿宋" panose="02010600040101010101" pitchFamily="2" charset="-122"/>
              </a:rPr>
              <a:t> </a:t>
            </a:r>
            <a:r>
              <a:rPr lang="en-US" altLang="zh-CN" sz="2400" dirty="0">
                <a:latin typeface="华文仿宋" panose="02010600040101010101" pitchFamily="2" charset="-122"/>
                <a:ea typeface="华文仿宋" panose="02010600040101010101" pitchFamily="2" charset="-122"/>
                <a:sym typeface="Symbol" panose="05050102010706020507" pitchFamily="18" charset="2"/>
              </a:rPr>
              <a:t></a:t>
            </a:r>
            <a:r>
              <a:rPr lang="en-US" altLang="zh-CN" sz="2400" kern="0" dirty="0">
                <a:latin typeface="Times New Roman" panose="02020603050405020304" pitchFamily="18" charset="0"/>
                <a:ea typeface="华文仿宋" panose="02010600040101010101" pitchFamily="2" charset="-122"/>
                <a:cs typeface="Times New Roman" panose="02020603050405020304" pitchFamily="18" charset="0"/>
              </a:rPr>
              <a:t>(</a:t>
            </a:r>
            <a:r>
              <a:rPr lang="en-US" altLang="zh-CN" sz="2400" kern="0" dirty="0" err="1">
                <a:latin typeface="Times New Roman" panose="02020603050405020304" pitchFamily="18" charset="0"/>
                <a:ea typeface="华文仿宋" panose="02010600040101010101" pitchFamily="2" charset="-122"/>
                <a:cs typeface="Times New Roman" panose="02020603050405020304" pitchFamily="18" charset="0"/>
              </a:rPr>
              <a:t>nlogn</a:t>
            </a:r>
            <a:r>
              <a:rPr lang="en-US" altLang="zh-CN" sz="2400" kern="0" dirty="0">
                <a:latin typeface="Times New Roman" panose="02020603050405020304" pitchFamily="18" charset="0"/>
                <a:ea typeface="华文仿宋"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9459728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渐近分析记号在等式和不等式中的意义</a:t>
            </a:r>
          </a:p>
        </p:txBody>
      </p:sp>
      <p:sp>
        <p:nvSpPr>
          <p:cNvPr id="30723" name="Rectangle 3"/>
          <p:cNvSpPr>
            <a:spLocks noGrp="1" noChangeArrowheads="1"/>
          </p:cNvSpPr>
          <p:nvPr>
            <p:ph idx="1"/>
          </p:nvPr>
        </p:nvSpPr>
        <p:spPr>
          <a:xfrm>
            <a:off x="1102408" y="1852302"/>
            <a:ext cx="9440552" cy="4530725"/>
          </a:xfrm>
        </p:spPr>
        <p:txBody>
          <a:bodyPr/>
          <a:lstStyle/>
          <a:p>
            <a:pPr>
              <a:lnSpc>
                <a:spcPct val="150000"/>
              </a:lnSpc>
              <a:buFont typeface="Wingdings" panose="05000000000000000000" pitchFamily="2" charset="2"/>
              <a:buNone/>
            </a:pP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的确切意义是：</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一般情况下，等式和不等式中的渐近记号</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表示</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中的某个函数。</a:t>
            </a:r>
          </a:p>
          <a:p>
            <a:pPr>
              <a:lnSpc>
                <a:spcPct val="150000"/>
              </a:lnSpc>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例如：</a:t>
            </a:r>
            <a:r>
              <a:rPr lang="en-US" altLang="zh-CN" dirty="0">
                <a:latin typeface="Times New Roman" panose="02020603050405020304" pitchFamily="18" charset="0"/>
                <a:cs typeface="Times New Roman" panose="02020603050405020304" pitchFamily="18" charset="0"/>
              </a:rPr>
              <a:t>2</a:t>
            </a:r>
            <a:r>
              <a:rPr lang="en-US" altLang="zh-CN" i="1" dirty="0">
                <a:latin typeface="Times New Roman" panose="02020603050405020304" pitchFamily="18" charset="0"/>
                <a:cs typeface="Times New Roman" panose="02020603050405020304" pitchFamily="18" charset="0"/>
              </a:rPr>
              <a:t>n</a:t>
            </a:r>
            <a:r>
              <a:rPr lang="en-US" altLang="zh-CN" baseline="30000"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rPr>
              <a:t>+ 3</a:t>
            </a:r>
            <a:r>
              <a:rPr lang="en-US" altLang="zh-CN" i="1" dirty="0">
                <a:latin typeface="Times New Roman" panose="02020603050405020304" pitchFamily="18" charset="0"/>
                <a:cs typeface="Times New Roman" panose="02020603050405020304" pitchFamily="18" charset="0"/>
              </a:rPr>
              <a:t>n </a:t>
            </a:r>
            <a:r>
              <a:rPr lang="en-US" altLang="zh-CN" dirty="0">
                <a:latin typeface="Times New Roman" panose="02020603050405020304" pitchFamily="18" charset="0"/>
                <a:cs typeface="Times New Roman" panose="02020603050405020304" pitchFamily="18" charset="0"/>
              </a:rPr>
              <a:t>+ 1 = 2</a:t>
            </a:r>
            <a:r>
              <a:rPr lang="en-US" altLang="zh-CN" i="1" dirty="0">
                <a:latin typeface="Times New Roman" panose="02020603050405020304" pitchFamily="18" charset="0"/>
                <a:cs typeface="Times New Roman" panose="02020603050405020304" pitchFamily="18" charset="0"/>
              </a:rPr>
              <a:t>n</a:t>
            </a:r>
            <a:r>
              <a:rPr lang="en-US" altLang="zh-CN" baseline="30000"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表示</a:t>
            </a:r>
          </a:p>
          <a:p>
            <a:pPr>
              <a:lnSpc>
                <a:spcPct val="150000"/>
              </a:lnSpc>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a:t>
            </a:r>
            <a:r>
              <a:rPr lang="en-US" altLang="zh-CN" i="1" dirty="0">
                <a:latin typeface="Times New Roman" panose="02020603050405020304" pitchFamily="18" charset="0"/>
                <a:cs typeface="Times New Roman" panose="02020603050405020304" pitchFamily="18" charset="0"/>
              </a:rPr>
              <a:t>n</a:t>
            </a:r>
            <a:r>
              <a:rPr lang="en-US" altLang="zh-CN" baseline="30000"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rPr>
              <a:t>+3</a:t>
            </a:r>
            <a:r>
              <a:rPr lang="en-US" altLang="zh-CN" i="1" dirty="0">
                <a:latin typeface="Times New Roman" panose="02020603050405020304" pitchFamily="18" charset="0"/>
                <a:cs typeface="Times New Roman" panose="02020603050405020304" pitchFamily="18" charset="0"/>
              </a:rPr>
              <a:t>n </a:t>
            </a:r>
            <a:r>
              <a:rPr lang="en-US" altLang="zh-CN" dirty="0">
                <a:latin typeface="Times New Roman" panose="02020603050405020304" pitchFamily="18" charset="0"/>
                <a:cs typeface="Times New Roman" panose="02020603050405020304" pitchFamily="18" charset="0"/>
              </a:rPr>
              <a:t>+1=2</a:t>
            </a:r>
            <a:r>
              <a:rPr lang="en-US" altLang="zh-CN" i="1" dirty="0">
                <a:latin typeface="Times New Roman" panose="02020603050405020304" pitchFamily="18" charset="0"/>
                <a:cs typeface="Times New Roman" panose="02020603050405020304" pitchFamily="18" charset="0"/>
              </a:rPr>
              <a:t>n</a:t>
            </a:r>
            <a:r>
              <a:rPr lang="en-US" altLang="zh-CN" baseline="30000"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，其中</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是</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中某个函数。</a:t>
            </a:r>
          </a:p>
        </p:txBody>
      </p:sp>
    </p:spTree>
    <p:extLst>
      <p:ext uri="{BB962C8B-B14F-4D97-AF65-F5344CB8AC3E}">
        <p14:creationId xmlns:p14="http://schemas.microsoft.com/office/powerpoint/2010/main" val="402153133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算法分析中常见的复杂性函数</a:t>
            </a:r>
          </a:p>
        </p:txBody>
      </p:sp>
      <p:pic>
        <p:nvPicPr>
          <p:cNvPr id="36867"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78877" y="1563395"/>
            <a:ext cx="8798169" cy="5245098"/>
          </a:xfrm>
          <a:noFill/>
        </p:spPr>
      </p:pic>
    </p:spTree>
    <p:extLst>
      <p:ext uri="{BB962C8B-B14F-4D97-AF65-F5344CB8AC3E}">
        <p14:creationId xmlns:p14="http://schemas.microsoft.com/office/powerpoint/2010/main" val="103249699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小规模数据</a:t>
            </a:r>
          </a:p>
        </p:txBody>
      </p:sp>
      <p:pic>
        <p:nvPicPr>
          <p:cNvPr id="37891" name="Picture 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2572996" y="2117221"/>
            <a:ext cx="6192838" cy="4356100"/>
          </a:xfrm>
          <a:noFill/>
        </p:spPr>
      </p:pic>
    </p:spTree>
    <p:extLst>
      <p:ext uri="{BB962C8B-B14F-4D97-AF65-F5344CB8AC3E}">
        <p14:creationId xmlns:p14="http://schemas.microsoft.com/office/powerpoint/2010/main" val="272864321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中等规模数据</a:t>
            </a:r>
          </a:p>
        </p:txBody>
      </p:sp>
      <p:pic>
        <p:nvPicPr>
          <p:cNvPr id="38915" name="Picture 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2301936" y="2345555"/>
            <a:ext cx="6119813" cy="4213225"/>
          </a:xfrm>
          <a:noFill/>
        </p:spPr>
      </p:pic>
    </p:spTree>
    <p:extLst>
      <p:ext uri="{BB962C8B-B14F-4D97-AF65-F5344CB8AC3E}">
        <p14:creationId xmlns:p14="http://schemas.microsoft.com/office/powerpoint/2010/main" val="224948864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分析代码</a:t>
            </a:r>
            <a:endParaRPr lang="en-US" altLang="zh-CN" b="1" dirty="0"/>
          </a:p>
        </p:txBody>
      </p:sp>
      <p:sp>
        <p:nvSpPr>
          <p:cNvPr id="40963" name="Rectangle 3" descr="Rectangle: Click to edit Master text styles&#10;Second level&#10;Third level&#10;Fourth level&#10;Fifth level"/>
          <p:cNvSpPr>
            <a:spLocks noGrp="1" noChangeArrowheads="1"/>
          </p:cNvSpPr>
          <p:nvPr>
            <p:ph idx="1"/>
          </p:nvPr>
        </p:nvSpPr>
        <p:spPr>
          <a:xfrm>
            <a:off x="2209800" y="1600200"/>
            <a:ext cx="3276600" cy="3657600"/>
          </a:xfrm>
        </p:spPr>
        <p:txBody>
          <a:bodyPr/>
          <a:lstStyle/>
          <a:p>
            <a:pPr algn="r">
              <a:buFont typeface="Wingdings" panose="05000000000000000000" pitchFamily="2" charset="2"/>
              <a:buNone/>
            </a:pPr>
            <a:r>
              <a:rPr lang="en-US" altLang="zh-CN" dirty="0"/>
              <a:t>C++ </a:t>
            </a:r>
            <a:r>
              <a:rPr lang="zh-CN" altLang="en-US" dirty="0"/>
              <a:t>操作</a:t>
            </a:r>
            <a:endParaRPr lang="en-US" altLang="zh-CN" dirty="0"/>
          </a:p>
          <a:p>
            <a:pPr algn="r">
              <a:buFont typeface="Wingdings" panose="05000000000000000000" pitchFamily="2" charset="2"/>
              <a:buNone/>
            </a:pPr>
            <a:r>
              <a:rPr lang="zh-CN" altLang="en-US" dirty="0"/>
              <a:t>顺序语句</a:t>
            </a:r>
            <a:endParaRPr lang="en-US" altLang="zh-CN" dirty="0"/>
          </a:p>
          <a:p>
            <a:pPr algn="r">
              <a:buFont typeface="Wingdings" panose="05000000000000000000" pitchFamily="2" charset="2"/>
              <a:buNone/>
            </a:pPr>
            <a:r>
              <a:rPr lang="zh-CN" altLang="en-US" dirty="0"/>
              <a:t>条件语句</a:t>
            </a:r>
            <a:endParaRPr lang="en-US" altLang="zh-CN" dirty="0"/>
          </a:p>
          <a:p>
            <a:pPr algn="r">
              <a:buFont typeface="Wingdings" panose="05000000000000000000" pitchFamily="2" charset="2"/>
              <a:buNone/>
            </a:pPr>
            <a:r>
              <a:rPr lang="zh-CN" altLang="en-US" dirty="0"/>
              <a:t>循环</a:t>
            </a:r>
            <a:endParaRPr lang="en-US" altLang="zh-CN" dirty="0"/>
          </a:p>
          <a:p>
            <a:pPr algn="r">
              <a:buFont typeface="Wingdings" panose="05000000000000000000" pitchFamily="2" charset="2"/>
              <a:buNone/>
            </a:pPr>
            <a:r>
              <a:rPr lang="zh-CN" altLang="en-US" dirty="0"/>
              <a:t>函数调用</a:t>
            </a:r>
            <a:endParaRPr lang="en-US" altLang="zh-CN" dirty="0"/>
          </a:p>
          <a:p>
            <a:pPr algn="r">
              <a:buFont typeface="Wingdings" panose="05000000000000000000" pitchFamily="2" charset="2"/>
              <a:buNone/>
            </a:pPr>
            <a:r>
              <a:rPr lang="zh-CN" altLang="en-US" dirty="0"/>
              <a:t>递归函数</a:t>
            </a:r>
            <a:endParaRPr lang="en-US" altLang="zh-CN" dirty="0"/>
          </a:p>
        </p:txBody>
      </p:sp>
      <p:sp>
        <p:nvSpPr>
          <p:cNvPr id="40964" name="Rectangle 5" descr="Rectangle: Click to edit Master text styles&#10;Second level&#10;Third level&#10;Fourth level&#10;Fifth level"/>
          <p:cNvSpPr>
            <a:spLocks noChangeArrowheads="1"/>
          </p:cNvSpPr>
          <p:nvPr/>
        </p:nvSpPr>
        <p:spPr bwMode="auto">
          <a:xfrm>
            <a:off x="5858854" y="1556092"/>
            <a:ext cx="4114800" cy="327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hlink"/>
              </a:buClr>
              <a:buSzPct val="110000"/>
              <a:buFont typeface="Wingdings" panose="05000000000000000000" pitchFamily="2" charset="2"/>
              <a:buNone/>
            </a:pPr>
            <a:r>
              <a:rPr lang="zh-CN" altLang="en-US" sz="2800" dirty="0">
                <a:solidFill>
                  <a:schemeClr val="tx1"/>
                </a:solidFill>
                <a:latin typeface="Tahoma" panose="020B0604030504040204" pitchFamily="34" charset="0"/>
                <a:ea typeface="华文仿宋" panose="02010600040101010101" pitchFamily="2" charset="-122"/>
              </a:rPr>
              <a:t>常数时间</a:t>
            </a:r>
            <a:endParaRPr lang="en-US" altLang="zh-CN" sz="2800" dirty="0">
              <a:solidFill>
                <a:schemeClr val="tx1"/>
              </a:solidFill>
              <a:latin typeface="Tahoma" panose="020B0604030504040204" pitchFamily="34" charset="0"/>
              <a:ea typeface="华文仿宋" panose="02010600040101010101" pitchFamily="2" charset="-122"/>
            </a:endParaRPr>
          </a:p>
          <a:p>
            <a:pPr eaLnBrk="1" hangingPunct="1">
              <a:spcBef>
                <a:spcPct val="20000"/>
              </a:spcBef>
              <a:buClr>
                <a:schemeClr val="hlink"/>
              </a:buClr>
              <a:buSzPct val="110000"/>
              <a:buFont typeface="Wingdings" panose="05000000000000000000" pitchFamily="2" charset="2"/>
              <a:buNone/>
            </a:pPr>
            <a:r>
              <a:rPr lang="zh-CN" altLang="en-US" sz="2800" dirty="0">
                <a:solidFill>
                  <a:schemeClr val="tx1"/>
                </a:solidFill>
                <a:latin typeface="Tahoma" panose="020B0604030504040204" pitchFamily="34" charset="0"/>
                <a:ea typeface="华文仿宋" panose="02010600040101010101" pitchFamily="2" charset="-122"/>
              </a:rPr>
              <a:t>语句时间和</a:t>
            </a:r>
            <a:endParaRPr lang="en-US" altLang="zh-CN" sz="2800" dirty="0">
              <a:solidFill>
                <a:schemeClr val="tx1"/>
              </a:solidFill>
              <a:latin typeface="Tahoma" panose="020B0604030504040204" pitchFamily="34" charset="0"/>
              <a:ea typeface="华文仿宋" panose="02010600040101010101" pitchFamily="2" charset="-122"/>
            </a:endParaRPr>
          </a:p>
          <a:p>
            <a:pPr eaLnBrk="1" hangingPunct="1">
              <a:spcBef>
                <a:spcPct val="20000"/>
              </a:spcBef>
              <a:buClr>
                <a:schemeClr val="hlink"/>
              </a:buClr>
              <a:buSzPct val="110000"/>
              <a:buFont typeface="Wingdings" panose="05000000000000000000" pitchFamily="2" charset="2"/>
              <a:buNone/>
            </a:pPr>
            <a:r>
              <a:rPr lang="zh-CN" altLang="en-US" sz="2800" dirty="0">
                <a:solidFill>
                  <a:schemeClr val="tx1"/>
                </a:solidFill>
                <a:latin typeface="Tahoma" panose="020B0604030504040204" pitchFamily="34" charset="0"/>
                <a:ea typeface="华文仿宋" panose="02010600040101010101" pitchFamily="2" charset="-122"/>
              </a:rPr>
              <a:t>较大分支</a:t>
            </a:r>
            <a:r>
              <a:rPr lang="en-US" altLang="zh-CN" sz="2800" dirty="0">
                <a:solidFill>
                  <a:schemeClr val="tx1"/>
                </a:solidFill>
                <a:latin typeface="Tahoma" panose="020B0604030504040204" pitchFamily="34" charset="0"/>
                <a:ea typeface="华文仿宋" panose="02010600040101010101" pitchFamily="2" charset="-122"/>
              </a:rPr>
              <a:t>+</a:t>
            </a:r>
            <a:r>
              <a:rPr lang="zh-CN" altLang="en-US" sz="2800" dirty="0">
                <a:solidFill>
                  <a:schemeClr val="tx1"/>
                </a:solidFill>
                <a:latin typeface="Tahoma" panose="020B0604030504040204" pitchFamily="34" charset="0"/>
                <a:ea typeface="华文仿宋" panose="02010600040101010101" pitchFamily="2" charset="-122"/>
              </a:rPr>
              <a:t>条件测试</a:t>
            </a:r>
            <a:endParaRPr lang="en-US" altLang="zh-CN" sz="2800" dirty="0">
              <a:solidFill>
                <a:schemeClr val="tx1"/>
              </a:solidFill>
              <a:latin typeface="Tahoma" panose="020B0604030504040204" pitchFamily="34" charset="0"/>
              <a:ea typeface="华文仿宋" panose="02010600040101010101" pitchFamily="2" charset="-122"/>
            </a:endParaRPr>
          </a:p>
          <a:p>
            <a:pPr eaLnBrk="1" hangingPunct="1">
              <a:spcBef>
                <a:spcPct val="20000"/>
              </a:spcBef>
              <a:buClr>
                <a:schemeClr val="hlink"/>
              </a:buClr>
              <a:buSzPct val="110000"/>
              <a:buFont typeface="Wingdings" panose="05000000000000000000" pitchFamily="2" charset="2"/>
              <a:buNone/>
            </a:pPr>
            <a:r>
              <a:rPr lang="zh-CN" altLang="en-US" sz="2800" dirty="0">
                <a:solidFill>
                  <a:schemeClr val="tx1"/>
                </a:solidFill>
                <a:latin typeface="Tahoma" panose="020B0604030504040204" pitchFamily="34" charset="0"/>
                <a:ea typeface="华文仿宋" panose="02010600040101010101" pitchFamily="2" charset="-122"/>
              </a:rPr>
              <a:t>迭代和</a:t>
            </a:r>
            <a:endParaRPr lang="en-US" altLang="zh-CN" sz="2800" dirty="0">
              <a:solidFill>
                <a:schemeClr val="tx1"/>
              </a:solidFill>
              <a:latin typeface="Tahoma" panose="020B0604030504040204" pitchFamily="34" charset="0"/>
              <a:ea typeface="华文仿宋" panose="02010600040101010101" pitchFamily="2" charset="-122"/>
            </a:endParaRPr>
          </a:p>
          <a:p>
            <a:pPr eaLnBrk="1" hangingPunct="1">
              <a:spcBef>
                <a:spcPct val="20000"/>
              </a:spcBef>
              <a:buClr>
                <a:schemeClr val="hlink"/>
              </a:buClr>
              <a:buSzPct val="110000"/>
              <a:buFont typeface="Wingdings" panose="05000000000000000000" pitchFamily="2" charset="2"/>
              <a:buNone/>
            </a:pPr>
            <a:r>
              <a:rPr lang="zh-CN" altLang="en-US" sz="2800" dirty="0">
                <a:solidFill>
                  <a:schemeClr val="tx1"/>
                </a:solidFill>
                <a:latin typeface="Tahoma" panose="020B0604030504040204" pitchFamily="34" charset="0"/>
                <a:ea typeface="华文仿宋" panose="02010600040101010101" pitchFamily="2" charset="-122"/>
              </a:rPr>
              <a:t>函数体代价</a:t>
            </a:r>
            <a:endParaRPr lang="en-US" altLang="zh-CN" sz="2800" dirty="0">
              <a:solidFill>
                <a:schemeClr val="tx1"/>
              </a:solidFill>
              <a:latin typeface="Tahoma" panose="020B0604030504040204" pitchFamily="34" charset="0"/>
              <a:ea typeface="华文仿宋" panose="02010600040101010101" pitchFamily="2" charset="-122"/>
            </a:endParaRPr>
          </a:p>
          <a:p>
            <a:pPr eaLnBrk="1" hangingPunct="1">
              <a:spcBef>
                <a:spcPct val="20000"/>
              </a:spcBef>
              <a:buClr>
                <a:schemeClr val="hlink"/>
              </a:buClr>
              <a:buSzPct val="110000"/>
              <a:buFont typeface="Wingdings" panose="05000000000000000000" pitchFamily="2" charset="2"/>
              <a:buNone/>
            </a:pPr>
            <a:r>
              <a:rPr lang="zh-CN" altLang="en-US" sz="2800" dirty="0">
                <a:solidFill>
                  <a:schemeClr val="tx1"/>
                </a:solidFill>
                <a:latin typeface="Tahoma" panose="020B0604030504040204" pitchFamily="34" charset="0"/>
                <a:ea typeface="华文仿宋" panose="02010600040101010101" pitchFamily="2" charset="-122"/>
              </a:rPr>
              <a:t>求解递归方程</a:t>
            </a:r>
            <a:endParaRPr lang="en-US" altLang="zh-CN" sz="2800" dirty="0">
              <a:solidFill>
                <a:schemeClr val="tx1"/>
              </a:solidFill>
              <a:latin typeface="Tahoma" panose="020B0604030504040204" pitchFamily="34" charset="0"/>
              <a:ea typeface="华文仿宋" panose="02010600040101010101" pitchFamily="2" charset="-122"/>
            </a:endParaRPr>
          </a:p>
        </p:txBody>
      </p:sp>
    </p:spTree>
    <p:extLst>
      <p:ext uri="{BB962C8B-B14F-4D97-AF65-F5344CB8AC3E}">
        <p14:creationId xmlns:p14="http://schemas.microsoft.com/office/powerpoint/2010/main" val="25437723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嵌套循环</a:t>
            </a:r>
            <a:endParaRPr lang="en-US" altLang="zh-CN" b="1" dirty="0"/>
          </a:p>
        </p:txBody>
      </p:sp>
      <p:graphicFrame>
        <p:nvGraphicFramePr>
          <p:cNvPr id="43011" name="Object 4"/>
          <p:cNvGraphicFramePr>
            <a:graphicFrameLocks noChangeAspect="1"/>
          </p:cNvGraphicFramePr>
          <p:nvPr/>
        </p:nvGraphicFramePr>
        <p:xfrm>
          <a:off x="2743200" y="3657600"/>
          <a:ext cx="5334000" cy="1549400"/>
        </p:xfrm>
        <a:graphic>
          <a:graphicData uri="http://schemas.openxmlformats.org/presentationml/2006/ole">
            <mc:AlternateContent xmlns:mc="http://schemas.openxmlformats.org/markup-compatibility/2006">
              <mc:Choice xmlns:v="urn:schemas-microsoft-com:vml" Requires="v">
                <p:oleObj name="Equation" r:id="rId2" imgW="1485900" imgH="431800" progId="Equation.3">
                  <p:embed/>
                </p:oleObj>
              </mc:Choice>
              <mc:Fallback>
                <p:oleObj name="Equation" r:id="rId2" imgW="1485900" imgH="431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657600"/>
                        <a:ext cx="5334000" cy="154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2" name="Rectangle 6"/>
          <p:cNvSpPr>
            <a:spLocks noChangeArrowheads="1"/>
          </p:cNvSpPr>
          <p:nvPr/>
        </p:nvSpPr>
        <p:spPr bwMode="auto">
          <a:xfrm>
            <a:off x="2438400" y="1828800"/>
            <a:ext cx="3276600" cy="1219200"/>
          </a:xfrm>
          <a:prstGeom prst="rect">
            <a:avLst/>
          </a:prstGeom>
          <a:solidFill>
            <a:schemeClr val="accent2">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华文仿宋" panose="02010600040101010101" pitchFamily="2" charset="-122"/>
              </a:rPr>
              <a:t>for </a:t>
            </a:r>
            <a:r>
              <a:rPr lang="en-US" altLang="zh-CN" sz="2000" dirty="0" err="1">
                <a:solidFill>
                  <a:schemeClr val="tx1"/>
                </a:solidFill>
                <a:latin typeface="Courier New" panose="02070309020205020404" pitchFamily="49" charset="0"/>
                <a:ea typeface="华文仿宋" panose="02010600040101010101" pitchFamily="2" charset="-122"/>
              </a:rPr>
              <a:t>i</a:t>
            </a:r>
            <a:r>
              <a:rPr lang="en-US" altLang="zh-CN" sz="2000" dirty="0">
                <a:solidFill>
                  <a:schemeClr val="tx1"/>
                </a:solidFill>
                <a:latin typeface="Courier New" panose="02070309020205020404" pitchFamily="49" charset="0"/>
                <a:ea typeface="华文仿宋" panose="02010600040101010101" pitchFamily="2" charset="-122"/>
              </a:rPr>
              <a:t> = 1 to n do</a:t>
            </a:r>
          </a:p>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华文仿宋" panose="02010600040101010101" pitchFamily="2" charset="-122"/>
              </a:rPr>
              <a:t>  for j = 1 to n do</a:t>
            </a:r>
          </a:p>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华文仿宋" panose="02010600040101010101" pitchFamily="2" charset="-122"/>
              </a:rPr>
              <a:t>    sum = sum + 1</a:t>
            </a:r>
          </a:p>
          <a:p>
            <a:pPr eaLnBrk="1" hangingPunct="1">
              <a:spcBef>
                <a:spcPct val="20000"/>
              </a:spcBef>
              <a:buClr>
                <a:schemeClr val="tx1"/>
              </a:buClr>
              <a:buSzPct val="110000"/>
              <a:buFont typeface="Wingdings" panose="05000000000000000000" pitchFamily="2" charset="2"/>
              <a:buNone/>
            </a:pPr>
            <a:endParaRPr lang="en-US" altLang="zh-CN" sz="2000" dirty="0">
              <a:solidFill>
                <a:schemeClr val="tx1"/>
              </a:solidFill>
              <a:latin typeface="Courier New" panose="02070309020205020404" pitchFamily="49" charset="0"/>
              <a:ea typeface="华文仿宋" panose="02010600040101010101" pitchFamily="2" charset="-122"/>
            </a:endParaRPr>
          </a:p>
        </p:txBody>
      </p:sp>
    </p:spTree>
    <p:extLst>
      <p:ext uri="{BB962C8B-B14F-4D97-AF65-F5344CB8AC3E}">
        <p14:creationId xmlns:p14="http://schemas.microsoft.com/office/powerpoint/2010/main" val="3897434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ChangeArrowheads="1"/>
          </p:cNvSpPr>
          <p:nvPr/>
        </p:nvSpPr>
        <p:spPr bwMode="auto">
          <a:xfrm>
            <a:off x="2438400" y="1828800"/>
            <a:ext cx="3276600" cy="1219200"/>
          </a:xfrm>
          <a:prstGeom prst="rect">
            <a:avLst/>
          </a:prstGeom>
          <a:solidFill>
            <a:schemeClr val="accent2">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华文仿宋" panose="02010600040101010101" pitchFamily="2" charset="-122"/>
              </a:rPr>
              <a:t>for </a:t>
            </a:r>
            <a:r>
              <a:rPr lang="en-US" altLang="zh-CN" sz="2000" dirty="0" err="1">
                <a:solidFill>
                  <a:schemeClr val="tx1"/>
                </a:solidFill>
                <a:latin typeface="Courier New" panose="02070309020205020404" pitchFamily="49" charset="0"/>
                <a:ea typeface="华文仿宋" panose="02010600040101010101" pitchFamily="2" charset="-122"/>
              </a:rPr>
              <a:t>i</a:t>
            </a:r>
            <a:r>
              <a:rPr lang="en-US" altLang="zh-CN" sz="2000" dirty="0">
                <a:solidFill>
                  <a:schemeClr val="tx1"/>
                </a:solidFill>
                <a:latin typeface="Courier New" panose="02070309020205020404" pitchFamily="49" charset="0"/>
                <a:ea typeface="华文仿宋" panose="02010600040101010101" pitchFamily="2" charset="-122"/>
              </a:rPr>
              <a:t> = 1 to n do</a:t>
            </a:r>
          </a:p>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华文仿宋" panose="02010600040101010101" pitchFamily="2" charset="-122"/>
              </a:rPr>
              <a:t>  for j = </a:t>
            </a:r>
            <a:r>
              <a:rPr lang="en-US" altLang="zh-CN" sz="2000" b="1" dirty="0" err="1">
                <a:solidFill>
                  <a:schemeClr val="tx1"/>
                </a:solidFill>
                <a:latin typeface="Courier New" panose="02070309020205020404" pitchFamily="49" charset="0"/>
                <a:ea typeface="华文仿宋" panose="02010600040101010101" pitchFamily="2" charset="-122"/>
              </a:rPr>
              <a:t>i</a:t>
            </a:r>
            <a:r>
              <a:rPr lang="en-US" altLang="zh-CN" sz="2000" dirty="0">
                <a:solidFill>
                  <a:schemeClr val="tx1"/>
                </a:solidFill>
                <a:latin typeface="Courier New" panose="02070309020205020404" pitchFamily="49" charset="0"/>
                <a:ea typeface="华文仿宋" panose="02010600040101010101" pitchFamily="2" charset="-122"/>
              </a:rPr>
              <a:t> to n do</a:t>
            </a:r>
          </a:p>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华文仿宋" panose="02010600040101010101" pitchFamily="2" charset="-122"/>
              </a:rPr>
              <a:t>    sum = sum + 1</a:t>
            </a:r>
          </a:p>
          <a:p>
            <a:pPr eaLnBrk="1" hangingPunct="1">
              <a:spcBef>
                <a:spcPct val="20000"/>
              </a:spcBef>
              <a:buClr>
                <a:schemeClr val="tx1"/>
              </a:buClr>
              <a:buSzPct val="110000"/>
              <a:buFont typeface="Wingdings" panose="05000000000000000000" pitchFamily="2" charset="2"/>
              <a:buNone/>
            </a:pPr>
            <a:endParaRPr lang="en-US" altLang="zh-CN" sz="2000" dirty="0">
              <a:solidFill>
                <a:schemeClr val="tx1"/>
              </a:solidFill>
              <a:latin typeface="Courier New" panose="02070309020205020404" pitchFamily="49" charset="0"/>
              <a:ea typeface="华文仿宋" panose="02010600040101010101" pitchFamily="2" charset="-122"/>
            </a:endParaRPr>
          </a:p>
        </p:txBody>
      </p:sp>
      <p:graphicFrame>
        <p:nvGraphicFramePr>
          <p:cNvPr id="44035" name="Object 13"/>
          <p:cNvGraphicFramePr>
            <a:graphicFrameLocks noChangeAspect="1"/>
          </p:cNvGraphicFramePr>
          <p:nvPr/>
        </p:nvGraphicFramePr>
        <p:xfrm>
          <a:off x="2895600" y="3429001"/>
          <a:ext cx="5695950" cy="885825"/>
        </p:xfrm>
        <a:graphic>
          <a:graphicData uri="http://schemas.openxmlformats.org/presentationml/2006/ole">
            <mc:AlternateContent xmlns:mc="http://schemas.openxmlformats.org/markup-compatibility/2006">
              <mc:Choice xmlns:v="urn:schemas-microsoft-com:vml" Requires="v">
                <p:oleObj name="Equation" r:id="rId2" imgW="2857500" imgH="444500" progId="Equation.3">
                  <p:embed/>
                </p:oleObj>
              </mc:Choice>
              <mc:Fallback>
                <p:oleObj name="Equation" r:id="rId2" imgW="2857500" imgH="4445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429001"/>
                        <a:ext cx="569595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6" name="Object 14"/>
          <p:cNvGraphicFramePr>
            <a:graphicFrameLocks noChangeAspect="1"/>
          </p:cNvGraphicFramePr>
          <p:nvPr/>
        </p:nvGraphicFramePr>
        <p:xfrm>
          <a:off x="3200400" y="4648201"/>
          <a:ext cx="4876800" cy="957263"/>
        </p:xfrm>
        <a:graphic>
          <a:graphicData uri="http://schemas.openxmlformats.org/presentationml/2006/ole">
            <mc:AlternateContent xmlns:mc="http://schemas.openxmlformats.org/markup-compatibility/2006">
              <mc:Choice xmlns:v="urn:schemas-microsoft-com:vml" Requires="v">
                <p:oleObj name="Equation" r:id="rId4" imgW="2005729" imgH="393529" progId="Equation.3">
                  <p:embed/>
                </p:oleObj>
              </mc:Choice>
              <mc:Fallback>
                <p:oleObj name="Equation" r:id="rId4" imgW="2005729" imgH="39352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4648201"/>
                        <a:ext cx="4876800"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7" name="标题 1"/>
          <p:cNvSpPr>
            <a:spLocks noGrp="1" noChangeArrowheads="1"/>
          </p:cNvSpPr>
          <p:nvPr>
            <p:ph type="title"/>
          </p:nvPr>
        </p:nvSpPr>
        <p:spPr>
          <a:solidFill>
            <a:schemeClr val="bg1"/>
          </a:solidFill>
        </p:spPr>
        <p:txBody>
          <a:bodyPr vert="horz" lIns="91440" tIns="45720" rIns="91440" bIns="45720" rtlCol="0" anchor="ctr">
            <a:normAutofit/>
          </a:bodyPr>
          <a:lstStyle/>
          <a:p>
            <a:endParaRPr lang="zh-CN" altLang="en-US" b="1" dirty="0"/>
          </a:p>
        </p:txBody>
      </p:sp>
    </p:spTree>
    <p:extLst>
      <p:ext uri="{BB962C8B-B14F-4D97-AF65-F5344CB8AC3E}">
        <p14:creationId xmlns:p14="http://schemas.microsoft.com/office/powerpoint/2010/main" val="22853760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solidFill>
            <a:schemeClr val="bg1"/>
          </a:solidFill>
        </p:spPr>
        <p:txBody>
          <a:bodyPr vert="horz" lIns="91440" tIns="45720" rIns="91440" bIns="45720" rtlCol="0" anchor="ctr">
            <a:normAutofit/>
          </a:bodyPr>
          <a:lstStyle/>
          <a:p>
            <a:r>
              <a:rPr lang="zh-CN" altLang="en-US" b="1" dirty="0"/>
              <a:t>算法分析方法</a:t>
            </a:r>
          </a:p>
        </p:txBody>
      </p:sp>
      <p:sp>
        <p:nvSpPr>
          <p:cNvPr id="50179" name="Rectangle 3"/>
          <p:cNvSpPr>
            <a:spLocks noGrp="1" noChangeArrowheads="1"/>
          </p:cNvSpPr>
          <p:nvPr>
            <p:ph idx="1"/>
          </p:nvPr>
        </p:nvSpPr>
        <p:spPr>
          <a:xfrm>
            <a:off x="1052246" y="1690688"/>
            <a:ext cx="8229600" cy="4530725"/>
          </a:xfrm>
        </p:spPr>
        <p:txBody>
          <a:bodyPr/>
          <a:lstStyle/>
          <a:p>
            <a:pPr>
              <a:lnSpc>
                <a:spcPct val="120000"/>
              </a:lnSpc>
              <a:buFont typeface="Wingdings" panose="05000000000000000000" pitchFamily="2" charset="2"/>
              <a:buNone/>
            </a:pPr>
            <a:r>
              <a:rPr lang="zh-CN" altLang="en-US" sz="2400" b="1" dirty="0">
                <a:solidFill>
                  <a:srgbClr val="3907F1"/>
                </a:solidFill>
              </a:rPr>
              <a:t>例：顺序搜索算法</a:t>
            </a:r>
          </a:p>
        </p:txBody>
      </p:sp>
      <p:sp>
        <p:nvSpPr>
          <p:cNvPr id="50180" name="AutoShape 4"/>
          <p:cNvSpPr>
            <a:spLocks noChangeArrowheads="1"/>
          </p:cNvSpPr>
          <p:nvPr/>
        </p:nvSpPr>
        <p:spPr bwMode="auto">
          <a:xfrm>
            <a:off x="1460309" y="2632640"/>
            <a:ext cx="6457792" cy="4139949"/>
          </a:xfrm>
          <a:prstGeom prst="roundRect">
            <a:avLst>
              <a:gd name="adj" fmla="val 16667"/>
            </a:avLst>
          </a:prstGeom>
          <a:solidFill>
            <a:schemeClr val="bg1"/>
          </a:solidFill>
          <a:ln w="9525">
            <a:solidFill>
              <a:schemeClr val="tx1"/>
            </a:solidFill>
            <a:round/>
            <a:headEnd/>
            <a:tailEnd/>
          </a:ln>
        </p:spPr>
        <p:txBody>
          <a:bodyPr wrap="none"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400" dirty="0">
                <a:cs typeface="Times New Roman" panose="02020603050405020304" pitchFamily="18" charset="0"/>
              </a:rPr>
              <a:t>template&lt;class Type&gt;</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400" dirty="0" err="1">
                <a:cs typeface="Times New Roman" panose="02020603050405020304" pitchFamily="18" charset="0"/>
              </a:rPr>
              <a:t>int</a:t>
            </a:r>
            <a:r>
              <a:rPr kumimoji="1" lang="en-US" altLang="zh-CN" sz="2400" dirty="0">
                <a:cs typeface="Times New Roman" panose="02020603050405020304" pitchFamily="18" charset="0"/>
              </a:rPr>
              <a:t> </a:t>
            </a:r>
            <a:r>
              <a:rPr kumimoji="1" lang="en-US" altLang="zh-CN" sz="2400" dirty="0" err="1">
                <a:cs typeface="Times New Roman" panose="02020603050405020304" pitchFamily="18" charset="0"/>
              </a:rPr>
              <a:t>seqSearch</a:t>
            </a:r>
            <a:r>
              <a:rPr kumimoji="1" lang="en-US" altLang="zh-CN" sz="2400" dirty="0">
                <a:cs typeface="Times New Roman" panose="02020603050405020304" pitchFamily="18" charset="0"/>
              </a:rPr>
              <a:t>(Type *a, </a:t>
            </a:r>
            <a:r>
              <a:rPr kumimoji="1" lang="en-US" altLang="zh-CN" sz="2400" dirty="0" err="1">
                <a:cs typeface="Times New Roman" panose="02020603050405020304" pitchFamily="18" charset="0"/>
              </a:rPr>
              <a:t>int</a:t>
            </a:r>
            <a:r>
              <a:rPr kumimoji="1" lang="en-US" altLang="zh-CN" sz="2400" dirty="0">
                <a:cs typeface="Times New Roman" panose="02020603050405020304" pitchFamily="18" charset="0"/>
              </a:rPr>
              <a:t> n, Type k)</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400" dirty="0">
                <a:cs typeface="Times New Roman" panose="02020603050405020304" pitchFamily="18" charset="0"/>
              </a:rPr>
              <a:t>{</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400" dirty="0">
                <a:cs typeface="Times New Roman" panose="02020603050405020304" pitchFamily="18" charset="0"/>
              </a:rPr>
              <a:t>     for(</a:t>
            </a:r>
            <a:r>
              <a:rPr kumimoji="1" lang="en-US" altLang="zh-CN" sz="2400" dirty="0" err="1">
                <a:cs typeface="Times New Roman" panose="02020603050405020304" pitchFamily="18" charset="0"/>
              </a:rPr>
              <a:t>int</a:t>
            </a:r>
            <a:r>
              <a:rPr kumimoji="1" lang="en-US" altLang="zh-CN" sz="2400" dirty="0">
                <a:cs typeface="Times New Roman" panose="02020603050405020304" pitchFamily="18" charset="0"/>
              </a:rPr>
              <a:t> </a:t>
            </a:r>
            <a:r>
              <a:rPr kumimoji="1" lang="en-US" altLang="zh-CN" sz="2400" dirty="0" err="1">
                <a:cs typeface="Times New Roman" panose="02020603050405020304" pitchFamily="18" charset="0"/>
              </a:rPr>
              <a:t>i</a:t>
            </a:r>
            <a:r>
              <a:rPr kumimoji="1" lang="en-US" altLang="zh-CN" sz="2400" dirty="0">
                <a:cs typeface="Times New Roman" panose="02020603050405020304" pitchFamily="18" charset="0"/>
              </a:rPr>
              <a:t>=0;i&lt;</a:t>
            </a:r>
            <a:r>
              <a:rPr kumimoji="1" lang="en-US" altLang="zh-CN" sz="2400" dirty="0" err="1">
                <a:cs typeface="Times New Roman" panose="02020603050405020304" pitchFamily="18" charset="0"/>
              </a:rPr>
              <a:t>n;i</a:t>
            </a:r>
            <a:r>
              <a:rPr kumimoji="1" lang="en-US" altLang="zh-CN" sz="2400" dirty="0">
                <a:cs typeface="Times New Roman" panose="02020603050405020304" pitchFamily="18" charset="0"/>
              </a:rPr>
              <a:t>++)</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400" dirty="0">
                <a:cs typeface="Times New Roman" panose="02020603050405020304" pitchFamily="18" charset="0"/>
              </a:rPr>
              <a:t>	  if (a[</a:t>
            </a:r>
            <a:r>
              <a:rPr kumimoji="1" lang="en-US" altLang="zh-CN" sz="2400" dirty="0" err="1">
                <a:cs typeface="Times New Roman" panose="02020603050405020304" pitchFamily="18" charset="0"/>
              </a:rPr>
              <a:t>i</a:t>
            </a:r>
            <a:r>
              <a:rPr kumimoji="1" lang="en-US" altLang="zh-CN" sz="2400" dirty="0">
                <a:cs typeface="Times New Roman" panose="02020603050405020304" pitchFamily="18" charset="0"/>
              </a:rPr>
              <a:t>]==k) return </a:t>
            </a:r>
            <a:r>
              <a:rPr kumimoji="1" lang="en-US" altLang="zh-CN" sz="2400" dirty="0" err="1">
                <a:cs typeface="Times New Roman" panose="02020603050405020304" pitchFamily="18" charset="0"/>
              </a:rPr>
              <a:t>i</a:t>
            </a:r>
            <a:r>
              <a:rPr kumimoji="1" lang="en-US" altLang="zh-CN" sz="2400" dirty="0">
                <a:cs typeface="Times New Roman" panose="02020603050405020304" pitchFamily="18" charset="0"/>
              </a:rPr>
              <a:t>;</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400" dirty="0">
                <a:cs typeface="Times New Roman" panose="02020603050405020304" pitchFamily="18" charset="0"/>
              </a:rPr>
              <a:t>     return -1;</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400" dirty="0">
                <a:cs typeface="Times New Roman" panose="02020603050405020304" pitchFamily="18" charset="0"/>
              </a:rPr>
              <a:t>}</a:t>
            </a:r>
          </a:p>
        </p:txBody>
      </p:sp>
    </p:spTree>
    <p:extLst>
      <p:ext uri="{BB962C8B-B14F-4D97-AF65-F5344CB8AC3E}">
        <p14:creationId xmlns:p14="http://schemas.microsoft.com/office/powerpoint/2010/main" val="87048415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idx="1"/>
          </p:nvPr>
        </p:nvSpPr>
        <p:spPr>
          <a:xfrm>
            <a:off x="624044" y="276999"/>
            <a:ext cx="11152624" cy="3240088"/>
          </a:xfrm>
        </p:spPr>
        <p:txBody>
          <a:bodyPr>
            <a:noAutofit/>
          </a:bodyPr>
          <a:lstStyle/>
          <a:p>
            <a:pPr>
              <a:lnSpc>
                <a:spcPct val="150000"/>
              </a:lnSpc>
              <a:buFont typeface="Wingdings" panose="05000000000000000000" pitchFamily="2" charset="2"/>
              <a:buNone/>
            </a:pPr>
            <a:r>
              <a:rPr lang="zh-CN" altLang="en-US" dirty="0"/>
              <a:t>（</a:t>
            </a:r>
            <a:r>
              <a:rPr lang="en-US" altLang="zh-CN" dirty="0"/>
              <a:t>1</a:t>
            </a:r>
            <a:r>
              <a:rPr lang="zh-CN" altLang="en-US" dirty="0"/>
              <a:t>）</a:t>
            </a:r>
            <a:r>
              <a:rPr lang="en-US" altLang="zh-CN" i="1" dirty="0" err="1"/>
              <a:t>T</a:t>
            </a:r>
            <a:r>
              <a:rPr lang="en-US" altLang="zh-CN" baseline="-25000" dirty="0" err="1"/>
              <a:t>max</a:t>
            </a:r>
            <a:r>
              <a:rPr lang="en-US" altLang="zh-CN" dirty="0"/>
              <a:t>(</a:t>
            </a:r>
            <a:r>
              <a:rPr lang="en-US" altLang="zh-CN" i="1" dirty="0"/>
              <a:t>n</a:t>
            </a:r>
            <a:r>
              <a:rPr lang="en-US" altLang="zh-CN" dirty="0"/>
              <a:t>) = max{ </a:t>
            </a:r>
            <a:r>
              <a:rPr lang="en-US" altLang="zh-CN" i="1" dirty="0"/>
              <a:t>T</a:t>
            </a:r>
            <a:r>
              <a:rPr lang="en-US" altLang="zh-CN" dirty="0"/>
              <a:t>(I) | size(I)=</a:t>
            </a:r>
            <a:r>
              <a:rPr lang="en-US" altLang="zh-CN" i="1" dirty="0"/>
              <a:t>n </a:t>
            </a:r>
            <a:r>
              <a:rPr lang="en-US" altLang="zh-CN" dirty="0"/>
              <a:t>}=</a:t>
            </a:r>
            <a:r>
              <a:rPr lang="en-US" altLang="zh-CN" i="1" dirty="0"/>
              <a:t>O</a:t>
            </a:r>
            <a:r>
              <a:rPr lang="en-US" altLang="zh-CN" dirty="0"/>
              <a:t>(</a:t>
            </a:r>
            <a:r>
              <a:rPr lang="en-US" altLang="zh-CN" i="1" dirty="0"/>
              <a:t>n</a:t>
            </a:r>
            <a:r>
              <a:rPr lang="en-US" altLang="zh-CN" dirty="0"/>
              <a:t>)</a:t>
            </a:r>
          </a:p>
          <a:p>
            <a:pPr>
              <a:lnSpc>
                <a:spcPct val="150000"/>
              </a:lnSpc>
              <a:buFont typeface="Wingdings" panose="05000000000000000000" pitchFamily="2" charset="2"/>
              <a:buNone/>
            </a:pPr>
            <a:r>
              <a:rPr lang="zh-CN" altLang="en-US" dirty="0"/>
              <a:t>（</a:t>
            </a:r>
            <a:r>
              <a:rPr lang="en-US" altLang="zh-CN" dirty="0"/>
              <a:t>2</a:t>
            </a:r>
            <a:r>
              <a:rPr lang="zh-CN" altLang="en-US" dirty="0"/>
              <a:t>）</a:t>
            </a:r>
            <a:r>
              <a:rPr lang="en-US" altLang="zh-CN" i="1" dirty="0" err="1"/>
              <a:t>T</a:t>
            </a:r>
            <a:r>
              <a:rPr lang="en-US" altLang="zh-CN" baseline="-25000" dirty="0" err="1"/>
              <a:t>min</a:t>
            </a:r>
            <a:r>
              <a:rPr lang="en-US" altLang="zh-CN" dirty="0"/>
              <a:t>(</a:t>
            </a:r>
            <a:r>
              <a:rPr lang="en-US" altLang="zh-CN" i="1" dirty="0"/>
              <a:t>n</a:t>
            </a:r>
            <a:r>
              <a:rPr lang="en-US" altLang="zh-CN" dirty="0"/>
              <a:t>) = min{ </a:t>
            </a:r>
            <a:r>
              <a:rPr lang="en-US" altLang="zh-CN" i="1" dirty="0"/>
              <a:t>T</a:t>
            </a:r>
            <a:r>
              <a:rPr lang="en-US" altLang="zh-CN" dirty="0"/>
              <a:t>(I) | size(I)=</a:t>
            </a:r>
            <a:r>
              <a:rPr lang="en-US" altLang="zh-CN" i="1" dirty="0"/>
              <a:t>n </a:t>
            </a:r>
            <a:r>
              <a:rPr lang="en-US" altLang="zh-CN" dirty="0"/>
              <a:t>}=</a:t>
            </a:r>
            <a:r>
              <a:rPr lang="en-US" altLang="zh-CN" i="1" dirty="0"/>
              <a:t>O</a:t>
            </a:r>
            <a:r>
              <a:rPr lang="en-US" altLang="zh-CN" dirty="0"/>
              <a:t>(1)</a:t>
            </a:r>
          </a:p>
          <a:p>
            <a:pPr>
              <a:lnSpc>
                <a:spcPct val="150000"/>
              </a:lnSpc>
              <a:buFont typeface="Wingdings" panose="05000000000000000000" pitchFamily="2" charset="2"/>
              <a:buNone/>
            </a:pPr>
            <a:r>
              <a:rPr lang="zh-CN" altLang="en-US" dirty="0"/>
              <a:t>（</a:t>
            </a:r>
            <a:r>
              <a:rPr lang="en-US" altLang="zh-CN" dirty="0"/>
              <a:t>3</a:t>
            </a:r>
            <a:r>
              <a:rPr lang="zh-CN" altLang="en-US" dirty="0"/>
              <a:t>）在平均情况下，假设：</a:t>
            </a:r>
          </a:p>
          <a:p>
            <a:pPr>
              <a:lnSpc>
                <a:spcPct val="150000"/>
              </a:lnSpc>
              <a:buFont typeface="Wingdings" panose="05000000000000000000" pitchFamily="2" charset="2"/>
              <a:buNone/>
            </a:pPr>
            <a:r>
              <a:rPr lang="zh-CN" altLang="en-US" dirty="0"/>
              <a:t>   </a:t>
            </a:r>
            <a:r>
              <a:rPr lang="en-US" altLang="zh-CN" dirty="0"/>
              <a:t>(a) </a:t>
            </a:r>
            <a:r>
              <a:rPr lang="zh-CN" altLang="en-US" dirty="0"/>
              <a:t>搜索成功的概率为</a:t>
            </a:r>
            <a:r>
              <a:rPr lang="en-US" altLang="zh-CN" i="1" dirty="0"/>
              <a:t>p </a:t>
            </a:r>
            <a:r>
              <a:rPr lang="en-US" altLang="zh-CN" dirty="0"/>
              <a:t>( 0 </a:t>
            </a:r>
            <a:r>
              <a:rPr lang="en-US" altLang="zh-CN" dirty="0">
                <a:sym typeface="Symbol" panose="05050102010706020507" pitchFamily="18" charset="2"/>
              </a:rPr>
              <a:t></a:t>
            </a:r>
            <a:r>
              <a:rPr lang="en-US" altLang="zh-CN" dirty="0"/>
              <a:t> </a:t>
            </a:r>
            <a:r>
              <a:rPr lang="en-US" altLang="zh-CN" i="1" dirty="0"/>
              <a:t>p</a:t>
            </a:r>
            <a:r>
              <a:rPr lang="en-US" altLang="zh-CN" dirty="0"/>
              <a:t> </a:t>
            </a:r>
            <a:r>
              <a:rPr lang="en-US" altLang="zh-CN" dirty="0">
                <a:sym typeface="Symbol" panose="05050102010706020507" pitchFamily="18" charset="2"/>
              </a:rPr>
              <a:t></a:t>
            </a:r>
            <a:r>
              <a:rPr lang="en-US" altLang="zh-CN" dirty="0"/>
              <a:t> 1 )</a:t>
            </a:r>
            <a:r>
              <a:rPr lang="zh-CN" altLang="en-US" dirty="0"/>
              <a:t>；</a:t>
            </a:r>
          </a:p>
          <a:p>
            <a:pPr>
              <a:lnSpc>
                <a:spcPct val="150000"/>
              </a:lnSpc>
              <a:buFont typeface="Wingdings" panose="05000000000000000000" pitchFamily="2" charset="2"/>
              <a:buNone/>
            </a:pPr>
            <a:r>
              <a:rPr lang="zh-CN" altLang="en-US" dirty="0"/>
              <a:t>   </a:t>
            </a:r>
            <a:r>
              <a:rPr lang="en-US" altLang="zh-CN" dirty="0"/>
              <a:t>(b) </a:t>
            </a:r>
            <a:r>
              <a:rPr lang="zh-CN" altLang="en-US" dirty="0"/>
              <a:t>在数组的每个位置</a:t>
            </a:r>
            <a:r>
              <a:rPr lang="en-US" altLang="zh-CN" i="1" dirty="0" err="1"/>
              <a:t>i</a:t>
            </a:r>
            <a:r>
              <a:rPr lang="en-US" altLang="zh-CN" i="1" dirty="0"/>
              <a:t> </a:t>
            </a:r>
            <a:r>
              <a:rPr lang="en-US" altLang="zh-CN" dirty="0"/>
              <a:t>( 0 </a:t>
            </a:r>
            <a:r>
              <a:rPr lang="en-US" altLang="zh-CN" dirty="0">
                <a:sym typeface="Symbol" panose="05050102010706020507" pitchFamily="18" charset="2"/>
              </a:rPr>
              <a:t> </a:t>
            </a:r>
            <a:r>
              <a:rPr lang="en-US" altLang="zh-CN" i="1" dirty="0" err="1"/>
              <a:t>i</a:t>
            </a:r>
            <a:r>
              <a:rPr lang="en-US" altLang="zh-CN" i="1" dirty="0"/>
              <a:t> </a:t>
            </a:r>
            <a:r>
              <a:rPr lang="en-US" altLang="zh-CN" dirty="0"/>
              <a:t>&lt; </a:t>
            </a:r>
            <a:r>
              <a:rPr lang="en-US" altLang="zh-CN" i="1" dirty="0"/>
              <a:t>n </a:t>
            </a:r>
            <a:r>
              <a:rPr lang="en-US" altLang="zh-CN" dirty="0"/>
              <a:t>)</a:t>
            </a:r>
            <a:r>
              <a:rPr lang="zh-CN" altLang="en-US" dirty="0"/>
              <a:t>搜索成功的概率相同，均为 </a:t>
            </a:r>
            <a:r>
              <a:rPr lang="en-US" altLang="zh-CN" i="1" dirty="0" err="1"/>
              <a:t>p</a:t>
            </a:r>
            <a:r>
              <a:rPr lang="en-US" altLang="zh-CN" dirty="0" err="1"/>
              <a:t>/</a:t>
            </a:r>
            <a:r>
              <a:rPr lang="en-US" altLang="zh-CN" i="1" dirty="0" err="1"/>
              <a:t>n</a:t>
            </a:r>
            <a:r>
              <a:rPr lang="zh-CN" altLang="en-US" dirty="0"/>
              <a:t>。</a:t>
            </a:r>
          </a:p>
        </p:txBody>
      </p:sp>
      <p:sp>
        <p:nvSpPr>
          <p:cNvPr id="51203" name="Rectangle 5"/>
          <p:cNvSpPr>
            <a:spLocks noChangeArrowheads="1"/>
          </p:cNvSpPr>
          <p:nvPr/>
        </p:nvSpPr>
        <p:spPr bwMode="auto">
          <a:xfrm>
            <a:off x="1524000" y="-276999"/>
            <a:ext cx="37061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aphicFrame>
        <p:nvGraphicFramePr>
          <p:cNvPr id="51204" name="Object 2"/>
          <p:cNvGraphicFramePr>
            <a:graphicFrameLocks noChangeAspect="1"/>
          </p:cNvGraphicFramePr>
          <p:nvPr>
            <p:extLst>
              <p:ext uri="{D42A27DB-BD31-4B8C-83A1-F6EECF244321}">
                <p14:modId xmlns:p14="http://schemas.microsoft.com/office/powerpoint/2010/main" val="3468899536"/>
              </p:ext>
            </p:extLst>
          </p:nvPr>
        </p:nvGraphicFramePr>
        <p:xfrm>
          <a:off x="3102060" y="4043362"/>
          <a:ext cx="3168650" cy="757238"/>
        </p:xfrm>
        <a:graphic>
          <a:graphicData uri="http://schemas.openxmlformats.org/presentationml/2006/ole">
            <mc:AlternateContent xmlns:mc="http://schemas.openxmlformats.org/markup-compatibility/2006">
              <mc:Choice xmlns:v="urn:schemas-microsoft-com:vml" Requires="v">
                <p:oleObj name="公式" r:id="rId2" imgW="1473200" imgH="355600" progId="Equation.3">
                  <p:embed/>
                </p:oleObj>
              </mc:Choice>
              <mc:Fallback>
                <p:oleObj name="公式" r:id="rId2" imgW="1473200" imgH="355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2060" y="4043362"/>
                        <a:ext cx="316865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5" name="Rectangle 7"/>
          <p:cNvSpPr>
            <a:spLocks noChangeArrowheads="1"/>
          </p:cNvSpPr>
          <p:nvPr/>
        </p:nvSpPr>
        <p:spPr bwMode="auto">
          <a:xfrm>
            <a:off x="1524000" y="2937689"/>
            <a:ext cx="37061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aphicFrame>
        <p:nvGraphicFramePr>
          <p:cNvPr id="51206" name="Object 3"/>
          <p:cNvGraphicFramePr>
            <a:graphicFrameLocks noChangeAspect="1"/>
          </p:cNvGraphicFramePr>
          <p:nvPr>
            <p:extLst>
              <p:ext uri="{D42A27DB-BD31-4B8C-83A1-F6EECF244321}">
                <p14:modId xmlns:p14="http://schemas.microsoft.com/office/powerpoint/2010/main" val="3853240747"/>
              </p:ext>
            </p:extLst>
          </p:nvPr>
        </p:nvGraphicFramePr>
        <p:xfrm>
          <a:off x="3102060" y="4704575"/>
          <a:ext cx="5688012" cy="865188"/>
        </p:xfrm>
        <a:graphic>
          <a:graphicData uri="http://schemas.openxmlformats.org/presentationml/2006/ole">
            <mc:AlternateContent xmlns:mc="http://schemas.openxmlformats.org/markup-compatibility/2006">
              <mc:Choice xmlns:v="urn:schemas-microsoft-com:vml" Requires="v">
                <p:oleObj name="公式" r:id="rId4" imgW="2819400" imgH="431800" progId="Equation.3">
                  <p:embed/>
                </p:oleObj>
              </mc:Choice>
              <mc:Fallback>
                <p:oleObj name="公式" r:id="rId4" imgW="28194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2060" y="4704575"/>
                        <a:ext cx="56880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7" name="Rectangle 9"/>
          <p:cNvSpPr>
            <a:spLocks noChangeArrowheads="1"/>
          </p:cNvSpPr>
          <p:nvPr/>
        </p:nvSpPr>
        <p:spPr bwMode="auto">
          <a:xfrm>
            <a:off x="1524000" y="2937689"/>
            <a:ext cx="37061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aphicFrame>
        <p:nvGraphicFramePr>
          <p:cNvPr id="51208" name="Object 4"/>
          <p:cNvGraphicFramePr>
            <a:graphicFrameLocks noChangeAspect="1"/>
          </p:cNvGraphicFramePr>
          <p:nvPr>
            <p:extLst>
              <p:ext uri="{D42A27DB-BD31-4B8C-83A1-F6EECF244321}">
                <p14:modId xmlns:p14="http://schemas.microsoft.com/office/powerpoint/2010/main" val="895667187"/>
              </p:ext>
            </p:extLst>
          </p:nvPr>
        </p:nvGraphicFramePr>
        <p:xfrm>
          <a:off x="3221701" y="5695176"/>
          <a:ext cx="5040312" cy="885825"/>
        </p:xfrm>
        <a:graphic>
          <a:graphicData uri="http://schemas.openxmlformats.org/presentationml/2006/ole">
            <mc:AlternateContent xmlns:mc="http://schemas.openxmlformats.org/markup-compatibility/2006">
              <mc:Choice xmlns:v="urn:schemas-microsoft-com:vml" Requires="v">
                <p:oleObj name="公式" r:id="rId6" imgW="2438400" imgH="431800" progId="Equation.3">
                  <p:embed/>
                </p:oleObj>
              </mc:Choice>
              <mc:Fallback>
                <p:oleObj name="公式" r:id="rId6" imgW="2438400" imgH="431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1701" y="5695176"/>
                        <a:ext cx="504031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22460635"/>
      </p:ext>
    </p:extLst>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402</TotalTime>
  <Words>4062</Words>
  <Application>Microsoft Office PowerPoint</Application>
  <PresentationFormat>宽屏</PresentationFormat>
  <Paragraphs>436</Paragraphs>
  <Slides>48</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48</vt:i4>
      </vt:variant>
    </vt:vector>
  </HeadingPairs>
  <TitlesOfParts>
    <vt:vector size="62" baseType="lpstr">
      <vt:lpstr>仿宋</vt:lpstr>
      <vt:lpstr>黑体</vt:lpstr>
      <vt:lpstr>华文仿宋</vt:lpstr>
      <vt:lpstr>Arial</vt:lpstr>
      <vt:lpstr>Calibri</vt:lpstr>
      <vt:lpstr>Courier New</vt:lpstr>
      <vt:lpstr>Garamond</vt:lpstr>
      <vt:lpstr>Symbol</vt:lpstr>
      <vt:lpstr>Tahoma</vt:lpstr>
      <vt:lpstr>Times New Roman</vt:lpstr>
      <vt:lpstr>Wingdings</vt:lpstr>
      <vt:lpstr>Office 主题​​</vt:lpstr>
      <vt:lpstr>公式</vt:lpstr>
      <vt:lpstr>Equation</vt:lpstr>
      <vt:lpstr>第1章  绪论</vt:lpstr>
      <vt:lpstr>1.1 什么是数据结构</vt:lpstr>
      <vt:lpstr>1.2 基本概念和术语</vt:lpstr>
      <vt:lpstr>1.2 基本概念和术语</vt:lpstr>
      <vt:lpstr>1.2 基本概念和术语</vt:lpstr>
      <vt:lpstr>1.2 基本概念和术语</vt:lpstr>
      <vt:lpstr>（3）实例： 表：计算机系人事表</vt:lpstr>
      <vt:lpstr>PowerPoint 演示文稿</vt:lpstr>
      <vt:lpstr>1.2 基本概念和术语</vt:lpstr>
      <vt:lpstr>1.2 基本概念和术语</vt:lpstr>
      <vt:lpstr>1.3 抽象数据类型——ADT</vt:lpstr>
      <vt:lpstr>1.3 抽象数据类型——ADT</vt:lpstr>
      <vt:lpstr>1.4 算法和算法分析</vt:lpstr>
      <vt:lpstr>1.4 算法和算法分析</vt:lpstr>
      <vt:lpstr>1.4 算法和算法分析</vt:lpstr>
      <vt:lpstr>PowerPoint 演示文稿</vt:lpstr>
      <vt:lpstr>PowerPoint 演示文稿</vt:lpstr>
      <vt:lpstr>PowerPoint 演示文稿</vt:lpstr>
      <vt:lpstr>1.4 算法和算法分析</vt:lpstr>
      <vt:lpstr>1.4 算法和算法分析</vt:lpstr>
      <vt:lpstr>1.4 算法和算法分析</vt:lpstr>
      <vt:lpstr>1.4 算法和算法分析</vt:lpstr>
      <vt:lpstr>1.4 算法和算法分析</vt:lpstr>
      <vt:lpstr>大O运算规则</vt:lpstr>
      <vt:lpstr>1.4 算法和算法分析</vt:lpstr>
      <vt:lpstr>1.4 算法和算法分析</vt:lpstr>
      <vt:lpstr>PowerPoint 演示文稿</vt:lpstr>
      <vt:lpstr>1.4 算法和算法分析</vt:lpstr>
      <vt:lpstr>1.4 算法和算法分析</vt:lpstr>
      <vt:lpstr>算法复杂性分析 </vt:lpstr>
      <vt:lpstr>算法的时间复杂性</vt:lpstr>
      <vt:lpstr>算法渐近复杂性</vt:lpstr>
      <vt:lpstr>渐近分析的记号Q, O, W</vt:lpstr>
      <vt:lpstr>PowerPoint 演示文稿</vt:lpstr>
      <vt:lpstr>PowerPoint 演示文稿</vt:lpstr>
      <vt:lpstr>PowerPoint 演示文稿</vt:lpstr>
      <vt:lpstr>Q, O, W之间的关系</vt:lpstr>
      <vt:lpstr>Big-O </vt:lpstr>
      <vt:lpstr>Big-O 实例</vt:lpstr>
      <vt:lpstr>渐近分析记号在等式和不等式中的意义</vt:lpstr>
      <vt:lpstr>算法分析中常见的复杂性函数</vt:lpstr>
      <vt:lpstr>小规模数据</vt:lpstr>
      <vt:lpstr>中等规模数据</vt:lpstr>
      <vt:lpstr>分析代码</vt:lpstr>
      <vt:lpstr>嵌套循环</vt:lpstr>
      <vt:lpstr>PowerPoint 演示文稿</vt:lpstr>
      <vt:lpstr>算法分析方法</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张亚英</dc:creator>
  <cp:lastModifiedBy>yaying zhang</cp:lastModifiedBy>
  <cp:revision>23</cp:revision>
  <dcterms:created xsi:type="dcterms:W3CDTF">2020-09-25T13:20:37Z</dcterms:created>
  <dcterms:modified xsi:type="dcterms:W3CDTF">2024-09-03T09:10:18Z</dcterms:modified>
</cp:coreProperties>
</file>